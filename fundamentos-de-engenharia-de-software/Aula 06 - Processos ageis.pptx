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7" r:id="rId3"/>
    <p:sldId id="328" r:id="rId4"/>
    <p:sldId id="306" r:id="rId5"/>
    <p:sldId id="330" r:id="rId6"/>
    <p:sldId id="331" r:id="rId7"/>
    <p:sldId id="337" r:id="rId8"/>
    <p:sldId id="338" r:id="rId9"/>
    <p:sldId id="333" r:id="rId10"/>
    <p:sldId id="339" r:id="rId11"/>
    <p:sldId id="334" r:id="rId12"/>
    <p:sldId id="340" r:id="rId13"/>
    <p:sldId id="341" r:id="rId14"/>
    <p:sldId id="336" r:id="rId15"/>
    <p:sldId id="342" r:id="rId16"/>
    <p:sldId id="349" r:id="rId17"/>
    <p:sldId id="343" r:id="rId18"/>
    <p:sldId id="344" r:id="rId19"/>
    <p:sldId id="346" r:id="rId20"/>
    <p:sldId id="345" r:id="rId21"/>
    <p:sldId id="348" r:id="rId22"/>
    <p:sldId id="347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07" r:id="rId35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4" d="100"/>
          <a:sy n="84" d="100"/>
        </p:scale>
        <p:origin x="912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2511D0-0D52-4845-A1D9-25B95386B2D9}" type="slidenum">
              <a:rPr lang="en-US"/>
              <a:pPr/>
              <a:t>14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0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34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4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ECFFCBB-12D2-764F-A05F-0CB4F61B6818}" type="datetime4">
              <a:t>21 de setembro de 2021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74774-0AAD-D94A-B37D-FE794B16AB66}" type="datetime4">
              <a:t>21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444A1-386A-904E-B7A9-297CFA3711CA}" type="datetime4">
              <a:t>21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DB70-2031-6149-A7F4-72D04DEB3164}" type="datetime4">
              <a:t>21 de setembro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1776-26AC-3249-B3FB-4169E91B5A5C}" type="datetime4">
              <a:t>21 de setembro de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D72BD-A677-E14E-8A10-35921CC8791F}" type="datetime4">
              <a:t>21 de setembro de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2DB4-CA20-DB49-9159-4A1E1DEF948E}" type="datetime4">
              <a:t>21 de setembro de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BAC74-C530-4D4C-8E8E-1A6EEF12D411}" type="datetime4">
              <a:t>21 de setembro de 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A7A88-D162-9C43-95D9-7ACC0267DD3B}" type="datetime4">
              <a:t>21 de setembro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EDD9E-7CFC-5745-9835-C15FADDB69D4}" type="datetime4">
              <a:t>21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ED340-A3C0-004C-82E4-5EAC929CEAC6}" type="datetime4">
              <a:t>21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009C748-9AB3-A343-A849-EEEC16A74C31}" type="datetime4">
              <a:t>21 de setembro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1" y="2505518"/>
            <a:ext cx="4356509" cy="2179694"/>
          </a:xfrm>
        </p:spPr>
        <p:txBody>
          <a:bodyPr/>
          <a:lstStyle/>
          <a:p>
            <a:r>
              <a:rPr lang="en-US"/>
              <a:t>Processos (métodos) ágeis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Maria Augusta Vieira </a:t>
            </a:r>
            <a:r>
              <a:rPr lang="en-US" dirty="0" smtClean="0"/>
              <a:t>Nelson</a:t>
            </a:r>
          </a:p>
          <a:p>
            <a:r>
              <a:rPr lang="en-US" dirty="0" smtClean="0"/>
              <a:t>Simone de </a:t>
            </a:r>
            <a:r>
              <a:rPr lang="en-US" dirty="0" err="1" smtClean="0"/>
              <a:t>Assis</a:t>
            </a:r>
            <a:r>
              <a:rPr lang="en-US" dirty="0" smtClean="0"/>
              <a:t> </a:t>
            </a:r>
            <a:r>
              <a:rPr lang="en-US" dirty="0" err="1" smtClean="0"/>
              <a:t>Alves</a:t>
            </a:r>
            <a:r>
              <a:rPr lang="en-US" dirty="0" smtClean="0"/>
              <a:t> da Silva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51622"/>
            <a:ext cx="7024744" cy="1143000"/>
          </a:xfrm>
        </p:spPr>
        <p:txBody>
          <a:bodyPr/>
          <a:lstStyle/>
          <a:p>
            <a:r>
              <a:rPr lang="en-US" dirty="0" err="1" smtClean="0"/>
              <a:t>Processos</a:t>
            </a:r>
            <a:r>
              <a:rPr lang="en-US" dirty="0" smtClean="0"/>
              <a:t> </a:t>
            </a:r>
            <a:r>
              <a:rPr lang="en-US" dirty="0" err="1"/>
              <a:t>ágeis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745543"/>
            <a:ext cx="6777317" cy="2405441"/>
          </a:xfrm>
        </p:spPr>
        <p:txBody>
          <a:bodyPr/>
          <a:lstStyle/>
          <a:p>
            <a:pPr algn="just"/>
            <a:r>
              <a:rPr lang="en-US" dirty="0"/>
              <a:t>São </a:t>
            </a:r>
            <a:r>
              <a:rPr lang="en-US" dirty="0" err="1"/>
              <a:t>processos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 incremental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incrementos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pequenos</a:t>
            </a:r>
            <a:r>
              <a:rPr lang="en-US" dirty="0"/>
              <a:t> e as </a:t>
            </a:r>
            <a:r>
              <a:rPr lang="en-US" dirty="0" err="1"/>
              <a:t>novas</a:t>
            </a:r>
            <a:r>
              <a:rPr lang="en-US" dirty="0"/>
              <a:t> </a:t>
            </a:r>
            <a:r>
              <a:rPr lang="en-US" dirty="0" err="1"/>
              <a:t>versões</a:t>
            </a:r>
            <a:r>
              <a:rPr lang="en-US" dirty="0"/>
              <a:t> do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criadas</a:t>
            </a:r>
            <a:r>
              <a:rPr lang="en-US" dirty="0"/>
              <a:t> e </a:t>
            </a:r>
            <a:r>
              <a:rPr lang="en-US" dirty="0" err="1"/>
              <a:t>disponibilizadas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cliente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duas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semanas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570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83916"/>
            <a:ext cx="7024744" cy="1143000"/>
          </a:xfrm>
        </p:spPr>
        <p:txBody>
          <a:bodyPr/>
          <a:lstStyle/>
          <a:p>
            <a:r>
              <a:rPr lang="en-US" dirty="0" err="1" smtClean="0"/>
              <a:t>Processos</a:t>
            </a:r>
            <a:r>
              <a:rPr lang="en-US" dirty="0" smtClean="0"/>
              <a:t> </a:t>
            </a:r>
            <a:r>
              <a:rPr lang="en-US" dirty="0" err="1"/>
              <a:t>ágeis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505963"/>
            <a:ext cx="6777317" cy="3363767"/>
          </a:xfrm>
        </p:spPr>
        <p:txBody>
          <a:bodyPr/>
          <a:lstStyle/>
          <a:p>
            <a:pPr algn="just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envolvidos</a:t>
            </a:r>
            <a:r>
              <a:rPr lang="en-US" dirty="0"/>
              <a:t> no </a:t>
            </a:r>
            <a:r>
              <a:rPr lang="en-US" dirty="0" err="1"/>
              <a:t>processo</a:t>
            </a:r>
            <a:r>
              <a:rPr lang="en-US" dirty="0"/>
              <a:t> para </a:t>
            </a:r>
            <a:r>
              <a:rPr lang="en-US" dirty="0" err="1"/>
              <a:t>fornecer</a:t>
            </a:r>
            <a:r>
              <a:rPr lang="en-US" dirty="0"/>
              <a:t> </a:t>
            </a:r>
            <a:r>
              <a:rPr lang="en-US" i="1" dirty="0"/>
              <a:t>feedback </a:t>
            </a:r>
            <a:r>
              <a:rPr lang="en-US" dirty="0" err="1"/>
              <a:t>rápido</a:t>
            </a:r>
            <a:r>
              <a:rPr lang="en-US" dirty="0"/>
              <a:t> sobre a </a:t>
            </a:r>
            <a:r>
              <a:rPr lang="en-US" dirty="0" err="1"/>
              <a:t>evolução</a:t>
            </a:r>
            <a:r>
              <a:rPr lang="en-US" dirty="0"/>
              <a:t> dos </a:t>
            </a:r>
            <a:r>
              <a:rPr lang="en-US" dirty="0" err="1"/>
              <a:t>requisitos</a:t>
            </a:r>
            <a:r>
              <a:rPr lang="en-US" dirty="0"/>
              <a:t>. </a:t>
            </a:r>
          </a:p>
          <a:p>
            <a:pPr algn="just"/>
            <a:r>
              <a:rPr lang="en-US" dirty="0" err="1"/>
              <a:t>Minimiza</a:t>
            </a:r>
            <a:r>
              <a:rPr lang="en-US" dirty="0"/>
              <a:t>-se a </a:t>
            </a:r>
            <a:r>
              <a:rPr lang="en-US" dirty="0" err="1"/>
              <a:t>documentação</a:t>
            </a:r>
            <a:r>
              <a:rPr lang="en-US" dirty="0"/>
              <a:t> </a:t>
            </a:r>
            <a:r>
              <a:rPr lang="en-US" dirty="0" err="1"/>
              <a:t>pois</a:t>
            </a:r>
            <a:r>
              <a:rPr lang="en-US" dirty="0"/>
              <a:t> se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a </a:t>
            </a:r>
            <a:r>
              <a:rPr lang="en-US" dirty="0" err="1"/>
              <a:t>comunicação</a:t>
            </a:r>
            <a:r>
              <a:rPr lang="en-US" dirty="0"/>
              <a:t> informal do que </a:t>
            </a:r>
            <a:r>
              <a:rPr lang="en-US" dirty="0" err="1"/>
              <a:t>reuniões</a:t>
            </a:r>
            <a:r>
              <a:rPr lang="en-US" dirty="0"/>
              <a:t> </a:t>
            </a:r>
            <a:r>
              <a:rPr lang="en-US" dirty="0" err="1"/>
              <a:t>formais</a:t>
            </a:r>
            <a:r>
              <a:rPr lang="en-US" dirty="0"/>
              <a:t> com </a:t>
            </a:r>
            <a:r>
              <a:rPr lang="en-US" dirty="0" err="1"/>
              <a:t>documentos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50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76787"/>
            <a:ext cx="7024744" cy="961808"/>
          </a:xfrm>
        </p:spPr>
        <p:txBody>
          <a:bodyPr/>
          <a:lstStyle/>
          <a:p>
            <a:r>
              <a:rPr lang="en-US" dirty="0"/>
              <a:t>Manifesto </a:t>
            </a:r>
            <a:r>
              <a:rPr lang="en-US" dirty="0" err="1"/>
              <a:t>ágil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7375"/>
            <a:ext cx="6777317" cy="3864797"/>
          </a:xfrm>
        </p:spPr>
        <p:txBody>
          <a:bodyPr/>
          <a:lstStyle/>
          <a:p>
            <a:pPr algn="just"/>
            <a:r>
              <a:rPr lang="en-US" dirty="0" err="1"/>
              <a:t>Grupo</a:t>
            </a:r>
            <a:r>
              <a:rPr lang="en-US" dirty="0"/>
              <a:t> de 17 </a:t>
            </a:r>
            <a:r>
              <a:rPr lang="en-US" dirty="0" err="1"/>
              <a:t>metodologistas</a:t>
            </a:r>
            <a:r>
              <a:rPr lang="en-US" dirty="0"/>
              <a:t> </a:t>
            </a:r>
            <a:r>
              <a:rPr lang="en-US" dirty="0" err="1"/>
              <a:t>dispostos</a:t>
            </a:r>
            <a:r>
              <a:rPr lang="en-US" dirty="0"/>
              <a:t> a </a:t>
            </a:r>
            <a:r>
              <a:rPr lang="en-US" dirty="0" err="1"/>
              <a:t>atacar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típicos</a:t>
            </a:r>
            <a:r>
              <a:rPr lang="en-US" dirty="0"/>
              <a:t> do </a:t>
            </a:r>
            <a:r>
              <a:rPr lang="en-US" dirty="0" err="1"/>
              <a:t>desenvolvimento</a:t>
            </a:r>
            <a:r>
              <a:rPr lang="en-US" dirty="0"/>
              <a:t> de software</a:t>
            </a:r>
          </a:p>
          <a:p>
            <a:pPr algn="just"/>
            <a:r>
              <a:rPr lang="en-US" dirty="0" err="1"/>
              <a:t>Criação</a:t>
            </a:r>
            <a:r>
              <a:rPr lang="en-US" dirty="0"/>
              <a:t> do Agile Alliance </a:t>
            </a:r>
            <a:r>
              <a:rPr lang="en-US" dirty="0" err="1"/>
              <a:t>em</a:t>
            </a:r>
            <a:r>
              <a:rPr lang="en-US" dirty="0"/>
              <a:t> 2001</a:t>
            </a:r>
          </a:p>
          <a:p>
            <a:pPr algn="just"/>
            <a:r>
              <a:rPr lang="en-US" dirty="0"/>
              <a:t>Definição de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(</a:t>
            </a:r>
            <a:r>
              <a:rPr lang="en-US" dirty="0" err="1"/>
              <a:t>preferências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alternativas</a:t>
            </a:r>
            <a:r>
              <a:rPr lang="en-US" dirty="0"/>
              <a:t>) para o </a:t>
            </a:r>
            <a:r>
              <a:rPr lang="en-US" dirty="0" err="1"/>
              <a:t>desenvolvimento</a:t>
            </a:r>
            <a:r>
              <a:rPr lang="en-US" dirty="0"/>
              <a:t> de software</a:t>
            </a:r>
          </a:p>
          <a:p>
            <a:pPr marL="6858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69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49" y="785813"/>
            <a:ext cx="7024744" cy="1148092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Valores para o desenvolvimento de software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1849" y="2310870"/>
            <a:ext cx="7196527" cy="4700588"/>
          </a:xfrm>
        </p:spPr>
        <p:txBody>
          <a:bodyPr/>
          <a:lstStyle/>
          <a:p>
            <a:pPr marL="525780" indent="-457200" algn="just">
              <a:buFont typeface="+mj-lt"/>
              <a:buAutoNum type="arabicPeriod"/>
            </a:pPr>
            <a:r>
              <a:rPr lang="pt-BR" dirty="0"/>
              <a:t>Indivíduos e interações têm mais valor que processos e ferramentas 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pt-BR" dirty="0"/>
              <a:t>Software operacional tem mais valor que uma documentação abrangente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pt-BR" dirty="0"/>
              <a:t>Colaboração com o cliente tem mais valor que negociação contratual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pt-BR" dirty="0"/>
              <a:t>Respostas a mudanças têm mais valor que aderência a um plano</a:t>
            </a:r>
          </a:p>
        </p:txBody>
      </p:sp>
    </p:spTree>
    <p:extLst>
      <p:ext uri="{BB962C8B-B14F-4D97-AF65-F5344CB8AC3E}">
        <p14:creationId xmlns:p14="http://schemas.microsoft.com/office/powerpoint/2010/main" val="418915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945" y="944272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1- Indivíduos </a:t>
            </a:r>
            <a:r>
              <a:rPr lang="pt-BR" dirty="0"/>
              <a:t>e interações sobre processos e ferramentas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0112" y="2602110"/>
            <a:ext cx="7268409" cy="2655690"/>
          </a:xfrm>
        </p:spPr>
        <p:txBody>
          <a:bodyPr/>
          <a:lstStyle/>
          <a:p>
            <a:pPr algn="just"/>
            <a:r>
              <a:rPr lang="pt-BR" dirty="0"/>
              <a:t>Os fatores mais importantes a serem considerados são as pessoas e como elas trabalham </a:t>
            </a:r>
            <a:r>
              <a:rPr lang="pt-BR" dirty="0" smtClean="0"/>
              <a:t>juntas;</a:t>
            </a:r>
            <a:endParaRPr lang="pt-BR" dirty="0"/>
          </a:p>
          <a:p>
            <a:pPr algn="just"/>
            <a:r>
              <a:rPr lang="pt-BR" dirty="0"/>
              <a:t>Se pessoas não trabalham juntas adequadamente, nem as melhores ferramentas e processos ajudarão.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4344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900113"/>
            <a:ext cx="7024744" cy="1797627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2- Software </a:t>
            </a:r>
            <a:r>
              <a:rPr lang="pt-BR" dirty="0"/>
              <a:t>operacional do que documentação abrangente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581" y="3378089"/>
            <a:ext cx="7724181" cy="1465374"/>
          </a:xfrm>
        </p:spPr>
        <p:txBody>
          <a:bodyPr>
            <a:noAutofit/>
          </a:bodyPr>
          <a:lstStyle/>
          <a:p>
            <a:pPr lvl="1" algn="just"/>
            <a:r>
              <a:rPr lang="pt-BR" sz="2800" dirty="0"/>
              <a:t>A maioria dos desenvolvedores preferirá escrever software, não </a:t>
            </a:r>
            <a:r>
              <a:rPr lang="pt-BR" sz="2800" dirty="0" smtClean="0"/>
              <a:t>documentos.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04558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57250"/>
            <a:ext cx="7024744" cy="164629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3- Colaboração </a:t>
            </a:r>
            <a:r>
              <a:rPr lang="pt-BR" dirty="0"/>
              <a:t>com o cliente do que negociação contratual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503544"/>
            <a:ext cx="6777317" cy="3508977"/>
          </a:xfrm>
        </p:spPr>
        <p:txBody>
          <a:bodyPr/>
          <a:lstStyle/>
          <a:p>
            <a:pPr algn="just"/>
            <a:r>
              <a:rPr lang="en-US" dirty="0" err="1"/>
              <a:t>Somente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dizer</a:t>
            </a:r>
            <a:r>
              <a:rPr lang="en-US" dirty="0"/>
              <a:t> o que </a:t>
            </a:r>
            <a:r>
              <a:rPr lang="en-US" dirty="0" err="1"/>
              <a:t>eles</a:t>
            </a:r>
            <a:r>
              <a:rPr lang="en-US" dirty="0"/>
              <a:t> </a:t>
            </a:r>
            <a:r>
              <a:rPr lang="en-US" dirty="0" err="1" smtClean="0"/>
              <a:t>querem</a:t>
            </a:r>
            <a:r>
              <a:rPr lang="en-US" dirty="0" smtClean="0"/>
              <a:t>;</a:t>
            </a:r>
            <a:endParaRPr lang="en-US" dirty="0"/>
          </a:p>
          <a:p>
            <a:pPr algn="just"/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provavelmente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pedem</a:t>
            </a:r>
            <a:r>
              <a:rPr lang="en-US" dirty="0"/>
              <a:t> as </a:t>
            </a:r>
            <a:r>
              <a:rPr lang="en-US" dirty="0" err="1"/>
              <a:t>coisas</a:t>
            </a:r>
            <a:r>
              <a:rPr lang="en-US" dirty="0"/>
              <a:t> </a:t>
            </a:r>
            <a:r>
              <a:rPr lang="en-US" dirty="0" err="1"/>
              <a:t>certas</a:t>
            </a:r>
            <a:r>
              <a:rPr lang="en-US" dirty="0"/>
              <a:t> da </a:t>
            </a:r>
            <a:r>
              <a:rPr lang="en-US" dirty="0" err="1"/>
              <a:t>primeira</a:t>
            </a:r>
            <a:r>
              <a:rPr lang="en-US" dirty="0"/>
              <a:t> </a:t>
            </a:r>
            <a:r>
              <a:rPr lang="en-US" dirty="0" err="1" smtClean="0"/>
              <a:t>vez</a:t>
            </a:r>
            <a:r>
              <a:rPr lang="en-US" dirty="0" smtClean="0"/>
              <a:t>;</a:t>
            </a:r>
            <a:endParaRPr lang="en-US" dirty="0"/>
          </a:p>
          <a:p>
            <a:pPr algn="just"/>
            <a:r>
              <a:rPr lang="en-US" dirty="0" err="1"/>
              <a:t>Contratos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, mas o </a:t>
            </a:r>
            <a:r>
              <a:rPr lang="en-US" dirty="0" err="1"/>
              <a:t>entendimento</a:t>
            </a:r>
            <a:r>
              <a:rPr lang="en-US" dirty="0"/>
              <a:t> do </a:t>
            </a:r>
            <a:r>
              <a:rPr lang="en-US" dirty="0" err="1"/>
              <a:t>papel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um com </a:t>
            </a:r>
            <a:r>
              <a:rPr lang="en-US" dirty="0" err="1"/>
              <a:t>comunicação</a:t>
            </a:r>
            <a:r>
              <a:rPr lang="en-US" dirty="0"/>
              <a:t> </a:t>
            </a:r>
            <a:r>
              <a:rPr lang="en-US" dirty="0" err="1"/>
              <a:t>adequada</a:t>
            </a:r>
            <a:r>
              <a:rPr lang="en-US" dirty="0"/>
              <a:t> é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 smtClean="0"/>
              <a:t>ainda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8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1506824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4- Respostas </a:t>
            </a:r>
            <a:r>
              <a:rPr lang="pt-BR" dirty="0"/>
              <a:t>a mudanças do que aderência a um plano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6982" y="2908473"/>
            <a:ext cx="7517760" cy="2610557"/>
          </a:xfrm>
        </p:spPr>
        <p:txBody>
          <a:bodyPr/>
          <a:lstStyle/>
          <a:p>
            <a:pPr algn="just"/>
            <a:r>
              <a:rPr lang="pt-BR" dirty="0"/>
              <a:t>Pessoas mudam suas </a:t>
            </a:r>
            <a:r>
              <a:rPr lang="pt-BR" dirty="0" smtClean="0"/>
              <a:t>prioridades;</a:t>
            </a:r>
            <a:endParaRPr lang="pt-BR" dirty="0"/>
          </a:p>
          <a:p>
            <a:pPr algn="just"/>
            <a:r>
              <a:rPr lang="pt-BR" dirty="0"/>
              <a:t>Mudança é uma realidade do desenvolvimento de </a:t>
            </a:r>
            <a:r>
              <a:rPr lang="pt-BR" dirty="0" smtClean="0"/>
              <a:t>software;</a:t>
            </a:r>
            <a:endParaRPr lang="pt-BR" dirty="0"/>
          </a:p>
          <a:p>
            <a:pPr algn="just"/>
            <a:r>
              <a:rPr lang="pt-BR" dirty="0"/>
              <a:t>Não existe problema em se ter um plano, mas ele precisa ser maleável para suportar as mudanças.</a:t>
            </a:r>
          </a:p>
        </p:txBody>
      </p:sp>
    </p:spTree>
    <p:extLst>
      <p:ext uri="{BB962C8B-B14F-4D97-AF65-F5344CB8AC3E}">
        <p14:creationId xmlns:p14="http://schemas.microsoft.com/office/powerpoint/2010/main" val="179151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964122" y="942974"/>
            <a:ext cx="7024744" cy="638175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Princípios refinados  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70" y="2012479"/>
            <a:ext cx="7244448" cy="4344440"/>
          </a:xfrm>
        </p:spPr>
        <p:txBody>
          <a:bodyPr>
            <a:noAutofit/>
          </a:bodyPr>
          <a:lstStyle/>
          <a:p>
            <a:pPr marL="533400" indent="-533400" algn="just">
              <a:lnSpc>
                <a:spcPct val="90000"/>
              </a:lnSpc>
              <a:buFont typeface="Wingdings" charset="0"/>
              <a:buAutoNum type="arabicPeriod"/>
            </a:pPr>
            <a:r>
              <a:rPr lang="pt-BR" dirty="0"/>
              <a:t>A prioridade mais alta é satisfazer o cliente através de </a:t>
            </a:r>
            <a:r>
              <a:rPr lang="pt-BR" b="1" dirty="0"/>
              <a:t>entrega antecipada e contínua</a:t>
            </a:r>
            <a:r>
              <a:rPr lang="pt-BR" dirty="0"/>
              <a:t> de software de valor para o cliente.</a:t>
            </a:r>
            <a:endParaRPr lang="pt-BR" b="1" dirty="0"/>
          </a:p>
          <a:p>
            <a:pPr marL="533400" indent="-533400" algn="just">
              <a:lnSpc>
                <a:spcPct val="90000"/>
              </a:lnSpc>
              <a:buFont typeface="Wingdings" charset="0"/>
              <a:buAutoNum type="arabicPeriod"/>
            </a:pPr>
            <a:r>
              <a:rPr lang="pt-BR" b="1" dirty="0"/>
              <a:t>Mudanças de requisitos são bem-vindas</a:t>
            </a:r>
            <a:r>
              <a:rPr lang="pt-BR" dirty="0"/>
              <a:t>, mesmo tardiamente no desenvolvimento. Processos ágeis submetem-se à mudanças em favor da vantagem competitiva do cliente.</a:t>
            </a:r>
            <a:endParaRPr lang="pt-BR" b="1" dirty="0"/>
          </a:p>
          <a:p>
            <a:pPr marL="533400" indent="-533400" algn="just">
              <a:lnSpc>
                <a:spcPct val="90000"/>
              </a:lnSpc>
              <a:buFont typeface="Wingdings" charset="0"/>
              <a:buAutoNum type="arabicPeriod"/>
            </a:pPr>
            <a:r>
              <a:rPr lang="pt-BR" b="1" dirty="0"/>
              <a:t>Distribua software operacional frequentemente</a:t>
            </a:r>
            <a:r>
              <a:rPr lang="pt-BR" dirty="0"/>
              <a:t>, de duas semanas a dois meses, favorecendo a menor escala.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121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609600"/>
            <a:ext cx="7024744" cy="1143000"/>
          </a:xfrm>
        </p:spPr>
        <p:txBody>
          <a:bodyPr/>
          <a:lstStyle/>
          <a:p>
            <a:pPr algn="ctr"/>
            <a:r>
              <a:rPr lang="pt-BR" b="1" dirty="0"/>
              <a:t>Princípios refinados  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70" y="1964563"/>
            <a:ext cx="7244448" cy="4344440"/>
          </a:xfrm>
        </p:spPr>
        <p:txBody>
          <a:bodyPr>
            <a:noAutofit/>
          </a:bodyPr>
          <a:lstStyle/>
          <a:p>
            <a:pPr marL="533400" indent="-533400" algn="just">
              <a:lnSpc>
                <a:spcPct val="90000"/>
              </a:lnSpc>
              <a:buFont typeface="+mj-lt"/>
              <a:buAutoNum type="arabicPeriod" startAt="4"/>
            </a:pPr>
            <a:r>
              <a:rPr lang="pt-BR" b="1" dirty="0"/>
              <a:t>Equipe de negócios (cliente) e desenvolvedores devem trabalhar em conjunto, </a:t>
            </a:r>
            <a:r>
              <a:rPr lang="pt-BR" dirty="0"/>
              <a:t>diariamente durante o projeto.</a:t>
            </a:r>
            <a:endParaRPr lang="pt-BR" b="1" dirty="0"/>
          </a:p>
          <a:p>
            <a:pPr marL="533400" indent="-533400" algn="just">
              <a:lnSpc>
                <a:spcPct val="90000"/>
              </a:lnSpc>
              <a:buFont typeface="Wingdings" charset="0"/>
              <a:buAutoNum type="arabicPeriod" startAt="4"/>
            </a:pPr>
            <a:r>
              <a:rPr lang="pt-BR" b="1" dirty="0"/>
              <a:t>Construa projetos em torno de indivíduos motivados. </a:t>
            </a:r>
            <a:r>
              <a:rPr lang="pt-BR" dirty="0"/>
              <a:t>Dê a eles o ambiente e o suporte que precisam, e confie neles para obter o trabalho feito.</a:t>
            </a:r>
          </a:p>
          <a:p>
            <a:pPr marL="533400" indent="-533400" algn="just">
              <a:lnSpc>
                <a:spcPct val="80000"/>
              </a:lnSpc>
              <a:buFont typeface="Wingdings" charset="0"/>
              <a:buAutoNum type="arabicPeriod" startAt="6"/>
            </a:pPr>
            <a:r>
              <a:rPr lang="pt-BR" dirty="0"/>
              <a:t>O método mais eficiente e efetivo de transferir informação para uma equipe de software é através de </a:t>
            </a:r>
            <a:r>
              <a:rPr lang="pt-BR" b="1" dirty="0"/>
              <a:t>conversação face-a-face</a:t>
            </a:r>
            <a:r>
              <a:rPr lang="pt-BR" dirty="0"/>
              <a:t>.</a:t>
            </a:r>
            <a:endParaRPr lang="pt-BR" b="1" dirty="0"/>
          </a:p>
          <a:p>
            <a:pPr marL="533400" indent="-533400" algn="just">
              <a:lnSpc>
                <a:spcPct val="90000"/>
              </a:lnSpc>
              <a:buFont typeface="Wingdings" charset="0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01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609600"/>
            <a:ext cx="7024744" cy="1143000"/>
          </a:xfrm>
        </p:spPr>
        <p:txBody>
          <a:bodyPr/>
          <a:lstStyle/>
          <a:p>
            <a:pPr algn="ctr"/>
            <a:r>
              <a:rPr lang="pt-BR" b="1" dirty="0"/>
              <a:t>Princípios refinados  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70" y="2204143"/>
            <a:ext cx="7244448" cy="3354130"/>
          </a:xfrm>
        </p:spPr>
        <p:txBody>
          <a:bodyPr>
            <a:noAutofit/>
          </a:bodyPr>
          <a:lstStyle/>
          <a:p>
            <a:pPr marL="533400" indent="-533400" algn="just">
              <a:lnSpc>
                <a:spcPct val="80000"/>
              </a:lnSpc>
              <a:buFont typeface="+mj-lt"/>
              <a:buAutoNum type="arabicPeriod" startAt="7"/>
            </a:pPr>
            <a:r>
              <a:rPr lang="pt-BR" b="1" dirty="0"/>
              <a:t>Software operacional é a medida essencial de progresso</a:t>
            </a:r>
            <a:r>
              <a:rPr lang="pt-BR" dirty="0"/>
              <a:t>.</a:t>
            </a:r>
            <a:endParaRPr lang="pt-BR" b="1" dirty="0"/>
          </a:p>
          <a:p>
            <a:pPr marL="533400" indent="-533400" algn="just">
              <a:lnSpc>
                <a:spcPct val="80000"/>
              </a:lnSpc>
              <a:buFont typeface="+mj-lt"/>
              <a:buAutoNum type="arabicPeriod" startAt="7"/>
            </a:pPr>
            <a:r>
              <a:rPr lang="pt-BR" b="1" dirty="0"/>
              <a:t>Processos ágeis promovem desenvolvimento sustentável</a:t>
            </a:r>
            <a:r>
              <a:rPr lang="pt-BR" dirty="0"/>
              <a:t>. Os clientes, os desenvolvedores e usuários devem estar aptos a manter um passo constante indefinidamente.</a:t>
            </a:r>
          </a:p>
          <a:p>
            <a:pPr marL="533400" indent="-533400" algn="just">
              <a:lnSpc>
                <a:spcPct val="80000"/>
              </a:lnSpc>
              <a:buFont typeface="+mj-lt"/>
              <a:buAutoNum type="arabicPeriod" startAt="7"/>
            </a:pPr>
            <a:r>
              <a:rPr lang="pt-BR" dirty="0"/>
              <a:t>Atenção contínua à </a:t>
            </a:r>
            <a:r>
              <a:rPr lang="pt-BR" b="1" dirty="0"/>
              <a:t>excelência técnica e bom desenho</a:t>
            </a:r>
            <a:r>
              <a:rPr lang="pt-BR" dirty="0"/>
              <a:t> melhora a agilidade.</a:t>
            </a:r>
            <a:endParaRPr lang="pt-BR" b="1" dirty="0"/>
          </a:p>
          <a:p>
            <a:pPr marL="533400" indent="-533400" algn="just">
              <a:lnSpc>
                <a:spcPct val="90000"/>
              </a:lnSpc>
              <a:buFont typeface="+mj-lt"/>
              <a:buAutoNum type="arabicPeriod" startAt="7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315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609600"/>
            <a:ext cx="7024744" cy="1143000"/>
          </a:xfrm>
        </p:spPr>
        <p:txBody>
          <a:bodyPr/>
          <a:lstStyle/>
          <a:p>
            <a:pPr algn="ctr"/>
            <a:r>
              <a:rPr lang="pt-BR" b="1" dirty="0"/>
              <a:t>Princípios refinados  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270" y="2228101"/>
            <a:ext cx="7244448" cy="3162466"/>
          </a:xfrm>
        </p:spPr>
        <p:txBody>
          <a:bodyPr>
            <a:noAutofit/>
          </a:bodyPr>
          <a:lstStyle/>
          <a:p>
            <a:pPr marL="533400" indent="-533400" algn="just">
              <a:lnSpc>
                <a:spcPct val="80000"/>
              </a:lnSpc>
              <a:buFont typeface="+mj-lt"/>
              <a:buAutoNum type="arabicPeriod" startAt="10"/>
            </a:pPr>
            <a:r>
              <a:rPr lang="pt-BR" b="1" dirty="0"/>
              <a:t>Simplicidade</a:t>
            </a:r>
            <a:r>
              <a:rPr lang="pt-BR" dirty="0"/>
              <a:t> – a arte de maximizar a quantidade de trabalho não realizado – </a:t>
            </a:r>
            <a:r>
              <a:rPr lang="pt-BR" b="1" dirty="0"/>
              <a:t>é essencial</a:t>
            </a:r>
            <a:r>
              <a:rPr lang="pt-BR" dirty="0"/>
              <a:t>.</a:t>
            </a:r>
            <a:endParaRPr lang="pt-BR" b="1" dirty="0"/>
          </a:p>
          <a:p>
            <a:pPr marL="533400" indent="-533400" algn="just">
              <a:lnSpc>
                <a:spcPct val="80000"/>
              </a:lnSpc>
              <a:buFont typeface="+mj-lt"/>
              <a:buAutoNum type="arabicPeriod" startAt="10"/>
            </a:pPr>
            <a:r>
              <a:rPr lang="pt-BR" b="1" dirty="0"/>
              <a:t>As melhores arquiteturas, requisitos e desenhos emergem de times </a:t>
            </a:r>
            <a:r>
              <a:rPr lang="pt-BR" b="1" dirty="0" smtClean="0"/>
              <a:t>auto organizáveis</a:t>
            </a:r>
            <a:r>
              <a:rPr lang="pt-BR" dirty="0" smtClean="0"/>
              <a:t>.</a:t>
            </a:r>
            <a:endParaRPr lang="pt-BR" dirty="0"/>
          </a:p>
          <a:p>
            <a:pPr marL="533400" indent="-533400" algn="just">
              <a:lnSpc>
                <a:spcPct val="80000"/>
              </a:lnSpc>
              <a:buFont typeface="+mj-lt"/>
              <a:buAutoNum type="arabicPeriod" startAt="10"/>
            </a:pPr>
            <a:r>
              <a:rPr lang="pt-BR" dirty="0"/>
              <a:t>Em intervalos regulares o </a:t>
            </a:r>
            <a:r>
              <a:rPr lang="pt-BR" b="1" dirty="0"/>
              <a:t>time reflete como pode se tornar mais efetivo</a:t>
            </a:r>
            <a:r>
              <a:rPr lang="pt-BR" dirty="0"/>
              <a:t>, e então ajusta seu comportamento dessa forma.</a:t>
            </a:r>
          </a:p>
          <a:p>
            <a:pPr marL="533400" indent="-533400" algn="just">
              <a:lnSpc>
                <a:spcPct val="90000"/>
              </a:lnSpc>
              <a:buFont typeface="+mj-lt"/>
              <a:buAutoNum type="arabicPeriod" startAt="10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997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Exemplos de processos ágeis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90" y="2313152"/>
            <a:ext cx="6908999" cy="3480244"/>
          </a:xfrm>
        </p:spPr>
        <p:txBody>
          <a:bodyPr/>
          <a:lstStyle/>
          <a:p>
            <a:pPr marL="342900" indent="-342900"/>
            <a:r>
              <a:rPr lang="pt-BR" dirty="0" err="1"/>
              <a:t>eXtreme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(XP)</a:t>
            </a:r>
          </a:p>
          <a:p>
            <a:pPr marL="342900" indent="-342900"/>
            <a:r>
              <a:rPr lang="pt-BR" dirty="0" err="1" smtClean="0"/>
              <a:t>Dynamic</a:t>
            </a:r>
            <a:r>
              <a:rPr lang="pt-BR" dirty="0" smtClean="0"/>
              <a:t> </a:t>
            </a:r>
            <a:r>
              <a:rPr lang="pt-BR" dirty="0"/>
              <a:t>System </a:t>
            </a:r>
            <a:r>
              <a:rPr lang="pt-BR" dirty="0" err="1"/>
              <a:t>Development</a:t>
            </a:r>
            <a:r>
              <a:rPr lang="pt-BR" dirty="0"/>
              <a:t> </a:t>
            </a:r>
            <a:r>
              <a:rPr lang="pt-BR" dirty="0" err="1"/>
              <a:t>Method</a:t>
            </a:r>
            <a:r>
              <a:rPr lang="pt-BR" dirty="0"/>
              <a:t> (DSDM)</a:t>
            </a:r>
          </a:p>
          <a:p>
            <a:pPr marL="342900" indent="-342900"/>
            <a:r>
              <a:rPr lang="pt-BR" dirty="0" err="1"/>
              <a:t>Feature</a:t>
            </a:r>
            <a:r>
              <a:rPr lang="pt-BR" dirty="0"/>
              <a:t> </a:t>
            </a:r>
            <a:r>
              <a:rPr lang="pt-BR" dirty="0" err="1"/>
              <a:t>Driven</a:t>
            </a:r>
            <a:r>
              <a:rPr lang="pt-BR" dirty="0"/>
              <a:t> </a:t>
            </a:r>
            <a:r>
              <a:rPr lang="pt-BR" dirty="0" err="1"/>
              <a:t>Development</a:t>
            </a:r>
            <a:r>
              <a:rPr lang="pt-BR" dirty="0"/>
              <a:t> (FDD)</a:t>
            </a:r>
          </a:p>
          <a:p>
            <a:pPr marL="342900" indent="-342900"/>
            <a:r>
              <a:rPr lang="pt-BR" dirty="0"/>
              <a:t>Crystal </a:t>
            </a:r>
            <a:r>
              <a:rPr lang="pt-BR" dirty="0" err="1"/>
              <a:t>Families</a:t>
            </a:r>
            <a:r>
              <a:rPr lang="pt-BR" dirty="0"/>
              <a:t> </a:t>
            </a:r>
            <a:endParaRPr lang="pt-BR" dirty="0" smtClean="0"/>
          </a:p>
          <a:p>
            <a:pPr indent="-342900"/>
            <a:r>
              <a:rPr lang="pt-BR" b="1" dirty="0">
                <a:solidFill>
                  <a:srgbClr val="FF0000"/>
                </a:solidFill>
              </a:rPr>
              <a:t>SCRUM </a:t>
            </a:r>
          </a:p>
          <a:p>
            <a:pPr marL="342900" indent="-342900"/>
            <a:r>
              <a:rPr lang="pt-BR" dirty="0" smtClean="0"/>
              <a:t>...</a:t>
            </a:r>
            <a:endParaRPr lang="pt-BR" dirty="0"/>
          </a:p>
          <a:p>
            <a:pPr marL="342900" indent="-342900">
              <a:buFont typeface="Wingdings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240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972068"/>
            <a:ext cx="7024744" cy="79906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Adota</a:t>
            </a:r>
            <a:r>
              <a:rPr lang="en-US" dirty="0"/>
              <a:t> uma </a:t>
            </a:r>
            <a:r>
              <a:rPr lang="en-US" dirty="0" err="1"/>
              <a:t>abordagem</a:t>
            </a:r>
            <a:r>
              <a:rPr lang="en-US" dirty="0"/>
              <a:t> </a:t>
            </a:r>
            <a:r>
              <a:rPr lang="en-US" dirty="0" err="1"/>
              <a:t>empírica</a:t>
            </a:r>
            <a:r>
              <a:rPr lang="en-US" dirty="0"/>
              <a:t>, </a:t>
            </a:r>
            <a:r>
              <a:rPr lang="en-US" dirty="0" err="1"/>
              <a:t>aceitando</a:t>
            </a:r>
            <a:r>
              <a:rPr lang="en-US" dirty="0"/>
              <a:t> que o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/>
              <a:t>entendido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no </a:t>
            </a:r>
            <a:r>
              <a:rPr lang="en-US" dirty="0" err="1"/>
              <a:t>início</a:t>
            </a:r>
            <a:r>
              <a:rPr lang="en-US" dirty="0"/>
              <a:t> e que </a:t>
            </a:r>
            <a:r>
              <a:rPr lang="en-US" dirty="0" err="1"/>
              <a:t>provavelmente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mudarão</a:t>
            </a:r>
            <a:r>
              <a:rPr lang="en-US" dirty="0"/>
              <a:t> com o </a:t>
            </a:r>
            <a:r>
              <a:rPr lang="en-US" dirty="0" err="1"/>
              <a:t>passar</a:t>
            </a:r>
            <a:r>
              <a:rPr lang="en-US" dirty="0"/>
              <a:t> do tempo.</a:t>
            </a:r>
          </a:p>
          <a:p>
            <a:pPr algn="just"/>
            <a:r>
              <a:rPr lang="en-US" dirty="0"/>
              <a:t>O </a:t>
            </a:r>
            <a:r>
              <a:rPr lang="en-US" dirty="0" err="1"/>
              <a:t>foco</a:t>
            </a:r>
            <a:r>
              <a:rPr lang="en-US" dirty="0"/>
              <a:t> se </a:t>
            </a:r>
            <a:r>
              <a:rPr lang="en-US" dirty="0" err="1"/>
              <a:t>concentra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maximizar</a:t>
            </a:r>
            <a:r>
              <a:rPr lang="en-US" dirty="0"/>
              <a:t> a </a:t>
            </a:r>
            <a:r>
              <a:rPr lang="en-US" dirty="0" err="1"/>
              <a:t>habilidade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responder de forma </a:t>
            </a:r>
            <a:r>
              <a:rPr lang="en-US" dirty="0" err="1"/>
              <a:t>ágil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desafios</a:t>
            </a:r>
            <a:r>
              <a:rPr lang="en-US" dirty="0"/>
              <a:t> </a:t>
            </a:r>
            <a:r>
              <a:rPr lang="en-US" dirty="0" err="1"/>
              <a:t>emergentes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347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56202"/>
            <a:ext cx="7024744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SCRUM</a:t>
            </a:r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" t="-3966" r="-820" b="-2485"/>
          <a:stretch/>
        </p:blipFill>
        <p:spPr bwMode="auto">
          <a:xfrm>
            <a:off x="0" y="2482119"/>
            <a:ext cx="9224873" cy="3634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58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Equipes</a:t>
            </a:r>
            <a:r>
              <a:rPr lang="en-US" dirty="0"/>
              <a:t> </a:t>
            </a:r>
            <a:r>
              <a:rPr lang="en-US" dirty="0" err="1"/>
              <a:t>pequenas</a:t>
            </a:r>
            <a:r>
              <a:rPr lang="en-US" dirty="0"/>
              <a:t> e </a:t>
            </a:r>
            <a:r>
              <a:rPr lang="en-US" dirty="0" err="1"/>
              <a:t>multidisciplinares</a:t>
            </a:r>
            <a:endParaRPr lang="en-US" dirty="0"/>
          </a:p>
          <a:p>
            <a:pPr algn="just"/>
            <a:r>
              <a:rPr lang="en-US" dirty="0" err="1"/>
              <a:t>Versões</a:t>
            </a:r>
            <a:r>
              <a:rPr lang="en-US" dirty="0"/>
              <a:t> </a:t>
            </a:r>
            <a:r>
              <a:rPr lang="en-US" dirty="0" err="1"/>
              <a:t>incrementais</a:t>
            </a:r>
            <a:r>
              <a:rPr lang="en-US" dirty="0"/>
              <a:t> com </a:t>
            </a:r>
            <a:r>
              <a:rPr lang="en-US" dirty="0" err="1"/>
              <a:t>iterações</a:t>
            </a:r>
            <a:r>
              <a:rPr lang="en-US" dirty="0"/>
              <a:t> </a:t>
            </a:r>
            <a:r>
              <a:rPr lang="en-US" dirty="0" err="1"/>
              <a:t>curtas</a:t>
            </a:r>
            <a:endParaRPr lang="en-US" dirty="0"/>
          </a:p>
          <a:p>
            <a:pPr algn="just"/>
            <a:r>
              <a:rPr lang="en-US" dirty="0" err="1"/>
              <a:t>Equipes</a:t>
            </a:r>
            <a:r>
              <a:rPr lang="en-US" dirty="0"/>
              <a:t> auto-</a:t>
            </a:r>
            <a:r>
              <a:rPr lang="en-US" dirty="0" err="1"/>
              <a:t>organizadas</a:t>
            </a:r>
            <a:r>
              <a:rPr lang="en-US" dirty="0"/>
              <a:t> com </a:t>
            </a:r>
            <a:r>
              <a:rPr lang="en-US" dirty="0" err="1"/>
              <a:t>liderança</a:t>
            </a:r>
            <a:r>
              <a:rPr lang="en-US" dirty="0"/>
              <a:t> </a:t>
            </a:r>
            <a:r>
              <a:rPr lang="en-US" dirty="0" err="1"/>
              <a:t>diluída</a:t>
            </a:r>
            <a:endParaRPr lang="en-US" dirty="0"/>
          </a:p>
          <a:p>
            <a:pPr algn="just"/>
            <a:r>
              <a:rPr lang="en-US" dirty="0" err="1"/>
              <a:t>Facilitador</a:t>
            </a:r>
            <a:r>
              <a:rPr lang="en-US" dirty="0"/>
              <a:t>: Scrum Master</a:t>
            </a:r>
          </a:p>
        </p:txBody>
      </p:sp>
    </p:spTree>
    <p:extLst>
      <p:ext uri="{BB962C8B-B14F-4D97-AF65-F5344CB8AC3E}">
        <p14:creationId xmlns:p14="http://schemas.microsoft.com/office/powerpoint/2010/main" val="153507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organizado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do </a:t>
            </a:r>
            <a:r>
              <a:rPr lang="en-US" i="1" dirty="0"/>
              <a:t>backlog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  <a:p>
            <a:pPr lvl="1" algn="just"/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atualizada</a:t>
            </a:r>
            <a:r>
              <a:rPr lang="en-US" dirty="0"/>
              <a:t> e </a:t>
            </a:r>
            <a:r>
              <a:rPr lang="en-US" dirty="0" err="1"/>
              <a:t>priorizada</a:t>
            </a:r>
            <a:r>
              <a:rPr lang="en-US" dirty="0"/>
              <a:t> do que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feito</a:t>
            </a:r>
            <a:endParaRPr lang="en-US" dirty="0"/>
          </a:p>
          <a:p>
            <a:pPr algn="just"/>
            <a:r>
              <a:rPr lang="en-US" dirty="0" err="1"/>
              <a:t>Comunicação</a:t>
            </a:r>
            <a:r>
              <a:rPr lang="en-US" dirty="0"/>
              <a:t> e </a:t>
            </a:r>
            <a:r>
              <a:rPr lang="en-US" dirty="0" err="1"/>
              <a:t>cooperação</a:t>
            </a:r>
            <a:r>
              <a:rPr lang="en-US" dirty="0"/>
              <a:t> entre as </a:t>
            </a:r>
            <a:r>
              <a:rPr lang="en-US" dirty="0" err="1"/>
              <a:t>equipes</a:t>
            </a:r>
            <a:r>
              <a:rPr lang="en-US" dirty="0"/>
              <a:t> se </a:t>
            </a:r>
            <a:r>
              <a:rPr lang="en-US" dirty="0" err="1"/>
              <a:t>intensificam</a:t>
            </a:r>
            <a:r>
              <a:rPr lang="en-US" dirty="0"/>
              <a:t> para </a:t>
            </a:r>
            <a:r>
              <a:rPr lang="en-US" dirty="0" err="1"/>
              <a:t>produzir</a:t>
            </a:r>
            <a:r>
              <a:rPr lang="en-US" dirty="0"/>
              <a:t> </a:t>
            </a:r>
            <a:r>
              <a:rPr lang="en-US" dirty="0" err="1"/>
              <a:t>resultados</a:t>
            </a:r>
            <a:endParaRPr lang="en-US" dirty="0"/>
          </a:p>
          <a:p>
            <a:pPr marL="6858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9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84966"/>
            <a:ext cx="7024744" cy="1143000"/>
          </a:xfrm>
        </p:spPr>
        <p:txBody>
          <a:bodyPr/>
          <a:lstStyle/>
          <a:p>
            <a:r>
              <a:rPr lang="en-US"/>
              <a:t>Três papéis</a:t>
            </a:r>
          </a:p>
        </p:txBody>
      </p:sp>
      <p:pic>
        <p:nvPicPr>
          <p:cNvPr id="5" name="Picture 4" descr="Screen Shot 2016-03-03 at 14.52.5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20" y="1982198"/>
            <a:ext cx="7960382" cy="290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2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92252"/>
            <a:ext cx="7024744" cy="1143000"/>
          </a:xfrm>
        </p:spPr>
        <p:txBody>
          <a:bodyPr/>
          <a:lstStyle/>
          <a:p>
            <a:r>
              <a:rPr lang="en-US"/>
              <a:t>Três papéis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467400"/>
            <a:ext cx="6777317" cy="3508977"/>
          </a:xfrm>
        </p:spPr>
        <p:txBody>
          <a:bodyPr/>
          <a:lstStyle/>
          <a:p>
            <a:pPr marL="68580" indent="0" algn="just">
              <a:buNone/>
            </a:pPr>
            <a:r>
              <a:rPr lang="en-US" dirty="0" smtClean="0"/>
              <a:t>1-</a:t>
            </a:r>
            <a:r>
              <a:rPr lang="en-US" i="1" dirty="0" smtClean="0"/>
              <a:t> Product </a:t>
            </a:r>
            <a:r>
              <a:rPr lang="en-US" i="1" dirty="0"/>
              <a:t>owner </a:t>
            </a:r>
            <a:r>
              <a:rPr lang="en-US" dirty="0"/>
              <a:t>(</a:t>
            </a:r>
            <a:r>
              <a:rPr lang="en-US" dirty="0" err="1"/>
              <a:t>dono</a:t>
            </a:r>
            <a:r>
              <a:rPr lang="en-US" dirty="0"/>
              <a:t> do </a:t>
            </a:r>
            <a:r>
              <a:rPr lang="en-US" dirty="0" err="1"/>
              <a:t>produto</a:t>
            </a:r>
            <a:r>
              <a:rPr lang="en-US" dirty="0"/>
              <a:t>)</a:t>
            </a:r>
          </a:p>
          <a:p>
            <a:pPr lvl="1" algn="just"/>
            <a:r>
              <a:rPr lang="en-US" dirty="0" err="1"/>
              <a:t>Responsável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valor de </a:t>
            </a:r>
            <a:r>
              <a:rPr lang="en-US" dirty="0" err="1"/>
              <a:t>negócio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  <a:p>
            <a:pPr lvl="1" algn="just"/>
            <a:r>
              <a:rPr lang="en-US" dirty="0" err="1"/>
              <a:t>Representante</a:t>
            </a:r>
            <a:r>
              <a:rPr lang="en-US" dirty="0"/>
              <a:t> do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junto</a:t>
            </a:r>
            <a:r>
              <a:rPr lang="en-US" dirty="0"/>
              <a:t> da </a:t>
            </a:r>
            <a:r>
              <a:rPr lang="en-US" dirty="0" err="1"/>
              <a:t>equipe</a:t>
            </a:r>
            <a:endParaRPr lang="en-US" dirty="0"/>
          </a:p>
          <a:p>
            <a:pPr lvl="1" algn="just"/>
            <a:r>
              <a:rPr lang="en-US" dirty="0" err="1"/>
              <a:t>Controla</a:t>
            </a:r>
            <a:r>
              <a:rPr lang="en-US" dirty="0"/>
              <a:t>, </a:t>
            </a:r>
            <a:r>
              <a:rPr lang="en-US" dirty="0" err="1"/>
              <a:t>gerencia</a:t>
            </a:r>
            <a:r>
              <a:rPr lang="en-US" dirty="0"/>
              <a:t> e </a:t>
            </a:r>
            <a:r>
              <a:rPr lang="en-US" dirty="0" err="1"/>
              <a:t>prioriza</a:t>
            </a:r>
            <a:r>
              <a:rPr lang="en-US" dirty="0"/>
              <a:t> o </a:t>
            </a:r>
            <a:r>
              <a:rPr lang="en-US" i="1" dirty="0"/>
              <a:t>backlog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  <a:p>
            <a:pPr marL="365760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84966"/>
            <a:ext cx="7024744" cy="1143000"/>
          </a:xfrm>
        </p:spPr>
        <p:txBody>
          <a:bodyPr/>
          <a:lstStyle/>
          <a:p>
            <a:r>
              <a:rPr lang="en-US"/>
              <a:t>Dono do Produto</a:t>
            </a:r>
          </a:p>
        </p:txBody>
      </p:sp>
      <p:pic>
        <p:nvPicPr>
          <p:cNvPr id="3" name="Picture 2" descr="Interação-Product-Owner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588" y="1667183"/>
            <a:ext cx="5761347" cy="41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1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964225"/>
            <a:ext cx="7024744" cy="50738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papéis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92688"/>
            <a:ext cx="6777317" cy="3221201"/>
          </a:xfrm>
        </p:spPr>
        <p:txBody>
          <a:bodyPr>
            <a:normAutofit fontScale="92500" lnSpcReduction="20000"/>
          </a:bodyPr>
          <a:lstStyle/>
          <a:p>
            <a:pPr marL="365760" lvl="1" indent="0" algn="just">
              <a:buNone/>
            </a:pPr>
            <a:endParaRPr lang="en-US" dirty="0"/>
          </a:p>
          <a:p>
            <a:pPr marL="68580" indent="0" algn="just">
              <a:buNone/>
            </a:pPr>
            <a:r>
              <a:rPr lang="en-US" dirty="0" smtClean="0"/>
              <a:t>2 - Scrum </a:t>
            </a:r>
            <a:r>
              <a:rPr lang="en-US" dirty="0"/>
              <a:t>master (</a:t>
            </a:r>
            <a:r>
              <a:rPr lang="en-US" dirty="0" err="1"/>
              <a:t>facilitador</a:t>
            </a:r>
            <a:r>
              <a:rPr lang="en-US" dirty="0"/>
              <a:t>)</a:t>
            </a:r>
          </a:p>
          <a:p>
            <a:pPr lvl="1" algn="just"/>
            <a:r>
              <a:rPr lang="en-US" dirty="0" err="1"/>
              <a:t>Toma</a:t>
            </a:r>
            <a:r>
              <a:rPr lang="en-US" dirty="0"/>
              <a:t> </a:t>
            </a:r>
            <a:r>
              <a:rPr lang="en-US" dirty="0" err="1"/>
              <a:t>iniciativas</a:t>
            </a:r>
            <a:r>
              <a:rPr lang="en-US" dirty="0"/>
              <a:t> para </a:t>
            </a:r>
            <a:r>
              <a:rPr lang="en-US" dirty="0" err="1"/>
              <a:t>melhorar</a:t>
            </a:r>
            <a:r>
              <a:rPr lang="en-US" dirty="0"/>
              <a:t> o </a:t>
            </a:r>
            <a:r>
              <a:rPr lang="en-US" dirty="0" err="1"/>
              <a:t>trabalho</a:t>
            </a:r>
            <a:r>
              <a:rPr lang="en-US" dirty="0"/>
              <a:t>, resolve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impedimentos</a:t>
            </a:r>
            <a:endParaRPr lang="en-US" dirty="0"/>
          </a:p>
          <a:p>
            <a:pPr lvl="1" algn="just"/>
            <a:r>
              <a:rPr lang="en-US" dirty="0" err="1"/>
              <a:t>Não</a:t>
            </a:r>
            <a:r>
              <a:rPr lang="en-US" dirty="0"/>
              <a:t> se </a:t>
            </a:r>
            <a:r>
              <a:rPr lang="en-US" dirty="0" err="1"/>
              <a:t>envolve</a:t>
            </a:r>
            <a:r>
              <a:rPr lang="en-US" dirty="0"/>
              <a:t> com o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técnico</a:t>
            </a:r>
            <a:endParaRPr lang="en-US" dirty="0"/>
          </a:p>
          <a:p>
            <a:pPr lvl="1" algn="just"/>
            <a:endParaRPr lang="en-US" dirty="0"/>
          </a:p>
          <a:p>
            <a:pPr marL="68580" indent="0" algn="just">
              <a:buNone/>
            </a:pPr>
            <a:r>
              <a:rPr lang="en-US" dirty="0" smtClean="0"/>
              <a:t>3 - </a:t>
            </a:r>
            <a:r>
              <a:rPr lang="en-US" dirty="0" err="1" smtClean="0"/>
              <a:t>Equipe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desenvolvimento</a:t>
            </a:r>
            <a:endParaRPr lang="en-US" dirty="0"/>
          </a:p>
          <a:p>
            <a:pPr lvl="1" algn="just"/>
            <a:r>
              <a:rPr lang="en-US" dirty="0"/>
              <a:t>Auto-</a:t>
            </a:r>
            <a:r>
              <a:rPr lang="en-US" dirty="0" err="1"/>
              <a:t>organizada</a:t>
            </a:r>
            <a:endParaRPr lang="en-US" dirty="0"/>
          </a:p>
          <a:p>
            <a:pPr lvl="1" algn="just"/>
            <a:r>
              <a:rPr lang="en-US" dirty="0" err="1"/>
              <a:t>Responsável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entregar</a:t>
            </a:r>
            <a:r>
              <a:rPr lang="en-US" dirty="0"/>
              <a:t> valor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de software com </a:t>
            </a:r>
            <a:r>
              <a:rPr lang="en-US" dirty="0" err="1"/>
              <a:t>qualidade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5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9778" y="1057793"/>
            <a:ext cx="7024744" cy="741914"/>
          </a:xfrm>
        </p:spPr>
        <p:txBody>
          <a:bodyPr/>
          <a:lstStyle/>
          <a:p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artefatos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1" y="2392220"/>
            <a:ext cx="6777317" cy="1493981"/>
          </a:xfrm>
        </p:spPr>
        <p:txBody>
          <a:bodyPr/>
          <a:lstStyle/>
          <a:p>
            <a:pPr marL="525780" indent="-457200">
              <a:buFont typeface="+mj-lt"/>
              <a:buAutoNum type="arabicPeriod"/>
            </a:pPr>
            <a:r>
              <a:rPr lang="en-US" i="1" dirty="0"/>
              <a:t>Backlog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Incremento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i="1" dirty="0"/>
              <a:t>Backlog</a:t>
            </a:r>
            <a:r>
              <a:rPr lang="en-US" dirty="0"/>
              <a:t> da </a:t>
            </a:r>
            <a:r>
              <a:rPr lang="en-US" i="1" dirty="0"/>
              <a:t>Sprint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82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76630"/>
            <a:ext cx="7024744" cy="1143000"/>
          </a:xfrm>
        </p:spPr>
        <p:txBody>
          <a:bodyPr/>
          <a:lstStyle/>
          <a:p>
            <a:r>
              <a:rPr lang="en-US" i="1" dirty="0" smtClean="0"/>
              <a:t>1- Backlog</a:t>
            </a:r>
            <a:r>
              <a:rPr lang="en-US" dirty="0" smtClean="0"/>
              <a:t> </a:t>
            </a:r>
            <a:r>
              <a:rPr lang="en-US" dirty="0"/>
              <a:t>do </a:t>
            </a:r>
            <a:r>
              <a:rPr lang="en-US" dirty="0" err="1"/>
              <a:t>produto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726379"/>
            <a:ext cx="88773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8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48504"/>
            <a:ext cx="7024744" cy="1143000"/>
          </a:xfrm>
        </p:spPr>
        <p:txBody>
          <a:bodyPr/>
          <a:lstStyle/>
          <a:p>
            <a:r>
              <a:rPr lang="en-US"/>
              <a:t>Histórias do </a:t>
            </a:r>
            <a:r>
              <a:rPr lang="en-US" i="1"/>
              <a:t>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histórias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22" y="1973124"/>
            <a:ext cx="6982175" cy="430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4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24546"/>
            <a:ext cx="7024744" cy="1143000"/>
          </a:xfrm>
        </p:spPr>
        <p:txBody>
          <a:bodyPr/>
          <a:lstStyle/>
          <a:p>
            <a:r>
              <a:rPr lang="en-US" dirty="0" smtClean="0"/>
              <a:t>2-  </a:t>
            </a:r>
            <a:r>
              <a:rPr lang="en-US" dirty="0" err="1" smtClean="0"/>
              <a:t>Incremento</a:t>
            </a:r>
            <a:r>
              <a:rPr lang="en-US" dirty="0" smtClean="0"/>
              <a:t> </a:t>
            </a:r>
            <a:r>
              <a:rPr lang="en-US" dirty="0"/>
              <a:t>do </a:t>
            </a:r>
            <a:r>
              <a:rPr lang="en-US" dirty="0" err="1"/>
              <a:t>Produto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6-03-03 at 15.34.07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42" y="1907126"/>
            <a:ext cx="75311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9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48504"/>
            <a:ext cx="7024744" cy="1143000"/>
          </a:xfrm>
        </p:spPr>
        <p:txBody>
          <a:bodyPr/>
          <a:lstStyle/>
          <a:p>
            <a:r>
              <a:rPr lang="en-US" i="1" dirty="0" smtClean="0"/>
              <a:t>3- Backlog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i="1" dirty="0"/>
              <a:t>Sprint</a:t>
            </a:r>
          </a:p>
        </p:txBody>
      </p:sp>
      <p:pic>
        <p:nvPicPr>
          <p:cNvPr id="4" name="Picture 3" descr="backlog sprint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04" y="1964562"/>
            <a:ext cx="7635741" cy="407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1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20378"/>
            <a:ext cx="7024744" cy="1143000"/>
          </a:xfrm>
        </p:spPr>
        <p:txBody>
          <a:bodyPr/>
          <a:lstStyle/>
          <a:p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cerimônias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eriod"/>
            </a:pPr>
            <a:r>
              <a:rPr lang="en-US" dirty="0" err="1"/>
              <a:t>Reunião</a:t>
            </a:r>
            <a:r>
              <a:rPr lang="en-US" dirty="0"/>
              <a:t> de </a:t>
            </a:r>
            <a:r>
              <a:rPr lang="en-US" dirty="0" err="1"/>
              <a:t>planejamento</a:t>
            </a:r>
            <a:r>
              <a:rPr lang="en-US" dirty="0"/>
              <a:t> da Sprint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Reuniões</a:t>
            </a:r>
            <a:r>
              <a:rPr lang="en-US" dirty="0"/>
              <a:t> </a:t>
            </a:r>
            <a:r>
              <a:rPr lang="en-US" dirty="0" err="1"/>
              <a:t>diárias</a:t>
            </a:r>
            <a:endParaRPr lang="en-US" dirty="0"/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Revisão</a:t>
            </a:r>
            <a:r>
              <a:rPr lang="en-US" dirty="0"/>
              <a:t> da Sprint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err="1"/>
              <a:t>Retrospectiva</a:t>
            </a:r>
            <a:r>
              <a:rPr lang="en-US" dirty="0"/>
              <a:t> da Sprint</a:t>
            </a:r>
          </a:p>
        </p:txBody>
      </p:sp>
    </p:spTree>
    <p:extLst>
      <p:ext uri="{BB962C8B-B14F-4D97-AF65-F5344CB8AC3E}">
        <p14:creationId xmlns:p14="http://schemas.microsoft.com/office/powerpoint/2010/main" val="404898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21428"/>
            <a:ext cx="7024744" cy="1143000"/>
          </a:xfrm>
        </p:spPr>
        <p:txBody>
          <a:bodyPr/>
          <a:lstStyle/>
          <a:p>
            <a:r>
              <a:rPr lang="en-US"/>
              <a:t>Cerimônias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erimoni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02" y="1137611"/>
            <a:ext cx="7580471" cy="57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59958"/>
            <a:ext cx="702474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1- </a:t>
            </a:r>
            <a:r>
              <a:rPr lang="en-US" dirty="0" err="1" smtClean="0"/>
              <a:t>Reunião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planejamento</a:t>
            </a:r>
            <a:r>
              <a:rPr lang="en-US" dirty="0"/>
              <a:t> da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Definição da meta, </a:t>
            </a:r>
            <a:r>
              <a:rPr lang="en-US" dirty="0" err="1"/>
              <a:t>histórias</a:t>
            </a:r>
            <a:r>
              <a:rPr lang="en-US" dirty="0"/>
              <a:t> </a:t>
            </a:r>
            <a:r>
              <a:rPr lang="en-US" dirty="0" err="1"/>
              <a:t>selecionadas</a:t>
            </a:r>
            <a:r>
              <a:rPr lang="en-US" dirty="0"/>
              <a:t>, </a:t>
            </a:r>
            <a:r>
              <a:rPr lang="en-US" dirty="0" err="1" smtClean="0"/>
              <a:t>tarefas</a:t>
            </a:r>
            <a:r>
              <a:rPr lang="en-US" dirty="0" smtClean="0"/>
              <a:t> </a:t>
            </a:r>
            <a:r>
              <a:rPr lang="en-US" dirty="0" err="1"/>
              <a:t>técnicas</a:t>
            </a:r>
            <a:r>
              <a:rPr lang="en-US" dirty="0"/>
              <a:t> </a:t>
            </a:r>
            <a:r>
              <a:rPr lang="en-US" dirty="0" err="1"/>
              <a:t>necessárias</a:t>
            </a:r>
            <a:r>
              <a:rPr lang="en-US" dirty="0"/>
              <a:t> para </a:t>
            </a:r>
            <a:r>
              <a:rPr lang="en-US" dirty="0" err="1"/>
              <a:t>transformar</a:t>
            </a:r>
            <a:r>
              <a:rPr lang="en-US" dirty="0"/>
              <a:t> as </a:t>
            </a:r>
            <a:r>
              <a:rPr lang="en-US" dirty="0" err="1"/>
              <a:t>histórias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incremento</a:t>
            </a:r>
            <a:r>
              <a:rPr lang="en-US" dirty="0"/>
              <a:t> de </a:t>
            </a:r>
            <a:r>
              <a:rPr lang="en-US" dirty="0" err="1"/>
              <a:t>produto</a:t>
            </a:r>
            <a:endParaRPr lang="en-US" dirty="0"/>
          </a:p>
          <a:p>
            <a:pPr algn="just"/>
            <a:r>
              <a:rPr lang="en-US" dirty="0" err="1"/>
              <a:t>Duas</a:t>
            </a:r>
            <a:r>
              <a:rPr lang="en-US" dirty="0"/>
              <a:t> </a:t>
            </a:r>
            <a:r>
              <a:rPr lang="en-US" dirty="0" err="1"/>
              <a:t>perguntas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O que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entregue</a:t>
            </a:r>
            <a:r>
              <a:rPr lang="en-US" dirty="0"/>
              <a:t>?</a:t>
            </a:r>
          </a:p>
          <a:p>
            <a:pPr lvl="1" algn="just"/>
            <a:r>
              <a:rPr lang="en-US" dirty="0"/>
              <a:t>Como </a:t>
            </a:r>
            <a:r>
              <a:rPr lang="en-US" dirty="0" err="1"/>
              <a:t>faremos</a:t>
            </a:r>
            <a:r>
              <a:rPr lang="en-US" dirty="0"/>
              <a:t> para </a:t>
            </a:r>
            <a:r>
              <a:rPr lang="en-US" dirty="0" err="1"/>
              <a:t>entregar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1910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20378"/>
            <a:ext cx="7024744" cy="1143000"/>
          </a:xfrm>
        </p:spPr>
        <p:txBody>
          <a:bodyPr/>
          <a:lstStyle/>
          <a:p>
            <a:r>
              <a:rPr lang="en-US" dirty="0" smtClean="0"/>
              <a:t>2- </a:t>
            </a:r>
            <a:r>
              <a:rPr lang="en-US" dirty="0" err="1" smtClean="0"/>
              <a:t>Reunião</a:t>
            </a:r>
            <a:r>
              <a:rPr lang="en-US" dirty="0" smtClean="0"/>
              <a:t> </a:t>
            </a:r>
            <a:r>
              <a:rPr lang="en-US" dirty="0" err="1"/>
              <a:t>diária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3"/>
            <a:ext cx="6777317" cy="2831278"/>
          </a:xfrm>
        </p:spPr>
        <p:txBody>
          <a:bodyPr/>
          <a:lstStyle/>
          <a:p>
            <a:pPr algn="just"/>
            <a:r>
              <a:rPr lang="en-US" dirty="0" err="1"/>
              <a:t>Máximo</a:t>
            </a:r>
            <a:r>
              <a:rPr lang="en-US" dirty="0"/>
              <a:t> 15 </a:t>
            </a:r>
            <a:r>
              <a:rPr lang="en-US" dirty="0" err="1" smtClean="0"/>
              <a:t>minutos</a:t>
            </a:r>
            <a:endParaRPr lang="en-US" dirty="0"/>
          </a:p>
          <a:p>
            <a:pPr algn="just"/>
            <a:r>
              <a:rPr lang="en-US" dirty="0" err="1"/>
              <a:t>Equipe</a:t>
            </a:r>
            <a:r>
              <a:rPr lang="en-US" dirty="0"/>
              <a:t> de </a:t>
            </a:r>
            <a:r>
              <a:rPr lang="en-US" dirty="0" err="1" smtClean="0"/>
              <a:t>desenvolvimento</a:t>
            </a:r>
            <a:endParaRPr lang="en-US" dirty="0"/>
          </a:p>
          <a:p>
            <a:pPr algn="just"/>
            <a:r>
              <a:rPr lang="en-US" dirty="0"/>
              <a:t>O que </a:t>
            </a:r>
            <a:r>
              <a:rPr lang="en-US" dirty="0" err="1"/>
              <a:t>fiz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a </a:t>
            </a:r>
            <a:r>
              <a:rPr lang="en-US" dirty="0" err="1"/>
              <a:t>última</a:t>
            </a:r>
            <a:r>
              <a:rPr lang="en-US" dirty="0"/>
              <a:t> </a:t>
            </a:r>
            <a:r>
              <a:rPr lang="en-US" dirty="0" err="1"/>
              <a:t>reunião</a:t>
            </a:r>
            <a:r>
              <a:rPr lang="en-US" dirty="0"/>
              <a:t> </a:t>
            </a:r>
            <a:r>
              <a:rPr lang="en-US" dirty="0" err="1"/>
              <a:t>diária</a:t>
            </a:r>
            <a:r>
              <a:rPr lang="en-US" dirty="0"/>
              <a:t>?</a:t>
            </a:r>
          </a:p>
          <a:p>
            <a:pPr algn="just"/>
            <a:r>
              <a:rPr lang="en-US" dirty="0"/>
              <a:t>O que </a:t>
            </a:r>
            <a:r>
              <a:rPr lang="en-US" dirty="0" err="1"/>
              <a:t>pretendo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 até a </a:t>
            </a:r>
            <a:r>
              <a:rPr lang="en-US" dirty="0" err="1"/>
              <a:t>próxima</a:t>
            </a:r>
            <a:r>
              <a:rPr lang="en-US" dirty="0"/>
              <a:t>?</a:t>
            </a:r>
          </a:p>
          <a:p>
            <a:pPr algn="just"/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algo</a:t>
            </a:r>
            <a:r>
              <a:rPr lang="en-US" dirty="0"/>
              <a:t> me </a:t>
            </a:r>
            <a:r>
              <a:rPr lang="en-US" dirty="0" err="1" smtClean="0"/>
              <a:t>impedindo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concluir</a:t>
            </a:r>
            <a:r>
              <a:rPr lang="en-US" dirty="0"/>
              <a:t> </a:t>
            </a:r>
            <a:r>
              <a:rPr lang="en-US" dirty="0" err="1"/>
              <a:t>alguma</a:t>
            </a:r>
            <a:r>
              <a:rPr lang="en-US" dirty="0"/>
              <a:t> </a:t>
            </a:r>
            <a:r>
              <a:rPr lang="en-US" dirty="0" err="1"/>
              <a:t>tarefa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386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20378"/>
            <a:ext cx="7024744" cy="1143000"/>
          </a:xfrm>
        </p:spPr>
        <p:txBody>
          <a:bodyPr/>
          <a:lstStyle/>
          <a:p>
            <a:r>
              <a:rPr lang="en-US" dirty="0" smtClean="0"/>
              <a:t>3- </a:t>
            </a:r>
            <a:r>
              <a:rPr lang="en-US" dirty="0" err="1" smtClean="0"/>
              <a:t>Revisão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i="1" dirty="0"/>
              <a:t>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052" y="2003612"/>
            <a:ext cx="6777317" cy="3761700"/>
          </a:xfrm>
        </p:spPr>
        <p:txBody>
          <a:bodyPr/>
          <a:lstStyle/>
          <a:p>
            <a:pPr algn="just"/>
            <a:r>
              <a:rPr lang="en-US" dirty="0"/>
              <a:t>Product Owner </a:t>
            </a:r>
            <a:r>
              <a:rPr lang="en-US" dirty="0" err="1"/>
              <a:t>valida</a:t>
            </a:r>
            <a:r>
              <a:rPr lang="en-US" dirty="0"/>
              <a:t> o </a:t>
            </a:r>
            <a:r>
              <a:rPr lang="en-US" dirty="0" err="1"/>
              <a:t>Incremento</a:t>
            </a:r>
            <a:r>
              <a:rPr lang="en-US" dirty="0"/>
              <a:t> </a:t>
            </a:r>
            <a:r>
              <a:rPr lang="en-US" dirty="0" err="1"/>
              <a:t>produzido</a:t>
            </a:r>
            <a:r>
              <a:rPr lang="en-US" dirty="0"/>
              <a:t> de </a:t>
            </a:r>
            <a:r>
              <a:rPr lang="en-US" dirty="0" err="1"/>
              <a:t>acordo</a:t>
            </a:r>
            <a:r>
              <a:rPr lang="en-US" dirty="0"/>
              <a:t> com a meta da sprint.</a:t>
            </a:r>
          </a:p>
          <a:p>
            <a:pPr algn="just"/>
            <a:r>
              <a:rPr lang="en-US" dirty="0" err="1"/>
              <a:t>Objetivo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 </a:t>
            </a:r>
            <a:r>
              <a:rPr lang="en-US" dirty="0" err="1"/>
              <a:t>inspecionar</a:t>
            </a:r>
            <a:r>
              <a:rPr lang="en-US" dirty="0"/>
              <a:t> o que a </a:t>
            </a:r>
            <a:r>
              <a:rPr lang="en-US" dirty="0" err="1"/>
              <a:t>equipe</a:t>
            </a:r>
            <a:r>
              <a:rPr lang="en-US" dirty="0"/>
              <a:t> </a:t>
            </a:r>
            <a:r>
              <a:rPr lang="en-US" dirty="0" err="1"/>
              <a:t>produziu</a:t>
            </a:r>
            <a:r>
              <a:rPr lang="en-US" dirty="0"/>
              <a:t> </a:t>
            </a:r>
          </a:p>
          <a:p>
            <a:pPr lvl="1" algn="just"/>
            <a:r>
              <a:rPr lang="en-US" dirty="0" err="1"/>
              <a:t>Coletar</a:t>
            </a:r>
            <a:r>
              <a:rPr lang="en-US" dirty="0"/>
              <a:t> </a:t>
            </a:r>
            <a:r>
              <a:rPr lang="en-US" dirty="0" err="1"/>
              <a:t>impressões</a:t>
            </a:r>
            <a:r>
              <a:rPr lang="en-US" dirty="0"/>
              <a:t> para </a:t>
            </a:r>
            <a:r>
              <a:rPr lang="en-US" dirty="0" err="1"/>
              <a:t>adaptar</a:t>
            </a:r>
            <a:r>
              <a:rPr lang="en-US" dirty="0"/>
              <a:t> o </a:t>
            </a:r>
            <a:r>
              <a:rPr lang="en-US" dirty="0" err="1"/>
              <a:t>plano</a:t>
            </a:r>
            <a:r>
              <a:rPr lang="en-US" dirty="0"/>
              <a:t> da </a:t>
            </a:r>
            <a:r>
              <a:rPr lang="en-US" i="1" dirty="0"/>
              <a:t>sprint</a:t>
            </a:r>
            <a:r>
              <a:rPr lang="en-US" dirty="0"/>
              <a:t> </a:t>
            </a:r>
            <a:r>
              <a:rPr lang="en-US" dirty="0" err="1"/>
              <a:t>seguinte</a:t>
            </a:r>
            <a:endParaRPr lang="en-US" dirty="0"/>
          </a:p>
          <a:p>
            <a:pPr algn="just"/>
            <a:r>
              <a:rPr lang="en-US" dirty="0" err="1"/>
              <a:t>Foco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Aprimoramento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5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20378"/>
            <a:ext cx="7024744" cy="1143000"/>
          </a:xfrm>
        </p:spPr>
        <p:txBody>
          <a:bodyPr/>
          <a:lstStyle/>
          <a:p>
            <a:r>
              <a:rPr lang="en-US" dirty="0" smtClean="0"/>
              <a:t>4- </a:t>
            </a:r>
            <a:r>
              <a:rPr lang="en-US" dirty="0" err="1" smtClean="0"/>
              <a:t>Retrospectiva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i="1" dirty="0"/>
              <a:t>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761700"/>
          </a:xfrm>
        </p:spPr>
        <p:txBody>
          <a:bodyPr/>
          <a:lstStyle/>
          <a:p>
            <a:pPr algn="just"/>
            <a:r>
              <a:rPr lang="en-US" dirty="0" err="1"/>
              <a:t>Foco</a:t>
            </a:r>
            <a:r>
              <a:rPr lang="en-US" dirty="0"/>
              <a:t>: </a:t>
            </a:r>
          </a:p>
          <a:p>
            <a:pPr lvl="1" algn="just"/>
            <a:r>
              <a:rPr lang="en-US" dirty="0" err="1"/>
              <a:t>Aprimoramento</a:t>
            </a:r>
            <a:r>
              <a:rPr lang="en-US" dirty="0"/>
              <a:t> do </a:t>
            </a:r>
            <a:r>
              <a:rPr lang="en-US" dirty="0" err="1"/>
              <a:t>processo</a:t>
            </a:r>
            <a:endParaRPr lang="en-US" dirty="0"/>
          </a:p>
          <a:p>
            <a:pPr algn="just"/>
            <a:r>
              <a:rPr lang="en-US" dirty="0" err="1"/>
              <a:t>Interação</a:t>
            </a:r>
            <a:r>
              <a:rPr lang="en-US" dirty="0"/>
              <a:t> entre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membros</a:t>
            </a:r>
            <a:r>
              <a:rPr lang="en-US" dirty="0"/>
              <a:t>, </a:t>
            </a:r>
            <a:r>
              <a:rPr lang="en-US" dirty="0" err="1"/>
              <a:t>práticas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</a:t>
            </a:r>
            <a:r>
              <a:rPr lang="en-US" dirty="0" err="1"/>
              <a:t>utilizadas</a:t>
            </a:r>
            <a:endParaRPr lang="en-US" dirty="0"/>
          </a:p>
          <a:p>
            <a:pPr algn="just"/>
            <a:r>
              <a:rPr lang="en-US" dirty="0"/>
              <a:t>O que </a:t>
            </a:r>
            <a:r>
              <a:rPr lang="en-US" dirty="0" err="1"/>
              <a:t>funcionou</a:t>
            </a:r>
            <a:r>
              <a:rPr lang="en-US" dirty="0"/>
              <a:t> e o que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melhorado</a:t>
            </a:r>
            <a:endParaRPr lang="en-US" dirty="0"/>
          </a:p>
          <a:p>
            <a:pPr lvl="1" algn="just"/>
            <a:r>
              <a:rPr lang="en-US" dirty="0" err="1"/>
              <a:t>Problemas</a:t>
            </a:r>
            <a:r>
              <a:rPr lang="en-US" dirty="0"/>
              <a:t> e </a:t>
            </a:r>
            <a:r>
              <a:rPr lang="en-US" dirty="0" err="1"/>
              <a:t>medidas</a:t>
            </a:r>
            <a:r>
              <a:rPr lang="en-US" dirty="0"/>
              <a:t> para </a:t>
            </a:r>
            <a:r>
              <a:rPr lang="en-US" dirty="0" err="1"/>
              <a:t>correção</a:t>
            </a:r>
            <a:endParaRPr lang="en-US" dirty="0"/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3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695063"/>
            <a:ext cx="7024744" cy="1143000"/>
          </a:xfrm>
        </p:spPr>
        <p:txBody>
          <a:bodyPr/>
          <a:lstStyle/>
          <a:p>
            <a:r>
              <a:rPr lang="en-US"/>
              <a:t>Referências Bibliográficas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96879"/>
            <a:ext cx="7287792" cy="4025998"/>
          </a:xfrm>
        </p:spPr>
        <p:txBody>
          <a:bodyPr/>
          <a:lstStyle/>
          <a:p>
            <a:pPr lvl="1"/>
            <a:r>
              <a:rPr lang="en-US"/>
              <a:t>Pressman, capítulo 3</a:t>
            </a:r>
          </a:p>
          <a:p>
            <a:pPr lvl="1"/>
            <a:r>
              <a:rPr lang="en-US"/>
              <a:t>Sommerville, capítulo 3</a:t>
            </a:r>
          </a:p>
          <a:p>
            <a:pPr lvl="1"/>
            <a:r>
              <a:rPr lang="en-US"/>
              <a:t>Prikladnicki, capítulo 1 e 3.</a:t>
            </a:r>
          </a:p>
        </p:txBody>
      </p:sp>
    </p:spTree>
    <p:extLst>
      <p:ext uri="{BB962C8B-B14F-4D97-AF65-F5344CB8AC3E}">
        <p14:creationId xmlns:p14="http://schemas.microsoft.com/office/powerpoint/2010/main" val="76693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26190</TotalTime>
  <Words>956</Words>
  <Application>Microsoft Office PowerPoint</Application>
  <PresentationFormat>Apresentação na tela (4:3)</PresentationFormat>
  <Paragraphs>126</Paragraphs>
  <Slides>34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Calibri</vt:lpstr>
      <vt:lpstr>Century Gothic</vt:lpstr>
      <vt:lpstr>Wingdings</vt:lpstr>
      <vt:lpstr>Wingdings 2</vt:lpstr>
      <vt:lpstr>Austin</vt:lpstr>
      <vt:lpstr>Processos (métodos) ágeis</vt:lpstr>
      <vt:lpstr>Processos ágeis</vt:lpstr>
      <vt:lpstr>Processos ágeis</vt:lpstr>
      <vt:lpstr>Manifesto ágil</vt:lpstr>
      <vt:lpstr>Valores para o desenvolvimento de software</vt:lpstr>
      <vt:lpstr>1- Indivíduos e interações sobre processos e ferramentas</vt:lpstr>
      <vt:lpstr>2- Software operacional do que documentação abrangente</vt:lpstr>
      <vt:lpstr>3- Colaboração com o cliente do que negociação contratual</vt:lpstr>
      <vt:lpstr>4- Respostas a mudanças do que aderência a um plano</vt:lpstr>
      <vt:lpstr>Princípios refinados  </vt:lpstr>
      <vt:lpstr>Princípios refinados  </vt:lpstr>
      <vt:lpstr>Princípios refinados  </vt:lpstr>
      <vt:lpstr>Princípios refinados  </vt:lpstr>
      <vt:lpstr>Exemplos de processos ágeis</vt:lpstr>
      <vt:lpstr>SCRUM</vt:lpstr>
      <vt:lpstr>SCRUM</vt:lpstr>
      <vt:lpstr>Características</vt:lpstr>
      <vt:lpstr>Características</vt:lpstr>
      <vt:lpstr>Três papéis</vt:lpstr>
      <vt:lpstr>Três papéis</vt:lpstr>
      <vt:lpstr>Dono do Produto</vt:lpstr>
      <vt:lpstr>Três papéis</vt:lpstr>
      <vt:lpstr>Três artefatos</vt:lpstr>
      <vt:lpstr>1- Backlog do produto</vt:lpstr>
      <vt:lpstr>Histórias do backlog</vt:lpstr>
      <vt:lpstr>2-  Incremento do Produto</vt:lpstr>
      <vt:lpstr>3- Backlog da Sprint</vt:lpstr>
      <vt:lpstr>Quatro cerimônias</vt:lpstr>
      <vt:lpstr>Cerimônias</vt:lpstr>
      <vt:lpstr>1- Reunião de planejamento da Sprint</vt:lpstr>
      <vt:lpstr>2- Reunião diária</vt:lpstr>
      <vt:lpstr>3- Revisão da Sprint</vt:lpstr>
      <vt:lpstr>4- Retrospectiva da Sprint</vt:lpstr>
      <vt:lpstr>Referências Bibliográficas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Avaliador</cp:lastModifiedBy>
  <cp:revision>154</cp:revision>
  <cp:lastPrinted>2021-09-22T01:26:21Z</cp:lastPrinted>
  <dcterms:created xsi:type="dcterms:W3CDTF">2016-02-04T13:02:28Z</dcterms:created>
  <dcterms:modified xsi:type="dcterms:W3CDTF">2021-09-22T02:01:38Z</dcterms:modified>
</cp:coreProperties>
</file>