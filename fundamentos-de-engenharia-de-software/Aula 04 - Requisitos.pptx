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25" r:id="rId1"/>
  </p:sldMasterIdLst>
  <p:notesMasterIdLst>
    <p:notesMasterId r:id="rId38"/>
  </p:notesMasterIdLst>
  <p:sldIdLst>
    <p:sldId id="300" r:id="rId2"/>
    <p:sldId id="312" r:id="rId3"/>
    <p:sldId id="340" r:id="rId4"/>
    <p:sldId id="260" r:id="rId5"/>
    <p:sldId id="301" r:id="rId6"/>
    <p:sldId id="302" r:id="rId7"/>
    <p:sldId id="304" r:id="rId8"/>
    <p:sldId id="305" r:id="rId9"/>
    <p:sldId id="308" r:id="rId10"/>
    <p:sldId id="309" r:id="rId11"/>
    <p:sldId id="310" r:id="rId12"/>
    <p:sldId id="306" r:id="rId13"/>
    <p:sldId id="307" r:id="rId14"/>
    <p:sldId id="335" r:id="rId15"/>
    <p:sldId id="313" r:id="rId16"/>
    <p:sldId id="314" r:id="rId17"/>
    <p:sldId id="315" r:id="rId18"/>
    <p:sldId id="341" r:id="rId19"/>
    <p:sldId id="331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36" r:id="rId31"/>
    <p:sldId id="337" r:id="rId32"/>
    <p:sldId id="338" r:id="rId33"/>
    <p:sldId id="327" r:id="rId34"/>
    <p:sldId id="339" r:id="rId35"/>
    <p:sldId id="329" r:id="rId36"/>
    <p:sldId id="330" r:id="rId37"/>
  </p:sldIdLst>
  <p:sldSz cx="9144000" cy="6858000" type="screen4x3"/>
  <p:notesSz cx="6923088" cy="93853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2857" autoAdjust="0"/>
  </p:normalViewPr>
  <p:slideViewPr>
    <p:cSldViewPr>
      <p:cViewPr>
        <p:scale>
          <a:sx n="86" d="100"/>
          <a:sy n="86" d="100"/>
        </p:scale>
        <p:origin x="936" y="-81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9D9CF7-E03D-4924-BF3B-5A6A13FEF9A6}" type="doc">
      <dgm:prSet loTypeId="urn:microsoft.com/office/officeart/2005/8/layout/funnel1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6B739B9-3063-4E82-B6B2-6EA6E1D48BD5}">
      <dgm:prSet phldrT="[Texto]"/>
      <dgm:spPr/>
      <dgm:t>
        <a:bodyPr/>
        <a:lstStyle/>
        <a:p>
          <a:r>
            <a:rPr lang="pt-BR" smtClean="0"/>
            <a:t>Elicitar</a:t>
          </a:r>
          <a:endParaRPr lang="pt-BR" dirty="0"/>
        </a:p>
      </dgm:t>
    </dgm:pt>
    <dgm:pt modelId="{601A2ACC-DA93-4F9F-B006-0C9C551C761A}" type="parTrans" cxnId="{89FB05CF-1BF5-401D-9632-F043CF5A6B28}">
      <dgm:prSet/>
      <dgm:spPr/>
      <dgm:t>
        <a:bodyPr/>
        <a:lstStyle/>
        <a:p>
          <a:endParaRPr lang="pt-BR"/>
        </a:p>
      </dgm:t>
    </dgm:pt>
    <dgm:pt modelId="{6E7C5BCD-37ED-497C-950D-1061AA5551DC}" type="sibTrans" cxnId="{89FB05CF-1BF5-401D-9632-F043CF5A6B28}">
      <dgm:prSet/>
      <dgm:spPr/>
      <dgm:t>
        <a:bodyPr/>
        <a:lstStyle/>
        <a:p>
          <a:endParaRPr lang="pt-BR"/>
        </a:p>
      </dgm:t>
    </dgm:pt>
    <dgm:pt modelId="{AEA5149E-9611-43D3-B798-A4DC7D158F5F}">
      <dgm:prSet phldrT="[Texto]"/>
      <dgm:spPr/>
      <dgm:t>
        <a:bodyPr/>
        <a:lstStyle/>
        <a:p>
          <a:r>
            <a:rPr lang="pt-BR" dirty="0" smtClean="0"/>
            <a:t>Modelar</a:t>
          </a:r>
          <a:endParaRPr lang="pt-BR" dirty="0"/>
        </a:p>
      </dgm:t>
    </dgm:pt>
    <dgm:pt modelId="{A5B0F29E-2575-42DB-9B7B-46E2FD4BEC47}" type="parTrans" cxnId="{8B1A03E2-1932-4774-BB8B-984CDF9D15C5}">
      <dgm:prSet/>
      <dgm:spPr/>
      <dgm:t>
        <a:bodyPr/>
        <a:lstStyle/>
        <a:p>
          <a:endParaRPr lang="pt-BR"/>
        </a:p>
      </dgm:t>
    </dgm:pt>
    <dgm:pt modelId="{0A95AC73-3F73-48BC-8440-4CD6212D2C0A}" type="sibTrans" cxnId="{8B1A03E2-1932-4774-BB8B-984CDF9D15C5}">
      <dgm:prSet/>
      <dgm:spPr/>
      <dgm:t>
        <a:bodyPr/>
        <a:lstStyle/>
        <a:p>
          <a:endParaRPr lang="pt-BR"/>
        </a:p>
      </dgm:t>
    </dgm:pt>
    <dgm:pt modelId="{78738C74-E677-41C1-BB98-DFE2888145C5}">
      <dgm:prSet phldrT="[Texto]"/>
      <dgm:spPr/>
      <dgm:t>
        <a:bodyPr/>
        <a:lstStyle/>
        <a:p>
          <a:r>
            <a:rPr lang="pt-BR" dirty="0" smtClean="0"/>
            <a:t>Analisar</a:t>
          </a:r>
          <a:endParaRPr lang="pt-BR" dirty="0"/>
        </a:p>
      </dgm:t>
    </dgm:pt>
    <dgm:pt modelId="{2B3467BC-95B3-4109-90F5-EC6CA522FC50}" type="sibTrans" cxnId="{7420D95E-1BFF-4A7E-A170-7AC360FE1407}">
      <dgm:prSet/>
      <dgm:spPr/>
      <dgm:t>
        <a:bodyPr/>
        <a:lstStyle/>
        <a:p>
          <a:endParaRPr lang="pt-BR"/>
        </a:p>
      </dgm:t>
    </dgm:pt>
    <dgm:pt modelId="{9DFDE194-AAF8-442B-BC88-1807EBC743B8}" type="parTrans" cxnId="{7420D95E-1BFF-4A7E-A170-7AC360FE1407}">
      <dgm:prSet/>
      <dgm:spPr/>
      <dgm:t>
        <a:bodyPr/>
        <a:lstStyle/>
        <a:p>
          <a:endParaRPr lang="pt-BR"/>
        </a:p>
      </dgm:t>
    </dgm:pt>
    <dgm:pt modelId="{DABA7BFF-A524-4FAC-A34F-0D9E4E24D17A}">
      <dgm:prSet phldrT="[Texto]"/>
      <dgm:spPr/>
      <dgm:t>
        <a:bodyPr/>
        <a:lstStyle/>
        <a:p>
          <a:r>
            <a:rPr lang="pt-BR" dirty="0" smtClean="0"/>
            <a:t>Documento de Requisitos</a:t>
          </a:r>
          <a:endParaRPr lang="pt-BR" dirty="0"/>
        </a:p>
      </dgm:t>
    </dgm:pt>
    <dgm:pt modelId="{A44011A5-D618-4FF3-B244-55995EBA1DA0}" type="parTrans" cxnId="{24A91756-0F7B-48F8-BE08-0459EF347D93}">
      <dgm:prSet/>
      <dgm:spPr/>
      <dgm:t>
        <a:bodyPr/>
        <a:lstStyle/>
        <a:p>
          <a:endParaRPr lang="pt-BR"/>
        </a:p>
      </dgm:t>
    </dgm:pt>
    <dgm:pt modelId="{4D4A6760-7163-4C8D-9F68-9BA182770023}" type="sibTrans" cxnId="{24A91756-0F7B-48F8-BE08-0459EF347D93}">
      <dgm:prSet/>
      <dgm:spPr/>
      <dgm:t>
        <a:bodyPr/>
        <a:lstStyle/>
        <a:p>
          <a:endParaRPr lang="pt-BR"/>
        </a:p>
      </dgm:t>
    </dgm:pt>
    <dgm:pt modelId="{6A2631D5-B8ED-4260-BAEA-EA2FA3EAC4F7}" type="pres">
      <dgm:prSet presAssocID="{569D9CF7-E03D-4924-BF3B-5A6A13FEF9A6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56A8FF5-94FE-401C-9EBD-66F55E00B400}" type="pres">
      <dgm:prSet presAssocID="{569D9CF7-E03D-4924-BF3B-5A6A13FEF9A6}" presName="ellipse" presStyleLbl="trBgShp" presStyleIdx="0" presStyleCnt="1"/>
      <dgm:spPr/>
    </dgm:pt>
    <dgm:pt modelId="{E4BB7E9E-C63B-4BCD-91BF-42F08484656B}" type="pres">
      <dgm:prSet presAssocID="{569D9CF7-E03D-4924-BF3B-5A6A13FEF9A6}" presName="arrow1" presStyleLbl="fgShp" presStyleIdx="0" presStyleCnt="1"/>
      <dgm:spPr/>
    </dgm:pt>
    <dgm:pt modelId="{5AB6D0EA-1045-450F-96E9-DD29720EAB56}" type="pres">
      <dgm:prSet presAssocID="{569D9CF7-E03D-4924-BF3B-5A6A13FEF9A6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C743D3E-696A-444C-B52F-D02A709722A0}" type="pres">
      <dgm:prSet presAssocID="{78738C74-E677-41C1-BB98-DFE2888145C5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05E06E3-E9C1-49C3-B8AD-232614CBECDC}" type="pres">
      <dgm:prSet presAssocID="{AEA5149E-9611-43D3-B798-A4DC7D158F5F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5B41E7F-E03B-4327-A640-C5EE8236C083}" type="pres">
      <dgm:prSet presAssocID="{DABA7BFF-A524-4FAC-A34F-0D9E4E24D17A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E83E4F0-0993-464B-9440-B01D68B28D64}" type="pres">
      <dgm:prSet presAssocID="{569D9CF7-E03D-4924-BF3B-5A6A13FEF9A6}" presName="funnel" presStyleLbl="trAlignAcc1" presStyleIdx="0" presStyleCnt="1"/>
      <dgm:spPr/>
    </dgm:pt>
  </dgm:ptLst>
  <dgm:cxnLst>
    <dgm:cxn modelId="{C3F615BC-A636-4327-B681-23BA56AAF23A}" type="presOf" srcId="{06B739B9-3063-4E82-B6B2-6EA6E1D48BD5}" destId="{F5B41E7F-E03B-4327-A640-C5EE8236C083}" srcOrd="0" destOrd="0" presId="urn:microsoft.com/office/officeart/2005/8/layout/funnel1"/>
    <dgm:cxn modelId="{A4E40F3A-0191-49E6-9834-493B30361F5B}" type="presOf" srcId="{78738C74-E677-41C1-BB98-DFE2888145C5}" destId="{405E06E3-E9C1-49C3-B8AD-232614CBECDC}" srcOrd="0" destOrd="0" presId="urn:microsoft.com/office/officeart/2005/8/layout/funnel1"/>
    <dgm:cxn modelId="{89FB05CF-1BF5-401D-9632-F043CF5A6B28}" srcId="{569D9CF7-E03D-4924-BF3B-5A6A13FEF9A6}" destId="{06B739B9-3063-4E82-B6B2-6EA6E1D48BD5}" srcOrd="0" destOrd="0" parTransId="{601A2ACC-DA93-4F9F-B006-0C9C551C761A}" sibTransId="{6E7C5BCD-37ED-497C-950D-1061AA5551DC}"/>
    <dgm:cxn modelId="{7420D95E-1BFF-4A7E-A170-7AC360FE1407}" srcId="{569D9CF7-E03D-4924-BF3B-5A6A13FEF9A6}" destId="{78738C74-E677-41C1-BB98-DFE2888145C5}" srcOrd="1" destOrd="0" parTransId="{9DFDE194-AAF8-442B-BC88-1807EBC743B8}" sibTransId="{2B3467BC-95B3-4109-90F5-EC6CA522FC50}"/>
    <dgm:cxn modelId="{8B1A03E2-1932-4774-BB8B-984CDF9D15C5}" srcId="{569D9CF7-E03D-4924-BF3B-5A6A13FEF9A6}" destId="{AEA5149E-9611-43D3-B798-A4DC7D158F5F}" srcOrd="2" destOrd="0" parTransId="{A5B0F29E-2575-42DB-9B7B-46E2FD4BEC47}" sibTransId="{0A95AC73-3F73-48BC-8440-4CD6212D2C0A}"/>
    <dgm:cxn modelId="{D24315C1-4C4F-4688-9301-816DD4EAE5C9}" type="presOf" srcId="{AEA5149E-9611-43D3-B798-A4DC7D158F5F}" destId="{FC743D3E-696A-444C-B52F-D02A709722A0}" srcOrd="0" destOrd="0" presId="urn:microsoft.com/office/officeart/2005/8/layout/funnel1"/>
    <dgm:cxn modelId="{C8512936-A581-4D0D-B08C-3097BBDE1A0A}" type="presOf" srcId="{569D9CF7-E03D-4924-BF3B-5A6A13FEF9A6}" destId="{6A2631D5-B8ED-4260-BAEA-EA2FA3EAC4F7}" srcOrd="0" destOrd="0" presId="urn:microsoft.com/office/officeart/2005/8/layout/funnel1"/>
    <dgm:cxn modelId="{9634EAC8-0A4B-4B26-AD10-9BA9DCC71646}" type="presOf" srcId="{DABA7BFF-A524-4FAC-A34F-0D9E4E24D17A}" destId="{5AB6D0EA-1045-450F-96E9-DD29720EAB56}" srcOrd="0" destOrd="0" presId="urn:microsoft.com/office/officeart/2005/8/layout/funnel1"/>
    <dgm:cxn modelId="{24A91756-0F7B-48F8-BE08-0459EF347D93}" srcId="{569D9CF7-E03D-4924-BF3B-5A6A13FEF9A6}" destId="{DABA7BFF-A524-4FAC-A34F-0D9E4E24D17A}" srcOrd="3" destOrd="0" parTransId="{A44011A5-D618-4FF3-B244-55995EBA1DA0}" sibTransId="{4D4A6760-7163-4C8D-9F68-9BA182770023}"/>
    <dgm:cxn modelId="{E59CDD0E-9B0C-4378-A134-1A90D5B9A13F}" type="presParOf" srcId="{6A2631D5-B8ED-4260-BAEA-EA2FA3EAC4F7}" destId="{C56A8FF5-94FE-401C-9EBD-66F55E00B400}" srcOrd="0" destOrd="0" presId="urn:microsoft.com/office/officeart/2005/8/layout/funnel1"/>
    <dgm:cxn modelId="{8E38FD61-44F2-4037-A48D-D278BC4B9D5D}" type="presParOf" srcId="{6A2631D5-B8ED-4260-BAEA-EA2FA3EAC4F7}" destId="{E4BB7E9E-C63B-4BCD-91BF-42F08484656B}" srcOrd="1" destOrd="0" presId="urn:microsoft.com/office/officeart/2005/8/layout/funnel1"/>
    <dgm:cxn modelId="{4B6A783B-9AB0-42D2-ABED-8221544749ED}" type="presParOf" srcId="{6A2631D5-B8ED-4260-BAEA-EA2FA3EAC4F7}" destId="{5AB6D0EA-1045-450F-96E9-DD29720EAB56}" srcOrd="2" destOrd="0" presId="urn:microsoft.com/office/officeart/2005/8/layout/funnel1"/>
    <dgm:cxn modelId="{5803E666-7FB1-4BAF-8D1F-3E18D717B305}" type="presParOf" srcId="{6A2631D5-B8ED-4260-BAEA-EA2FA3EAC4F7}" destId="{FC743D3E-696A-444C-B52F-D02A709722A0}" srcOrd="3" destOrd="0" presId="urn:microsoft.com/office/officeart/2005/8/layout/funnel1"/>
    <dgm:cxn modelId="{E32E7159-DD59-41FC-AF2B-121852A038BD}" type="presParOf" srcId="{6A2631D5-B8ED-4260-BAEA-EA2FA3EAC4F7}" destId="{405E06E3-E9C1-49C3-B8AD-232614CBECDC}" srcOrd="4" destOrd="0" presId="urn:microsoft.com/office/officeart/2005/8/layout/funnel1"/>
    <dgm:cxn modelId="{82439132-F516-460C-B225-99E25BE863A4}" type="presParOf" srcId="{6A2631D5-B8ED-4260-BAEA-EA2FA3EAC4F7}" destId="{F5B41E7F-E03B-4327-A640-C5EE8236C083}" srcOrd="5" destOrd="0" presId="urn:microsoft.com/office/officeart/2005/8/layout/funnel1"/>
    <dgm:cxn modelId="{7F1D133F-FB49-4CE6-A51D-7F27CF7A4ED5}" type="presParOf" srcId="{6A2631D5-B8ED-4260-BAEA-EA2FA3EAC4F7}" destId="{9E83E4F0-0993-464B-9440-B01D68B28D64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E996F6-71B7-4A5C-9DC2-1BCB64FFBEF1}" type="doc">
      <dgm:prSet loTypeId="urn:microsoft.com/office/officeart/2005/8/layout/vList6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012CE38B-DC6E-4C0E-BB84-8D399EFDBB09}">
      <dgm:prSet phldrT="[Texto]" custT="1"/>
      <dgm:spPr/>
      <dgm:t>
        <a:bodyPr/>
        <a:lstStyle/>
        <a:p>
          <a:pPr algn="l"/>
          <a:r>
            <a:rPr lang="pt-BR" sz="1600" b="1" dirty="0" smtClean="0"/>
            <a:t>1 – Concepção</a:t>
          </a:r>
          <a:endParaRPr lang="pt-BR" sz="1600" b="1" dirty="0"/>
        </a:p>
      </dgm:t>
    </dgm:pt>
    <dgm:pt modelId="{4997DB2B-A646-4BE4-9ED5-9526AFAE9921}" type="parTrans" cxnId="{11898A86-97B3-492E-B188-6F4E269F0F25}">
      <dgm:prSet/>
      <dgm:spPr/>
      <dgm:t>
        <a:bodyPr/>
        <a:lstStyle/>
        <a:p>
          <a:pPr algn="l"/>
          <a:endParaRPr lang="pt-BR" sz="1600" b="1"/>
        </a:p>
      </dgm:t>
    </dgm:pt>
    <dgm:pt modelId="{8E0124F3-3D84-4DAB-9A4A-933A09300D0E}" type="sibTrans" cxnId="{11898A86-97B3-492E-B188-6F4E269F0F25}">
      <dgm:prSet/>
      <dgm:spPr/>
      <dgm:t>
        <a:bodyPr/>
        <a:lstStyle/>
        <a:p>
          <a:pPr algn="l"/>
          <a:endParaRPr lang="pt-BR" sz="1600" b="1"/>
        </a:p>
      </dgm:t>
    </dgm:pt>
    <dgm:pt modelId="{5D0A9EC9-A3FA-4380-B02C-CC46B1E5997E}">
      <dgm:prSet phldrT="[Texto]" custT="1"/>
      <dgm:spPr/>
      <dgm:t>
        <a:bodyPr/>
        <a:lstStyle/>
        <a:p>
          <a:pPr algn="l"/>
          <a:r>
            <a:rPr lang="pt-BR" sz="1600" b="1" dirty="0" smtClean="0"/>
            <a:t>3 – Elaboração</a:t>
          </a:r>
          <a:endParaRPr lang="pt-BR" sz="1600" b="1" dirty="0"/>
        </a:p>
      </dgm:t>
    </dgm:pt>
    <dgm:pt modelId="{6FD3814B-9D50-4856-8814-47F6CC74B14B}" type="parTrans" cxnId="{D1FF5CB7-F4DC-4654-B9DF-E262A10AC987}">
      <dgm:prSet/>
      <dgm:spPr/>
      <dgm:t>
        <a:bodyPr/>
        <a:lstStyle/>
        <a:p>
          <a:pPr algn="l"/>
          <a:endParaRPr lang="pt-BR" sz="1600" b="1"/>
        </a:p>
      </dgm:t>
    </dgm:pt>
    <dgm:pt modelId="{59E1C777-919F-4257-BEFD-48D1F751DF41}" type="sibTrans" cxnId="{D1FF5CB7-F4DC-4654-B9DF-E262A10AC987}">
      <dgm:prSet/>
      <dgm:spPr/>
      <dgm:t>
        <a:bodyPr/>
        <a:lstStyle/>
        <a:p>
          <a:pPr algn="l"/>
          <a:endParaRPr lang="pt-BR" sz="1600" b="1"/>
        </a:p>
      </dgm:t>
    </dgm:pt>
    <dgm:pt modelId="{A033AF81-DDF7-4AA1-BFAB-98503DEA9222}">
      <dgm:prSet phldrT="[Texto]" custT="1"/>
      <dgm:spPr/>
      <dgm:t>
        <a:bodyPr/>
        <a:lstStyle/>
        <a:p>
          <a:pPr algn="l"/>
          <a:r>
            <a:rPr lang="pt-BR" sz="1600" b="1" dirty="0" smtClean="0"/>
            <a:t>4 - Negociação </a:t>
          </a:r>
          <a:endParaRPr lang="pt-BR" sz="1600" b="1" dirty="0"/>
        </a:p>
      </dgm:t>
    </dgm:pt>
    <dgm:pt modelId="{2B47FF69-6AA5-4716-8ABA-B1143E628004}" type="parTrans" cxnId="{8C122421-0F74-4E3C-8BBE-0029B7698E14}">
      <dgm:prSet/>
      <dgm:spPr/>
      <dgm:t>
        <a:bodyPr/>
        <a:lstStyle/>
        <a:p>
          <a:pPr algn="l"/>
          <a:endParaRPr lang="pt-BR" sz="1600" b="1"/>
        </a:p>
      </dgm:t>
    </dgm:pt>
    <dgm:pt modelId="{172B139A-3C38-48A2-AEA3-EF47669C7AFA}" type="sibTrans" cxnId="{8C122421-0F74-4E3C-8BBE-0029B7698E14}">
      <dgm:prSet/>
      <dgm:spPr/>
      <dgm:t>
        <a:bodyPr/>
        <a:lstStyle/>
        <a:p>
          <a:pPr algn="l"/>
          <a:endParaRPr lang="pt-BR" sz="1600" b="1"/>
        </a:p>
      </dgm:t>
    </dgm:pt>
    <dgm:pt modelId="{2D9859A7-FDF0-484C-B993-883489B1E009}">
      <dgm:prSet phldrT="[Texto]" custT="1"/>
      <dgm:spPr/>
      <dgm:t>
        <a:bodyPr/>
        <a:lstStyle/>
        <a:p>
          <a:pPr algn="l"/>
          <a:r>
            <a:rPr lang="pt-BR" sz="1600" b="1" dirty="0" smtClean="0"/>
            <a:t>5 - Especificação </a:t>
          </a:r>
          <a:endParaRPr lang="pt-BR" sz="1600" b="1" dirty="0"/>
        </a:p>
      </dgm:t>
    </dgm:pt>
    <dgm:pt modelId="{4D2271C6-0829-4D91-9264-134974D8A7DC}" type="parTrans" cxnId="{D61274FD-50BC-450C-B299-3C8D3352E685}">
      <dgm:prSet/>
      <dgm:spPr/>
      <dgm:t>
        <a:bodyPr/>
        <a:lstStyle/>
        <a:p>
          <a:pPr algn="l"/>
          <a:endParaRPr lang="pt-BR" sz="1600" b="1"/>
        </a:p>
      </dgm:t>
    </dgm:pt>
    <dgm:pt modelId="{B8AFC14D-6625-4FE2-9981-448FBC175FB8}" type="sibTrans" cxnId="{D61274FD-50BC-450C-B299-3C8D3352E685}">
      <dgm:prSet/>
      <dgm:spPr/>
      <dgm:t>
        <a:bodyPr/>
        <a:lstStyle/>
        <a:p>
          <a:pPr algn="l"/>
          <a:endParaRPr lang="pt-BR" sz="1600" b="1"/>
        </a:p>
      </dgm:t>
    </dgm:pt>
    <dgm:pt modelId="{DBE8A71E-F5F2-4480-B686-8DECA157CFFF}">
      <dgm:prSet custT="1"/>
      <dgm:spPr/>
      <dgm:t>
        <a:bodyPr/>
        <a:lstStyle/>
        <a:p>
          <a:pPr algn="l"/>
          <a:r>
            <a:rPr lang="pt-BR" sz="1600" b="1" dirty="0" smtClean="0"/>
            <a:t>6 - Validação </a:t>
          </a:r>
          <a:endParaRPr lang="pt-BR" sz="1600" b="1" dirty="0"/>
        </a:p>
      </dgm:t>
    </dgm:pt>
    <dgm:pt modelId="{13CA11D4-D840-42D5-8704-7FA5DF604DBB}" type="parTrans" cxnId="{9AE973D8-7670-4637-9785-D922A26F2701}">
      <dgm:prSet/>
      <dgm:spPr/>
      <dgm:t>
        <a:bodyPr/>
        <a:lstStyle/>
        <a:p>
          <a:pPr algn="l"/>
          <a:endParaRPr lang="pt-BR" sz="1600" b="1"/>
        </a:p>
      </dgm:t>
    </dgm:pt>
    <dgm:pt modelId="{1BA0C9DF-E8DB-43CB-805F-CDEA22166F1A}" type="sibTrans" cxnId="{9AE973D8-7670-4637-9785-D922A26F2701}">
      <dgm:prSet/>
      <dgm:spPr/>
      <dgm:t>
        <a:bodyPr/>
        <a:lstStyle/>
        <a:p>
          <a:pPr algn="l"/>
          <a:endParaRPr lang="pt-BR" sz="1600" b="1"/>
        </a:p>
      </dgm:t>
    </dgm:pt>
    <dgm:pt modelId="{488CADA9-9E47-4761-B284-056E83241BE0}">
      <dgm:prSet custT="1"/>
      <dgm:spPr/>
      <dgm:t>
        <a:bodyPr/>
        <a:lstStyle/>
        <a:p>
          <a:pPr algn="l"/>
          <a:r>
            <a:rPr lang="pt-BR" sz="1600" b="1" dirty="0" smtClean="0"/>
            <a:t>7 - Gestão </a:t>
          </a:r>
        </a:p>
      </dgm:t>
    </dgm:pt>
    <dgm:pt modelId="{6388BB86-DD63-47F4-8D2F-9D2CA9D8AB45}" type="parTrans" cxnId="{41145791-8B99-44FB-AE79-75EDA9D5EB79}">
      <dgm:prSet/>
      <dgm:spPr/>
      <dgm:t>
        <a:bodyPr/>
        <a:lstStyle/>
        <a:p>
          <a:pPr algn="l"/>
          <a:endParaRPr lang="pt-BR" sz="1600" b="1"/>
        </a:p>
      </dgm:t>
    </dgm:pt>
    <dgm:pt modelId="{F1993D13-2D7E-4B8D-8B20-7D1DA0FE3937}" type="sibTrans" cxnId="{41145791-8B99-44FB-AE79-75EDA9D5EB79}">
      <dgm:prSet/>
      <dgm:spPr/>
      <dgm:t>
        <a:bodyPr/>
        <a:lstStyle/>
        <a:p>
          <a:pPr algn="l"/>
          <a:endParaRPr lang="pt-BR" sz="1600" b="1"/>
        </a:p>
      </dgm:t>
    </dgm:pt>
    <dgm:pt modelId="{AA7DF1CE-E84B-4C73-AE4D-30E6E570C7A4}">
      <dgm:prSet phldrT="[Texto]" custT="1"/>
      <dgm:spPr/>
      <dgm:t>
        <a:bodyPr/>
        <a:lstStyle/>
        <a:p>
          <a:pPr algn="l"/>
          <a:r>
            <a:rPr lang="pt-BR" sz="1600" b="1" dirty="0" smtClean="0"/>
            <a:t>2 – Levantamento</a:t>
          </a:r>
          <a:endParaRPr lang="pt-BR" sz="1600" b="1" dirty="0"/>
        </a:p>
      </dgm:t>
    </dgm:pt>
    <dgm:pt modelId="{8BE606DE-1FEA-4ACE-8905-2B41C216386D}" type="parTrans" cxnId="{F32C0DA7-5ECF-4695-8732-F9BAE69B8B23}">
      <dgm:prSet/>
      <dgm:spPr/>
      <dgm:t>
        <a:bodyPr/>
        <a:lstStyle/>
        <a:p>
          <a:pPr algn="l"/>
          <a:endParaRPr lang="pt-BR" sz="1600" b="1"/>
        </a:p>
      </dgm:t>
    </dgm:pt>
    <dgm:pt modelId="{C708E85E-869D-46E8-8964-822F9DEA2FBB}" type="sibTrans" cxnId="{F32C0DA7-5ECF-4695-8732-F9BAE69B8B23}">
      <dgm:prSet/>
      <dgm:spPr/>
      <dgm:t>
        <a:bodyPr/>
        <a:lstStyle/>
        <a:p>
          <a:pPr algn="l"/>
          <a:endParaRPr lang="pt-BR" sz="1600" b="1"/>
        </a:p>
      </dgm:t>
    </dgm:pt>
    <dgm:pt modelId="{33C47E88-5023-485E-83C4-BC2FA75998F6}">
      <dgm:prSet phldrT="[Texto]" custT="1"/>
      <dgm:spPr/>
      <dgm:t>
        <a:bodyPr/>
        <a:lstStyle/>
        <a:p>
          <a:pPr algn="l"/>
          <a:r>
            <a:rPr lang="pt-BR" sz="1600" b="1" i="0" dirty="0" smtClean="0"/>
            <a:t>Define o escopo e a natureza do problema a ser resolvido</a:t>
          </a:r>
          <a:endParaRPr lang="pt-BR" sz="1600" b="1" dirty="0"/>
        </a:p>
      </dgm:t>
    </dgm:pt>
    <dgm:pt modelId="{8EAA361F-F875-48CC-AC28-30B75EF2803C}" type="parTrans" cxnId="{4E283F49-F15E-4DC2-9FBE-4680CDB125A6}">
      <dgm:prSet/>
      <dgm:spPr/>
      <dgm:t>
        <a:bodyPr/>
        <a:lstStyle/>
        <a:p>
          <a:pPr algn="l"/>
          <a:endParaRPr lang="pt-BR" sz="1600" b="1"/>
        </a:p>
      </dgm:t>
    </dgm:pt>
    <dgm:pt modelId="{609D0334-CEC1-49B6-86C0-EEDDE52E98FD}" type="sibTrans" cxnId="{4E283F49-F15E-4DC2-9FBE-4680CDB125A6}">
      <dgm:prSet/>
      <dgm:spPr/>
      <dgm:t>
        <a:bodyPr/>
        <a:lstStyle/>
        <a:p>
          <a:pPr algn="l"/>
          <a:endParaRPr lang="pt-BR" sz="1600" b="1"/>
        </a:p>
      </dgm:t>
    </dgm:pt>
    <dgm:pt modelId="{4B950C95-42C1-48E1-9EEC-568150622265}">
      <dgm:prSet phldrT="[Texto]" custT="1"/>
      <dgm:spPr/>
      <dgm:t>
        <a:bodyPr/>
        <a:lstStyle/>
        <a:p>
          <a:pPr algn="l"/>
          <a:r>
            <a:rPr lang="pt-BR" sz="1600" b="1" i="0" dirty="0" smtClean="0"/>
            <a:t>Ajuda o cliente a definir o que é necessário</a:t>
          </a:r>
          <a:endParaRPr lang="pt-BR" sz="1600" b="1" dirty="0"/>
        </a:p>
      </dgm:t>
    </dgm:pt>
    <dgm:pt modelId="{2F690CC9-0A5B-45E2-9174-437155B28AC6}" type="parTrans" cxnId="{9DD74C3E-C549-4443-BD5C-9A2F7F4361E4}">
      <dgm:prSet/>
      <dgm:spPr/>
      <dgm:t>
        <a:bodyPr/>
        <a:lstStyle/>
        <a:p>
          <a:pPr algn="l"/>
          <a:endParaRPr lang="pt-BR" sz="1600" b="1"/>
        </a:p>
      </dgm:t>
    </dgm:pt>
    <dgm:pt modelId="{520D9F0D-7446-44E6-ACDD-E865DE91EBA5}" type="sibTrans" cxnId="{9DD74C3E-C549-4443-BD5C-9A2F7F4361E4}">
      <dgm:prSet/>
      <dgm:spPr/>
      <dgm:t>
        <a:bodyPr/>
        <a:lstStyle/>
        <a:p>
          <a:pPr algn="l"/>
          <a:endParaRPr lang="pt-BR" sz="1600" b="1"/>
        </a:p>
      </dgm:t>
    </dgm:pt>
    <dgm:pt modelId="{358FB5FC-EEEF-4933-82C0-94A0603B974D}">
      <dgm:prSet phldrT="[Texto]" custT="1"/>
      <dgm:spPr/>
      <dgm:t>
        <a:bodyPr/>
        <a:lstStyle/>
        <a:p>
          <a:pPr algn="l"/>
          <a:r>
            <a:rPr lang="pt-BR" sz="1600" b="1" i="0" dirty="0" smtClean="0"/>
            <a:t>Refina e modifica os requisitos básicos</a:t>
          </a:r>
          <a:endParaRPr lang="pt-BR" sz="1600" b="1" dirty="0"/>
        </a:p>
      </dgm:t>
    </dgm:pt>
    <dgm:pt modelId="{EF0F07D8-04EE-4AFE-8F74-36D12D12B66F}" type="parTrans" cxnId="{BDF27460-B7ED-4F76-AC28-69E1AEAA15FB}">
      <dgm:prSet/>
      <dgm:spPr/>
      <dgm:t>
        <a:bodyPr/>
        <a:lstStyle/>
        <a:p>
          <a:pPr algn="l"/>
          <a:endParaRPr lang="pt-BR" sz="1600" b="1"/>
        </a:p>
      </dgm:t>
    </dgm:pt>
    <dgm:pt modelId="{70B5153D-6F93-43B1-9214-65E396EACC8F}" type="sibTrans" cxnId="{BDF27460-B7ED-4F76-AC28-69E1AEAA15FB}">
      <dgm:prSet/>
      <dgm:spPr/>
      <dgm:t>
        <a:bodyPr/>
        <a:lstStyle/>
        <a:p>
          <a:pPr algn="l"/>
          <a:endParaRPr lang="pt-BR" sz="1600" b="1"/>
        </a:p>
      </dgm:t>
    </dgm:pt>
    <dgm:pt modelId="{F38925F8-F24F-45CB-A037-C47D01AEA684}">
      <dgm:prSet phldrT="[Texto]" custT="1"/>
      <dgm:spPr/>
      <dgm:t>
        <a:bodyPr/>
        <a:lstStyle/>
        <a:p>
          <a:pPr algn="l"/>
          <a:r>
            <a:rPr lang="pt-BR" sz="1600" b="1" i="0" dirty="0" smtClean="0"/>
            <a:t>Verifica a prioridade, aspectos essenciais, entre outros</a:t>
          </a:r>
          <a:endParaRPr lang="pt-BR" sz="1600" b="1" dirty="0"/>
        </a:p>
      </dgm:t>
    </dgm:pt>
    <dgm:pt modelId="{CB2B679F-9914-4B47-A3EA-49E1C1E9F987}" type="parTrans" cxnId="{9D9CF559-876C-418E-A6EB-1F48A7F7DD64}">
      <dgm:prSet/>
      <dgm:spPr/>
      <dgm:t>
        <a:bodyPr/>
        <a:lstStyle/>
        <a:p>
          <a:pPr algn="l"/>
          <a:endParaRPr lang="pt-BR" sz="1600" b="1"/>
        </a:p>
      </dgm:t>
    </dgm:pt>
    <dgm:pt modelId="{6EC2B40C-589D-49F4-80B9-23A112270753}" type="sibTrans" cxnId="{9D9CF559-876C-418E-A6EB-1F48A7F7DD64}">
      <dgm:prSet/>
      <dgm:spPr/>
      <dgm:t>
        <a:bodyPr/>
        <a:lstStyle/>
        <a:p>
          <a:pPr algn="l"/>
          <a:endParaRPr lang="pt-BR" sz="1600" b="1"/>
        </a:p>
      </dgm:t>
    </dgm:pt>
    <dgm:pt modelId="{D00895BE-349F-4E0C-ADB0-B863F06C6DBF}">
      <dgm:prSet phldrT="[Texto]" custT="1"/>
      <dgm:spPr/>
      <dgm:t>
        <a:bodyPr/>
        <a:lstStyle/>
        <a:p>
          <a:pPr algn="l"/>
          <a:r>
            <a:rPr lang="pt-BR" sz="1600" b="1" i="0" dirty="0" smtClean="0"/>
            <a:t>Documenta o problema</a:t>
          </a:r>
          <a:endParaRPr lang="pt-BR" sz="1600" b="1" dirty="0"/>
        </a:p>
      </dgm:t>
    </dgm:pt>
    <dgm:pt modelId="{EC3CDA4A-B4D7-4202-A265-CD9B4A4975C1}" type="parTrans" cxnId="{209751DC-D86A-4FC4-B54B-5A710F089BDE}">
      <dgm:prSet/>
      <dgm:spPr/>
      <dgm:t>
        <a:bodyPr/>
        <a:lstStyle/>
        <a:p>
          <a:pPr algn="l"/>
          <a:endParaRPr lang="pt-BR" sz="1600" b="1"/>
        </a:p>
      </dgm:t>
    </dgm:pt>
    <dgm:pt modelId="{9059B20F-FC98-4D29-94D8-3531FD5CA833}" type="sibTrans" cxnId="{209751DC-D86A-4FC4-B54B-5A710F089BDE}">
      <dgm:prSet/>
      <dgm:spPr/>
      <dgm:t>
        <a:bodyPr/>
        <a:lstStyle/>
        <a:p>
          <a:pPr algn="l"/>
          <a:endParaRPr lang="pt-BR" sz="1600" b="1"/>
        </a:p>
      </dgm:t>
    </dgm:pt>
    <dgm:pt modelId="{53EBD736-6A1D-45C6-A9C9-59D6D75E3AA8}">
      <dgm:prSet custT="1"/>
      <dgm:spPr/>
      <dgm:t>
        <a:bodyPr/>
        <a:lstStyle/>
        <a:p>
          <a:pPr algn="l"/>
          <a:r>
            <a:rPr lang="pt-BR" sz="1600" b="1" i="0" dirty="0" smtClean="0"/>
            <a:t>C</a:t>
          </a:r>
          <a:r>
            <a:rPr lang="pt-BR" sz="1600" b="1" dirty="0" smtClean="0"/>
            <a:t>ontrolar e rastrear requisitos </a:t>
          </a:r>
        </a:p>
      </dgm:t>
    </dgm:pt>
    <dgm:pt modelId="{B998EBA0-78D2-425D-9152-083D15921137}" type="parTrans" cxnId="{F3575BD3-A960-4316-AB80-FDE74F250AFF}">
      <dgm:prSet/>
      <dgm:spPr/>
      <dgm:t>
        <a:bodyPr/>
        <a:lstStyle/>
        <a:p>
          <a:pPr algn="l"/>
          <a:endParaRPr lang="pt-BR" sz="1600" b="1"/>
        </a:p>
      </dgm:t>
    </dgm:pt>
    <dgm:pt modelId="{0AD142BD-681F-40C5-B49E-DE09337B38A3}" type="sibTrans" cxnId="{F3575BD3-A960-4316-AB80-FDE74F250AFF}">
      <dgm:prSet/>
      <dgm:spPr/>
      <dgm:t>
        <a:bodyPr/>
        <a:lstStyle/>
        <a:p>
          <a:pPr algn="l"/>
          <a:endParaRPr lang="pt-BR" sz="1600" b="1"/>
        </a:p>
      </dgm:t>
    </dgm:pt>
    <dgm:pt modelId="{1EE04C4B-0BD5-47CE-826F-E60AEE5F866F}">
      <dgm:prSet custT="1"/>
      <dgm:spPr/>
      <dgm:t>
        <a:bodyPr/>
        <a:lstStyle/>
        <a:p>
          <a:r>
            <a:rPr lang="pt-BR" sz="1600" b="1" i="0" dirty="0" smtClean="0"/>
            <a:t>Avalia  a qualidade da documentação</a:t>
          </a:r>
        </a:p>
      </dgm:t>
    </dgm:pt>
    <dgm:pt modelId="{FD931D84-4706-4AC2-B4FC-19E13E57292A}" type="parTrans" cxnId="{91B183BD-F10A-4C1C-A7C9-3FBC13805F57}">
      <dgm:prSet/>
      <dgm:spPr/>
      <dgm:t>
        <a:bodyPr/>
        <a:lstStyle/>
        <a:p>
          <a:endParaRPr lang="pt-BR" b="1"/>
        </a:p>
      </dgm:t>
    </dgm:pt>
    <dgm:pt modelId="{2F2A7554-074D-4BE7-A008-9E1D84EFFD62}" type="sibTrans" cxnId="{91B183BD-F10A-4C1C-A7C9-3FBC13805F57}">
      <dgm:prSet/>
      <dgm:spPr/>
      <dgm:t>
        <a:bodyPr/>
        <a:lstStyle/>
        <a:p>
          <a:endParaRPr lang="pt-BR" b="1"/>
        </a:p>
      </dgm:t>
    </dgm:pt>
    <dgm:pt modelId="{DA2C72DA-19C5-4294-B14D-F380CB0EEE4A}" type="pres">
      <dgm:prSet presAssocID="{CCE996F6-71B7-4A5C-9DC2-1BCB64FFBEF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6C9C5E8D-EC60-49F3-B4B7-99DB1B456A7D}" type="pres">
      <dgm:prSet presAssocID="{012CE38B-DC6E-4C0E-BB84-8D399EFDBB09}" presName="linNode" presStyleCnt="0"/>
      <dgm:spPr/>
    </dgm:pt>
    <dgm:pt modelId="{953AD587-CC84-47D5-9417-E7DB35CA2035}" type="pres">
      <dgm:prSet presAssocID="{012CE38B-DC6E-4C0E-BB84-8D399EFDBB09}" presName="parentShp" presStyleLbl="node1" presStyleIdx="0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E82440D-ABF1-4B7F-9266-3992892CBB61}" type="pres">
      <dgm:prSet presAssocID="{012CE38B-DC6E-4C0E-BB84-8D399EFDBB09}" presName="childShp" presStyleLbl="bgAccFollowNode1" presStyleIdx="0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0721CEE-0A3C-4DAD-85BF-0165D15C9515}" type="pres">
      <dgm:prSet presAssocID="{8E0124F3-3D84-4DAB-9A4A-933A09300D0E}" presName="spacing" presStyleCnt="0"/>
      <dgm:spPr/>
    </dgm:pt>
    <dgm:pt modelId="{02393232-5582-4DB0-B241-CFA05E9A4712}" type="pres">
      <dgm:prSet presAssocID="{AA7DF1CE-E84B-4C73-AE4D-30E6E570C7A4}" presName="linNode" presStyleCnt="0"/>
      <dgm:spPr/>
    </dgm:pt>
    <dgm:pt modelId="{7B801A70-720D-45B4-94C3-1FD0836CAB77}" type="pres">
      <dgm:prSet presAssocID="{AA7DF1CE-E84B-4C73-AE4D-30E6E570C7A4}" presName="parentShp" presStyleLbl="node1" presStyleIdx="1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81E19A6-BF1D-445E-8A38-C7DA1DE5669C}" type="pres">
      <dgm:prSet presAssocID="{AA7DF1CE-E84B-4C73-AE4D-30E6E570C7A4}" presName="childShp" presStyleLbl="bgAccFollowNode1" presStyleIdx="1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8BD79CC-8739-4427-A469-7FE9DC9DB106}" type="pres">
      <dgm:prSet presAssocID="{C708E85E-869D-46E8-8964-822F9DEA2FBB}" presName="spacing" presStyleCnt="0"/>
      <dgm:spPr/>
    </dgm:pt>
    <dgm:pt modelId="{C86C8D87-DAD1-40DB-A44F-EBC3E78915C5}" type="pres">
      <dgm:prSet presAssocID="{5D0A9EC9-A3FA-4380-B02C-CC46B1E5997E}" presName="linNode" presStyleCnt="0"/>
      <dgm:spPr/>
    </dgm:pt>
    <dgm:pt modelId="{AA926D83-58F4-44B4-BC52-054C2DADBF14}" type="pres">
      <dgm:prSet presAssocID="{5D0A9EC9-A3FA-4380-B02C-CC46B1E5997E}" presName="parentShp" presStyleLbl="node1" presStyleIdx="2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EECB15C-F5E9-4596-A4E2-9CB42E14707F}" type="pres">
      <dgm:prSet presAssocID="{5D0A9EC9-A3FA-4380-B02C-CC46B1E5997E}" presName="childShp" presStyleLbl="bgAccFollowNode1" presStyleIdx="2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522379-E991-4AC2-9313-BBAC13948B01}" type="pres">
      <dgm:prSet presAssocID="{59E1C777-919F-4257-BEFD-48D1F751DF41}" presName="spacing" presStyleCnt="0"/>
      <dgm:spPr/>
    </dgm:pt>
    <dgm:pt modelId="{4239C5BB-D5FE-4DCC-AA20-80C24F3EC961}" type="pres">
      <dgm:prSet presAssocID="{A033AF81-DDF7-4AA1-BFAB-98503DEA9222}" presName="linNode" presStyleCnt="0"/>
      <dgm:spPr/>
    </dgm:pt>
    <dgm:pt modelId="{B6DB0868-C571-4929-A63C-E39C8431EF20}" type="pres">
      <dgm:prSet presAssocID="{A033AF81-DDF7-4AA1-BFAB-98503DEA9222}" presName="parentShp" presStyleLbl="node1" presStyleIdx="3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EC943AF-5F94-482E-B946-5D558A6979C9}" type="pres">
      <dgm:prSet presAssocID="{A033AF81-DDF7-4AA1-BFAB-98503DEA9222}" presName="childShp" presStyleLbl="bgAccFollowNode1" presStyleIdx="3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4CA5FB9-E23A-42B3-BBDF-72E1B1338753}" type="pres">
      <dgm:prSet presAssocID="{172B139A-3C38-48A2-AEA3-EF47669C7AFA}" presName="spacing" presStyleCnt="0"/>
      <dgm:spPr/>
    </dgm:pt>
    <dgm:pt modelId="{6C9527FF-3383-4D8F-B51D-F6D64347DADD}" type="pres">
      <dgm:prSet presAssocID="{2D9859A7-FDF0-484C-B993-883489B1E009}" presName="linNode" presStyleCnt="0"/>
      <dgm:spPr/>
    </dgm:pt>
    <dgm:pt modelId="{AADABA07-4896-418A-86FE-67BBA42E9583}" type="pres">
      <dgm:prSet presAssocID="{2D9859A7-FDF0-484C-B993-883489B1E009}" presName="parentShp" presStyleLbl="node1" presStyleIdx="4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D8AC1E-FFF9-4CFC-9D26-BCB345014FAD}" type="pres">
      <dgm:prSet presAssocID="{2D9859A7-FDF0-484C-B993-883489B1E009}" presName="childShp" presStyleLbl="bgAccFollowNode1" presStyleIdx="4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CE70591-6232-4EF9-8BDF-FE193507FC98}" type="pres">
      <dgm:prSet presAssocID="{B8AFC14D-6625-4FE2-9981-448FBC175FB8}" presName="spacing" presStyleCnt="0"/>
      <dgm:spPr/>
    </dgm:pt>
    <dgm:pt modelId="{F34DBE0B-3DAD-4B4C-A603-BD222596CD71}" type="pres">
      <dgm:prSet presAssocID="{DBE8A71E-F5F2-4480-B686-8DECA157CFFF}" presName="linNode" presStyleCnt="0"/>
      <dgm:spPr/>
    </dgm:pt>
    <dgm:pt modelId="{7194FFD8-5B9A-4FEC-97F0-9B274849B71D}" type="pres">
      <dgm:prSet presAssocID="{DBE8A71E-F5F2-4480-B686-8DECA157CFFF}" presName="parentShp" presStyleLbl="node1" presStyleIdx="5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722ADED-CD02-4534-9DA0-A50C13154DE7}" type="pres">
      <dgm:prSet presAssocID="{DBE8A71E-F5F2-4480-B686-8DECA157CFFF}" presName="childShp" presStyleLbl="bgAccFollowNode1" presStyleIdx="5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435D56-CDDA-4035-96A8-9211F12D71FF}" type="pres">
      <dgm:prSet presAssocID="{1BA0C9DF-E8DB-43CB-805F-CDEA22166F1A}" presName="spacing" presStyleCnt="0"/>
      <dgm:spPr/>
    </dgm:pt>
    <dgm:pt modelId="{1F636B7C-2971-4ACF-8D7C-57BA3E1AD595}" type="pres">
      <dgm:prSet presAssocID="{488CADA9-9E47-4761-B284-056E83241BE0}" presName="linNode" presStyleCnt="0"/>
      <dgm:spPr/>
    </dgm:pt>
    <dgm:pt modelId="{2D4F6C4E-757E-4C09-8CB6-FE706BE1702E}" type="pres">
      <dgm:prSet presAssocID="{488CADA9-9E47-4761-B284-056E83241BE0}" presName="parentShp" presStyleLbl="node1" presStyleIdx="6" presStyleCnt="7" custScaleX="60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12945E-DFB7-44E7-9C2F-F8D64C2778F2}" type="pres">
      <dgm:prSet presAssocID="{488CADA9-9E47-4761-B284-056E83241BE0}" presName="childShp" presStyleLbl="bgAccFollowNode1" presStyleIdx="6" presStyleCnt="7" custScaleX="12321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C5C48AB-F4FC-41E5-B726-784E9C36388B}" type="presOf" srcId="{33C47E88-5023-485E-83C4-BC2FA75998F6}" destId="{DE82440D-ABF1-4B7F-9266-3992892CBB61}" srcOrd="0" destOrd="0" presId="urn:microsoft.com/office/officeart/2005/8/layout/vList6"/>
    <dgm:cxn modelId="{C9460E23-A2E3-4E2E-B615-439968B6FD82}" type="presOf" srcId="{CCE996F6-71B7-4A5C-9DC2-1BCB64FFBEF1}" destId="{DA2C72DA-19C5-4294-B14D-F380CB0EEE4A}" srcOrd="0" destOrd="0" presId="urn:microsoft.com/office/officeart/2005/8/layout/vList6"/>
    <dgm:cxn modelId="{11898A86-97B3-492E-B188-6F4E269F0F25}" srcId="{CCE996F6-71B7-4A5C-9DC2-1BCB64FFBEF1}" destId="{012CE38B-DC6E-4C0E-BB84-8D399EFDBB09}" srcOrd="0" destOrd="0" parTransId="{4997DB2B-A646-4BE4-9ED5-9526AFAE9921}" sibTransId="{8E0124F3-3D84-4DAB-9A4A-933A09300D0E}"/>
    <dgm:cxn modelId="{9DA839EB-2A22-4266-A5FC-CB729B23529B}" type="presOf" srcId="{AA7DF1CE-E84B-4C73-AE4D-30E6E570C7A4}" destId="{7B801A70-720D-45B4-94C3-1FD0836CAB77}" srcOrd="0" destOrd="0" presId="urn:microsoft.com/office/officeart/2005/8/layout/vList6"/>
    <dgm:cxn modelId="{BDF27460-B7ED-4F76-AC28-69E1AEAA15FB}" srcId="{5D0A9EC9-A3FA-4380-B02C-CC46B1E5997E}" destId="{358FB5FC-EEEF-4933-82C0-94A0603B974D}" srcOrd="0" destOrd="0" parTransId="{EF0F07D8-04EE-4AFE-8F74-36D12D12B66F}" sibTransId="{70B5153D-6F93-43B1-9214-65E396EACC8F}"/>
    <dgm:cxn modelId="{9DD74C3E-C549-4443-BD5C-9A2F7F4361E4}" srcId="{AA7DF1CE-E84B-4C73-AE4D-30E6E570C7A4}" destId="{4B950C95-42C1-48E1-9EEC-568150622265}" srcOrd="0" destOrd="0" parTransId="{2F690CC9-0A5B-45E2-9174-437155B28AC6}" sibTransId="{520D9F0D-7446-44E6-ACDD-E865DE91EBA5}"/>
    <dgm:cxn modelId="{F3575BD3-A960-4316-AB80-FDE74F250AFF}" srcId="{488CADA9-9E47-4761-B284-056E83241BE0}" destId="{53EBD736-6A1D-45C6-A9C9-59D6D75E3AA8}" srcOrd="0" destOrd="0" parTransId="{B998EBA0-78D2-425D-9152-083D15921137}" sibTransId="{0AD142BD-681F-40C5-B49E-DE09337B38A3}"/>
    <dgm:cxn modelId="{F2AA4AB7-ED65-46FB-A0D6-C468643AF1E5}" type="presOf" srcId="{DBE8A71E-F5F2-4480-B686-8DECA157CFFF}" destId="{7194FFD8-5B9A-4FEC-97F0-9B274849B71D}" srcOrd="0" destOrd="0" presId="urn:microsoft.com/office/officeart/2005/8/layout/vList6"/>
    <dgm:cxn modelId="{F7B96717-FC33-496C-AA05-E8555371A59F}" type="presOf" srcId="{1EE04C4B-0BD5-47CE-826F-E60AEE5F866F}" destId="{3722ADED-CD02-4534-9DA0-A50C13154DE7}" srcOrd="0" destOrd="0" presId="urn:microsoft.com/office/officeart/2005/8/layout/vList6"/>
    <dgm:cxn modelId="{B2A36B55-9712-4F44-88CD-C42F0833C997}" type="presOf" srcId="{D00895BE-349F-4E0C-ADB0-B863F06C6DBF}" destId="{D9D8AC1E-FFF9-4CFC-9D26-BCB345014FAD}" srcOrd="0" destOrd="0" presId="urn:microsoft.com/office/officeart/2005/8/layout/vList6"/>
    <dgm:cxn modelId="{8849EF1B-0DCB-4E9B-90D3-F2BEE5A92347}" type="presOf" srcId="{2D9859A7-FDF0-484C-B993-883489B1E009}" destId="{AADABA07-4896-418A-86FE-67BBA42E9583}" srcOrd="0" destOrd="0" presId="urn:microsoft.com/office/officeart/2005/8/layout/vList6"/>
    <dgm:cxn modelId="{5759BB10-CF77-4E7B-ADFC-77C00E09F579}" type="presOf" srcId="{5D0A9EC9-A3FA-4380-B02C-CC46B1E5997E}" destId="{AA926D83-58F4-44B4-BC52-054C2DADBF14}" srcOrd="0" destOrd="0" presId="urn:microsoft.com/office/officeart/2005/8/layout/vList6"/>
    <dgm:cxn modelId="{9AE973D8-7670-4637-9785-D922A26F2701}" srcId="{CCE996F6-71B7-4A5C-9DC2-1BCB64FFBEF1}" destId="{DBE8A71E-F5F2-4480-B686-8DECA157CFFF}" srcOrd="5" destOrd="0" parTransId="{13CA11D4-D840-42D5-8704-7FA5DF604DBB}" sibTransId="{1BA0C9DF-E8DB-43CB-805F-CDEA22166F1A}"/>
    <dgm:cxn modelId="{D61274FD-50BC-450C-B299-3C8D3352E685}" srcId="{CCE996F6-71B7-4A5C-9DC2-1BCB64FFBEF1}" destId="{2D9859A7-FDF0-484C-B993-883489B1E009}" srcOrd="4" destOrd="0" parTransId="{4D2271C6-0829-4D91-9264-134974D8A7DC}" sibTransId="{B8AFC14D-6625-4FE2-9981-448FBC175FB8}"/>
    <dgm:cxn modelId="{8C122421-0F74-4E3C-8BBE-0029B7698E14}" srcId="{CCE996F6-71B7-4A5C-9DC2-1BCB64FFBEF1}" destId="{A033AF81-DDF7-4AA1-BFAB-98503DEA9222}" srcOrd="3" destOrd="0" parTransId="{2B47FF69-6AA5-4716-8ABA-B1143E628004}" sibTransId="{172B139A-3C38-48A2-AEA3-EF47669C7AFA}"/>
    <dgm:cxn modelId="{2F6DC0DD-A7BE-4EDF-A85A-AD8D1CCC5A57}" type="presOf" srcId="{F38925F8-F24F-45CB-A037-C47D01AEA684}" destId="{8EC943AF-5F94-482E-B946-5D558A6979C9}" srcOrd="0" destOrd="0" presId="urn:microsoft.com/office/officeart/2005/8/layout/vList6"/>
    <dgm:cxn modelId="{CD331B6A-303E-49AD-BCF0-EE7D16995146}" type="presOf" srcId="{4B950C95-42C1-48E1-9EEC-568150622265}" destId="{181E19A6-BF1D-445E-8A38-C7DA1DE5669C}" srcOrd="0" destOrd="0" presId="urn:microsoft.com/office/officeart/2005/8/layout/vList6"/>
    <dgm:cxn modelId="{135765DC-0D7C-449A-8C52-655015A21857}" type="presOf" srcId="{A033AF81-DDF7-4AA1-BFAB-98503DEA9222}" destId="{B6DB0868-C571-4929-A63C-E39C8431EF20}" srcOrd="0" destOrd="0" presId="urn:microsoft.com/office/officeart/2005/8/layout/vList6"/>
    <dgm:cxn modelId="{9D9CF559-876C-418E-A6EB-1F48A7F7DD64}" srcId="{A033AF81-DDF7-4AA1-BFAB-98503DEA9222}" destId="{F38925F8-F24F-45CB-A037-C47D01AEA684}" srcOrd="0" destOrd="0" parTransId="{CB2B679F-9914-4B47-A3EA-49E1C1E9F987}" sibTransId="{6EC2B40C-589D-49F4-80B9-23A112270753}"/>
    <dgm:cxn modelId="{3E637658-2964-430B-8818-EE2B661BDA26}" type="presOf" srcId="{358FB5FC-EEEF-4933-82C0-94A0603B974D}" destId="{CEECB15C-F5E9-4596-A4E2-9CB42E14707F}" srcOrd="0" destOrd="0" presId="urn:microsoft.com/office/officeart/2005/8/layout/vList6"/>
    <dgm:cxn modelId="{F32C0DA7-5ECF-4695-8732-F9BAE69B8B23}" srcId="{CCE996F6-71B7-4A5C-9DC2-1BCB64FFBEF1}" destId="{AA7DF1CE-E84B-4C73-AE4D-30E6E570C7A4}" srcOrd="1" destOrd="0" parTransId="{8BE606DE-1FEA-4ACE-8905-2B41C216386D}" sibTransId="{C708E85E-869D-46E8-8964-822F9DEA2FBB}"/>
    <dgm:cxn modelId="{4E283F49-F15E-4DC2-9FBE-4680CDB125A6}" srcId="{012CE38B-DC6E-4C0E-BB84-8D399EFDBB09}" destId="{33C47E88-5023-485E-83C4-BC2FA75998F6}" srcOrd="0" destOrd="0" parTransId="{8EAA361F-F875-48CC-AC28-30B75EF2803C}" sibTransId="{609D0334-CEC1-49B6-86C0-EEDDE52E98FD}"/>
    <dgm:cxn modelId="{41145791-8B99-44FB-AE79-75EDA9D5EB79}" srcId="{CCE996F6-71B7-4A5C-9DC2-1BCB64FFBEF1}" destId="{488CADA9-9E47-4761-B284-056E83241BE0}" srcOrd="6" destOrd="0" parTransId="{6388BB86-DD63-47F4-8D2F-9D2CA9D8AB45}" sibTransId="{F1993D13-2D7E-4B8D-8B20-7D1DA0FE3937}"/>
    <dgm:cxn modelId="{209751DC-D86A-4FC4-B54B-5A710F089BDE}" srcId="{2D9859A7-FDF0-484C-B993-883489B1E009}" destId="{D00895BE-349F-4E0C-ADB0-B863F06C6DBF}" srcOrd="0" destOrd="0" parTransId="{EC3CDA4A-B4D7-4202-A265-CD9B4A4975C1}" sibTransId="{9059B20F-FC98-4D29-94D8-3531FD5CA833}"/>
    <dgm:cxn modelId="{D1FF5CB7-F4DC-4654-B9DF-E262A10AC987}" srcId="{CCE996F6-71B7-4A5C-9DC2-1BCB64FFBEF1}" destId="{5D0A9EC9-A3FA-4380-B02C-CC46B1E5997E}" srcOrd="2" destOrd="0" parTransId="{6FD3814B-9D50-4856-8814-47F6CC74B14B}" sibTransId="{59E1C777-919F-4257-BEFD-48D1F751DF41}"/>
    <dgm:cxn modelId="{BEBF4843-44C1-439D-A677-494862962422}" type="presOf" srcId="{488CADA9-9E47-4761-B284-056E83241BE0}" destId="{2D4F6C4E-757E-4C09-8CB6-FE706BE1702E}" srcOrd="0" destOrd="0" presId="urn:microsoft.com/office/officeart/2005/8/layout/vList6"/>
    <dgm:cxn modelId="{C204767B-8D56-45EA-B168-2D2936C62666}" type="presOf" srcId="{53EBD736-6A1D-45C6-A9C9-59D6D75E3AA8}" destId="{E712945E-DFB7-44E7-9C2F-F8D64C2778F2}" srcOrd="0" destOrd="0" presId="urn:microsoft.com/office/officeart/2005/8/layout/vList6"/>
    <dgm:cxn modelId="{1D2EBA2A-BBEE-48A0-A10A-735B8C46D609}" type="presOf" srcId="{012CE38B-DC6E-4C0E-BB84-8D399EFDBB09}" destId="{953AD587-CC84-47D5-9417-E7DB35CA2035}" srcOrd="0" destOrd="0" presId="urn:microsoft.com/office/officeart/2005/8/layout/vList6"/>
    <dgm:cxn modelId="{91B183BD-F10A-4C1C-A7C9-3FBC13805F57}" srcId="{DBE8A71E-F5F2-4480-B686-8DECA157CFFF}" destId="{1EE04C4B-0BD5-47CE-826F-E60AEE5F866F}" srcOrd="0" destOrd="0" parTransId="{FD931D84-4706-4AC2-B4FC-19E13E57292A}" sibTransId="{2F2A7554-074D-4BE7-A008-9E1D84EFFD62}"/>
    <dgm:cxn modelId="{F9032F53-B848-435F-98AC-A9346CBCBD82}" type="presParOf" srcId="{DA2C72DA-19C5-4294-B14D-F380CB0EEE4A}" destId="{6C9C5E8D-EC60-49F3-B4B7-99DB1B456A7D}" srcOrd="0" destOrd="0" presId="urn:microsoft.com/office/officeart/2005/8/layout/vList6"/>
    <dgm:cxn modelId="{E3CE1500-3138-4FC1-B1B2-AC6E0C12F006}" type="presParOf" srcId="{6C9C5E8D-EC60-49F3-B4B7-99DB1B456A7D}" destId="{953AD587-CC84-47D5-9417-E7DB35CA2035}" srcOrd="0" destOrd="0" presId="urn:microsoft.com/office/officeart/2005/8/layout/vList6"/>
    <dgm:cxn modelId="{A8CDCB31-C6E9-4860-881F-CE30D8F60B8C}" type="presParOf" srcId="{6C9C5E8D-EC60-49F3-B4B7-99DB1B456A7D}" destId="{DE82440D-ABF1-4B7F-9266-3992892CBB61}" srcOrd="1" destOrd="0" presId="urn:microsoft.com/office/officeart/2005/8/layout/vList6"/>
    <dgm:cxn modelId="{82C5D9B6-5A34-4DF4-9F5D-65388BDDC11F}" type="presParOf" srcId="{DA2C72DA-19C5-4294-B14D-F380CB0EEE4A}" destId="{50721CEE-0A3C-4DAD-85BF-0165D15C9515}" srcOrd="1" destOrd="0" presId="urn:microsoft.com/office/officeart/2005/8/layout/vList6"/>
    <dgm:cxn modelId="{A92B818D-9BF6-4B9D-A186-FE8335751735}" type="presParOf" srcId="{DA2C72DA-19C5-4294-B14D-F380CB0EEE4A}" destId="{02393232-5582-4DB0-B241-CFA05E9A4712}" srcOrd="2" destOrd="0" presId="urn:microsoft.com/office/officeart/2005/8/layout/vList6"/>
    <dgm:cxn modelId="{70E20938-AE86-4898-811A-F3EA07DB5FB9}" type="presParOf" srcId="{02393232-5582-4DB0-B241-CFA05E9A4712}" destId="{7B801A70-720D-45B4-94C3-1FD0836CAB77}" srcOrd="0" destOrd="0" presId="urn:microsoft.com/office/officeart/2005/8/layout/vList6"/>
    <dgm:cxn modelId="{9B983B86-F9E2-4A51-8824-5A3A6F3D0CF1}" type="presParOf" srcId="{02393232-5582-4DB0-B241-CFA05E9A4712}" destId="{181E19A6-BF1D-445E-8A38-C7DA1DE5669C}" srcOrd="1" destOrd="0" presId="urn:microsoft.com/office/officeart/2005/8/layout/vList6"/>
    <dgm:cxn modelId="{D3CFF547-ED17-43B6-94C8-F8C4F72A3A32}" type="presParOf" srcId="{DA2C72DA-19C5-4294-B14D-F380CB0EEE4A}" destId="{48BD79CC-8739-4427-A469-7FE9DC9DB106}" srcOrd="3" destOrd="0" presId="urn:microsoft.com/office/officeart/2005/8/layout/vList6"/>
    <dgm:cxn modelId="{1BE0F24C-D708-43E4-A319-E0276333C544}" type="presParOf" srcId="{DA2C72DA-19C5-4294-B14D-F380CB0EEE4A}" destId="{C86C8D87-DAD1-40DB-A44F-EBC3E78915C5}" srcOrd="4" destOrd="0" presId="urn:microsoft.com/office/officeart/2005/8/layout/vList6"/>
    <dgm:cxn modelId="{00535503-28ED-477A-B538-CC58134DF9E1}" type="presParOf" srcId="{C86C8D87-DAD1-40DB-A44F-EBC3E78915C5}" destId="{AA926D83-58F4-44B4-BC52-054C2DADBF14}" srcOrd="0" destOrd="0" presId="urn:microsoft.com/office/officeart/2005/8/layout/vList6"/>
    <dgm:cxn modelId="{3E7B3C9F-0B21-44D6-811E-B152516166EB}" type="presParOf" srcId="{C86C8D87-DAD1-40DB-A44F-EBC3E78915C5}" destId="{CEECB15C-F5E9-4596-A4E2-9CB42E14707F}" srcOrd="1" destOrd="0" presId="urn:microsoft.com/office/officeart/2005/8/layout/vList6"/>
    <dgm:cxn modelId="{434EF560-4DB6-4EE1-B19C-626098159A95}" type="presParOf" srcId="{DA2C72DA-19C5-4294-B14D-F380CB0EEE4A}" destId="{62522379-E991-4AC2-9313-BBAC13948B01}" srcOrd="5" destOrd="0" presId="urn:microsoft.com/office/officeart/2005/8/layout/vList6"/>
    <dgm:cxn modelId="{1FEA04E2-9BAA-4F8E-8E0F-6EF11AF11675}" type="presParOf" srcId="{DA2C72DA-19C5-4294-B14D-F380CB0EEE4A}" destId="{4239C5BB-D5FE-4DCC-AA20-80C24F3EC961}" srcOrd="6" destOrd="0" presId="urn:microsoft.com/office/officeart/2005/8/layout/vList6"/>
    <dgm:cxn modelId="{1621233C-9B94-4193-9743-514A0C7D19D5}" type="presParOf" srcId="{4239C5BB-D5FE-4DCC-AA20-80C24F3EC961}" destId="{B6DB0868-C571-4929-A63C-E39C8431EF20}" srcOrd="0" destOrd="0" presId="urn:microsoft.com/office/officeart/2005/8/layout/vList6"/>
    <dgm:cxn modelId="{663DF7C2-F939-4DA0-955C-98808B83255E}" type="presParOf" srcId="{4239C5BB-D5FE-4DCC-AA20-80C24F3EC961}" destId="{8EC943AF-5F94-482E-B946-5D558A6979C9}" srcOrd="1" destOrd="0" presId="urn:microsoft.com/office/officeart/2005/8/layout/vList6"/>
    <dgm:cxn modelId="{381D307B-566C-4610-8188-ADEDED9EE38F}" type="presParOf" srcId="{DA2C72DA-19C5-4294-B14D-F380CB0EEE4A}" destId="{C4CA5FB9-E23A-42B3-BBDF-72E1B1338753}" srcOrd="7" destOrd="0" presId="urn:microsoft.com/office/officeart/2005/8/layout/vList6"/>
    <dgm:cxn modelId="{7ECE6FB5-7B2D-40B6-9CF1-6CB139AAA579}" type="presParOf" srcId="{DA2C72DA-19C5-4294-B14D-F380CB0EEE4A}" destId="{6C9527FF-3383-4D8F-B51D-F6D64347DADD}" srcOrd="8" destOrd="0" presId="urn:microsoft.com/office/officeart/2005/8/layout/vList6"/>
    <dgm:cxn modelId="{7A9EAD3F-CC9E-4FDE-B55B-878E79A5DDF3}" type="presParOf" srcId="{6C9527FF-3383-4D8F-B51D-F6D64347DADD}" destId="{AADABA07-4896-418A-86FE-67BBA42E9583}" srcOrd="0" destOrd="0" presId="urn:microsoft.com/office/officeart/2005/8/layout/vList6"/>
    <dgm:cxn modelId="{ED7362A5-D294-4B8C-B82E-0CA44A905C25}" type="presParOf" srcId="{6C9527FF-3383-4D8F-B51D-F6D64347DADD}" destId="{D9D8AC1E-FFF9-4CFC-9D26-BCB345014FAD}" srcOrd="1" destOrd="0" presId="urn:microsoft.com/office/officeart/2005/8/layout/vList6"/>
    <dgm:cxn modelId="{2CE7B3C6-AFE8-4209-A482-A961078352C0}" type="presParOf" srcId="{DA2C72DA-19C5-4294-B14D-F380CB0EEE4A}" destId="{8CE70591-6232-4EF9-8BDF-FE193507FC98}" srcOrd="9" destOrd="0" presId="urn:microsoft.com/office/officeart/2005/8/layout/vList6"/>
    <dgm:cxn modelId="{626882EF-3298-4F88-BDD7-E48C94D30E33}" type="presParOf" srcId="{DA2C72DA-19C5-4294-B14D-F380CB0EEE4A}" destId="{F34DBE0B-3DAD-4B4C-A603-BD222596CD71}" srcOrd="10" destOrd="0" presId="urn:microsoft.com/office/officeart/2005/8/layout/vList6"/>
    <dgm:cxn modelId="{C40FC210-6DB2-4B3E-9529-30F7765AFAA4}" type="presParOf" srcId="{F34DBE0B-3DAD-4B4C-A603-BD222596CD71}" destId="{7194FFD8-5B9A-4FEC-97F0-9B274849B71D}" srcOrd="0" destOrd="0" presId="urn:microsoft.com/office/officeart/2005/8/layout/vList6"/>
    <dgm:cxn modelId="{3AEB9060-210C-4D44-9B70-2D324B9232A8}" type="presParOf" srcId="{F34DBE0B-3DAD-4B4C-A603-BD222596CD71}" destId="{3722ADED-CD02-4534-9DA0-A50C13154DE7}" srcOrd="1" destOrd="0" presId="urn:microsoft.com/office/officeart/2005/8/layout/vList6"/>
    <dgm:cxn modelId="{DE0BB68A-8F24-409A-9E2E-779D4BFD9194}" type="presParOf" srcId="{DA2C72DA-19C5-4294-B14D-F380CB0EEE4A}" destId="{62435D56-CDDA-4035-96A8-9211F12D71FF}" srcOrd="11" destOrd="0" presId="urn:microsoft.com/office/officeart/2005/8/layout/vList6"/>
    <dgm:cxn modelId="{2662B286-2B90-47F3-AA09-FAB826C498A3}" type="presParOf" srcId="{DA2C72DA-19C5-4294-B14D-F380CB0EEE4A}" destId="{1F636B7C-2971-4ACF-8D7C-57BA3E1AD595}" srcOrd="12" destOrd="0" presId="urn:microsoft.com/office/officeart/2005/8/layout/vList6"/>
    <dgm:cxn modelId="{F7FA78FF-4B64-409D-998A-3FA5DCB10012}" type="presParOf" srcId="{1F636B7C-2971-4ACF-8D7C-57BA3E1AD595}" destId="{2D4F6C4E-757E-4C09-8CB6-FE706BE1702E}" srcOrd="0" destOrd="0" presId="urn:microsoft.com/office/officeart/2005/8/layout/vList6"/>
    <dgm:cxn modelId="{FD131FAA-1B33-4FFA-AC9D-3D1090EDC75B}" type="presParOf" srcId="{1F636B7C-2971-4ACF-8D7C-57BA3E1AD595}" destId="{E712945E-DFB7-44E7-9C2F-F8D64C2778F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A8FF5-94FE-401C-9EBD-66F55E00B400}">
      <dsp:nvSpPr>
        <dsp:cNvPr id="0" name=""/>
        <dsp:cNvSpPr/>
      </dsp:nvSpPr>
      <dsp:spPr>
        <a:xfrm>
          <a:off x="1736694" y="169668"/>
          <a:ext cx="3367274" cy="1169409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B7E9E-C63B-4BCD-91BF-42F08484656B}">
      <dsp:nvSpPr>
        <dsp:cNvPr id="0" name=""/>
        <dsp:cNvSpPr/>
      </dsp:nvSpPr>
      <dsp:spPr>
        <a:xfrm>
          <a:off x="3099265" y="3033156"/>
          <a:ext cx="652572" cy="417646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B6D0EA-1045-450F-96E9-DD29720EAB56}">
      <dsp:nvSpPr>
        <dsp:cNvPr id="0" name=""/>
        <dsp:cNvSpPr/>
      </dsp:nvSpPr>
      <dsp:spPr>
        <a:xfrm>
          <a:off x="1859377" y="3367274"/>
          <a:ext cx="3132348" cy="78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100" kern="1200" dirty="0" smtClean="0"/>
            <a:t>Documento de Requisitos</a:t>
          </a:r>
          <a:endParaRPr lang="pt-BR" sz="2100" kern="1200" dirty="0"/>
        </a:p>
      </dsp:txBody>
      <dsp:txXfrm>
        <a:off x="1859377" y="3367274"/>
        <a:ext cx="3132348" cy="783087"/>
      </dsp:txXfrm>
    </dsp:sp>
    <dsp:sp modelId="{FC743D3E-696A-444C-B52F-D02A709722A0}">
      <dsp:nvSpPr>
        <dsp:cNvPr id="0" name=""/>
        <dsp:cNvSpPr/>
      </dsp:nvSpPr>
      <dsp:spPr>
        <a:xfrm>
          <a:off x="2960920" y="1429394"/>
          <a:ext cx="1174630" cy="117463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accent1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Modelar</a:t>
          </a:r>
          <a:endParaRPr lang="pt-BR" sz="1800" kern="1200" dirty="0"/>
        </a:p>
      </dsp:txBody>
      <dsp:txXfrm>
        <a:off x="3132941" y="1601415"/>
        <a:ext cx="830588" cy="830588"/>
      </dsp:txXfrm>
    </dsp:sp>
    <dsp:sp modelId="{405E06E3-E9C1-49C3-B8AD-232614CBECDC}">
      <dsp:nvSpPr>
        <dsp:cNvPr id="0" name=""/>
        <dsp:cNvSpPr/>
      </dsp:nvSpPr>
      <dsp:spPr>
        <a:xfrm>
          <a:off x="2120406" y="548160"/>
          <a:ext cx="1174630" cy="117463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accent1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Analisar</a:t>
          </a:r>
          <a:endParaRPr lang="pt-BR" sz="1800" kern="1200" dirty="0"/>
        </a:p>
      </dsp:txBody>
      <dsp:txXfrm>
        <a:off x="2292427" y="720181"/>
        <a:ext cx="830588" cy="830588"/>
      </dsp:txXfrm>
    </dsp:sp>
    <dsp:sp modelId="{F5B41E7F-E03B-4327-A640-C5EE8236C083}">
      <dsp:nvSpPr>
        <dsp:cNvPr id="0" name=""/>
        <dsp:cNvSpPr/>
      </dsp:nvSpPr>
      <dsp:spPr>
        <a:xfrm>
          <a:off x="3321140" y="264161"/>
          <a:ext cx="1174630" cy="117463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accent1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smtClean="0"/>
            <a:t>Elicitar</a:t>
          </a:r>
          <a:endParaRPr lang="pt-BR" sz="1800" kern="1200" dirty="0"/>
        </a:p>
      </dsp:txBody>
      <dsp:txXfrm>
        <a:off x="3493161" y="436182"/>
        <a:ext cx="830588" cy="830588"/>
      </dsp:txXfrm>
    </dsp:sp>
    <dsp:sp modelId="{9E83E4F0-0993-464B-9440-B01D68B28D64}">
      <dsp:nvSpPr>
        <dsp:cNvPr id="0" name=""/>
        <dsp:cNvSpPr/>
      </dsp:nvSpPr>
      <dsp:spPr>
        <a:xfrm>
          <a:off x="1598348" y="26102"/>
          <a:ext cx="3654406" cy="29235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2440D-ABF1-4B7F-9266-3992892CBB61}">
      <dsp:nvSpPr>
        <dsp:cNvPr id="0" name=""/>
        <dsp:cNvSpPr/>
      </dsp:nvSpPr>
      <dsp:spPr>
        <a:xfrm>
          <a:off x="2030603" y="2911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Define o escopo e a natureza do problema a ser resolvido</a:t>
          </a:r>
          <a:endParaRPr lang="pt-BR" sz="1600" b="1" kern="1200" dirty="0"/>
        </a:p>
      </dsp:txBody>
      <dsp:txXfrm>
        <a:off x="2030603" y="57295"/>
        <a:ext cx="5799144" cy="326303"/>
      </dsp:txXfrm>
    </dsp:sp>
    <dsp:sp modelId="{953AD587-CC84-47D5-9417-E7DB35CA2035}">
      <dsp:nvSpPr>
        <dsp:cNvPr id="0" name=""/>
        <dsp:cNvSpPr/>
      </dsp:nvSpPr>
      <dsp:spPr>
        <a:xfrm>
          <a:off x="71995" y="2911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1 – Concepção</a:t>
          </a:r>
          <a:endParaRPr lang="pt-BR" sz="1600" b="1" kern="1200" dirty="0"/>
        </a:p>
      </dsp:txBody>
      <dsp:txXfrm>
        <a:off x="93233" y="24149"/>
        <a:ext cx="1916132" cy="392595"/>
      </dsp:txXfrm>
    </dsp:sp>
    <dsp:sp modelId="{181E19A6-BF1D-445E-8A38-C7DA1DE5669C}">
      <dsp:nvSpPr>
        <dsp:cNvPr id="0" name=""/>
        <dsp:cNvSpPr/>
      </dsp:nvSpPr>
      <dsp:spPr>
        <a:xfrm>
          <a:off x="2030603" y="481490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Ajuda o cliente a definir o que é necessário</a:t>
          </a:r>
          <a:endParaRPr lang="pt-BR" sz="1600" b="1" kern="1200" dirty="0"/>
        </a:p>
      </dsp:txBody>
      <dsp:txXfrm>
        <a:off x="2030603" y="535874"/>
        <a:ext cx="5799144" cy="326303"/>
      </dsp:txXfrm>
    </dsp:sp>
    <dsp:sp modelId="{7B801A70-720D-45B4-94C3-1FD0836CAB77}">
      <dsp:nvSpPr>
        <dsp:cNvPr id="0" name=""/>
        <dsp:cNvSpPr/>
      </dsp:nvSpPr>
      <dsp:spPr>
        <a:xfrm>
          <a:off x="71995" y="481490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2 – Levantamento</a:t>
          </a:r>
          <a:endParaRPr lang="pt-BR" sz="1600" b="1" kern="1200" dirty="0"/>
        </a:p>
      </dsp:txBody>
      <dsp:txXfrm>
        <a:off x="93233" y="502728"/>
        <a:ext cx="1916132" cy="392595"/>
      </dsp:txXfrm>
    </dsp:sp>
    <dsp:sp modelId="{CEECB15C-F5E9-4596-A4E2-9CB42E14707F}">
      <dsp:nvSpPr>
        <dsp:cNvPr id="0" name=""/>
        <dsp:cNvSpPr/>
      </dsp:nvSpPr>
      <dsp:spPr>
        <a:xfrm>
          <a:off x="2030603" y="960069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Refina e modifica os requisitos básicos</a:t>
          </a:r>
          <a:endParaRPr lang="pt-BR" sz="1600" b="1" kern="1200" dirty="0"/>
        </a:p>
      </dsp:txBody>
      <dsp:txXfrm>
        <a:off x="2030603" y="1014453"/>
        <a:ext cx="5799144" cy="326303"/>
      </dsp:txXfrm>
    </dsp:sp>
    <dsp:sp modelId="{AA926D83-58F4-44B4-BC52-054C2DADBF14}">
      <dsp:nvSpPr>
        <dsp:cNvPr id="0" name=""/>
        <dsp:cNvSpPr/>
      </dsp:nvSpPr>
      <dsp:spPr>
        <a:xfrm>
          <a:off x="71995" y="960069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3 – Elaboração</a:t>
          </a:r>
          <a:endParaRPr lang="pt-BR" sz="1600" b="1" kern="1200" dirty="0"/>
        </a:p>
      </dsp:txBody>
      <dsp:txXfrm>
        <a:off x="93233" y="981307"/>
        <a:ext cx="1916132" cy="392595"/>
      </dsp:txXfrm>
    </dsp:sp>
    <dsp:sp modelId="{8EC943AF-5F94-482E-B946-5D558A6979C9}">
      <dsp:nvSpPr>
        <dsp:cNvPr id="0" name=""/>
        <dsp:cNvSpPr/>
      </dsp:nvSpPr>
      <dsp:spPr>
        <a:xfrm>
          <a:off x="2030603" y="1438648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Verifica a prioridade, aspectos essenciais, entre outros</a:t>
          </a:r>
          <a:endParaRPr lang="pt-BR" sz="1600" b="1" kern="1200" dirty="0"/>
        </a:p>
      </dsp:txBody>
      <dsp:txXfrm>
        <a:off x="2030603" y="1493032"/>
        <a:ext cx="5799144" cy="326303"/>
      </dsp:txXfrm>
    </dsp:sp>
    <dsp:sp modelId="{B6DB0868-C571-4929-A63C-E39C8431EF20}">
      <dsp:nvSpPr>
        <dsp:cNvPr id="0" name=""/>
        <dsp:cNvSpPr/>
      </dsp:nvSpPr>
      <dsp:spPr>
        <a:xfrm>
          <a:off x="71995" y="1438648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4 - Negociação </a:t>
          </a:r>
          <a:endParaRPr lang="pt-BR" sz="1600" b="1" kern="1200" dirty="0"/>
        </a:p>
      </dsp:txBody>
      <dsp:txXfrm>
        <a:off x="93233" y="1459886"/>
        <a:ext cx="1916132" cy="392595"/>
      </dsp:txXfrm>
    </dsp:sp>
    <dsp:sp modelId="{D9D8AC1E-FFF9-4CFC-9D26-BCB345014FAD}">
      <dsp:nvSpPr>
        <dsp:cNvPr id="0" name=""/>
        <dsp:cNvSpPr/>
      </dsp:nvSpPr>
      <dsp:spPr>
        <a:xfrm>
          <a:off x="2030603" y="1917227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Documenta o problema</a:t>
          </a:r>
          <a:endParaRPr lang="pt-BR" sz="1600" b="1" kern="1200" dirty="0"/>
        </a:p>
      </dsp:txBody>
      <dsp:txXfrm>
        <a:off x="2030603" y="1971611"/>
        <a:ext cx="5799144" cy="326303"/>
      </dsp:txXfrm>
    </dsp:sp>
    <dsp:sp modelId="{AADABA07-4896-418A-86FE-67BBA42E9583}">
      <dsp:nvSpPr>
        <dsp:cNvPr id="0" name=""/>
        <dsp:cNvSpPr/>
      </dsp:nvSpPr>
      <dsp:spPr>
        <a:xfrm>
          <a:off x="71995" y="1917227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5 - Especificação </a:t>
          </a:r>
          <a:endParaRPr lang="pt-BR" sz="1600" b="1" kern="1200" dirty="0"/>
        </a:p>
      </dsp:txBody>
      <dsp:txXfrm>
        <a:off x="93233" y="1938465"/>
        <a:ext cx="1916132" cy="392595"/>
      </dsp:txXfrm>
    </dsp:sp>
    <dsp:sp modelId="{3722ADED-CD02-4534-9DA0-A50C13154DE7}">
      <dsp:nvSpPr>
        <dsp:cNvPr id="0" name=""/>
        <dsp:cNvSpPr/>
      </dsp:nvSpPr>
      <dsp:spPr>
        <a:xfrm>
          <a:off x="2030603" y="2395806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Avalia  a qualidade da documentação</a:t>
          </a:r>
        </a:p>
      </dsp:txBody>
      <dsp:txXfrm>
        <a:off x="2030603" y="2450190"/>
        <a:ext cx="5799144" cy="326303"/>
      </dsp:txXfrm>
    </dsp:sp>
    <dsp:sp modelId="{7194FFD8-5B9A-4FEC-97F0-9B274849B71D}">
      <dsp:nvSpPr>
        <dsp:cNvPr id="0" name=""/>
        <dsp:cNvSpPr/>
      </dsp:nvSpPr>
      <dsp:spPr>
        <a:xfrm>
          <a:off x="71995" y="2395806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6 - Validação </a:t>
          </a:r>
          <a:endParaRPr lang="pt-BR" sz="1600" b="1" kern="1200" dirty="0"/>
        </a:p>
      </dsp:txBody>
      <dsp:txXfrm>
        <a:off x="93233" y="2417044"/>
        <a:ext cx="1916132" cy="392595"/>
      </dsp:txXfrm>
    </dsp:sp>
    <dsp:sp modelId="{E712945E-DFB7-44E7-9C2F-F8D64C2778F2}">
      <dsp:nvSpPr>
        <dsp:cNvPr id="0" name=""/>
        <dsp:cNvSpPr/>
      </dsp:nvSpPr>
      <dsp:spPr>
        <a:xfrm>
          <a:off x="2030603" y="2874384"/>
          <a:ext cx="5962296" cy="435071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 fov="0">
            <a:rot lat="0" lon="0" rev="0"/>
          </a:camera>
          <a:lightRig rig="balanced" dir="t">
            <a:rot lat="0" lon="0" rev="0"/>
          </a:lightRig>
        </a:scene3d>
        <a:sp3d prstMaterial="matte">
          <a:bevelT w="0" h="0"/>
          <a:contourClr>
            <a:schemeClr val="dk2">
              <a:alpha val="90000"/>
              <a:tint val="40000"/>
              <a:hueOff val="0"/>
              <a:satOff val="0"/>
              <a:lumOff val="0"/>
              <a:alphaOff val="0"/>
              <a:tint val="100000"/>
              <a:shade val="100000"/>
              <a:hueMod val="100000"/>
              <a:satMod val="10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b="1" i="0" kern="1200" dirty="0" smtClean="0"/>
            <a:t>C</a:t>
          </a:r>
          <a:r>
            <a:rPr lang="pt-BR" sz="1600" b="1" kern="1200" dirty="0" smtClean="0"/>
            <a:t>ontrolar e rastrear requisitos </a:t>
          </a:r>
        </a:p>
      </dsp:txBody>
      <dsp:txXfrm>
        <a:off x="2030603" y="2928768"/>
        <a:ext cx="5799144" cy="326303"/>
      </dsp:txXfrm>
    </dsp:sp>
    <dsp:sp modelId="{2D4F6C4E-757E-4C09-8CB6-FE706BE1702E}">
      <dsp:nvSpPr>
        <dsp:cNvPr id="0" name=""/>
        <dsp:cNvSpPr/>
      </dsp:nvSpPr>
      <dsp:spPr>
        <a:xfrm>
          <a:off x="71995" y="2874384"/>
          <a:ext cx="1958608" cy="4350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dk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cene3d>
          <a:camera prst="orthographicFront" fov="0">
            <a:rot lat="0" lon="0" rev="0"/>
          </a:camera>
          <a:lightRig rig="soft" dir="t">
            <a:rot lat="0" lon="0" rev="2700000"/>
          </a:lightRig>
        </a:scene3d>
        <a:sp3d prstMaterial="matte">
          <a:bevelT w="50800" h="50800"/>
          <a:contourClr>
            <a:schemeClr val="dk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/>
            <a:t>7 - Gestão </a:t>
          </a:r>
        </a:p>
      </dsp:txBody>
      <dsp:txXfrm>
        <a:off x="93233" y="2895622"/>
        <a:ext cx="1916132" cy="392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6923088" cy="93853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pt-BR" dirty="0">
              <a:latin typeface="Times New Roman" pitchFamily="16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dirty="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30464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dirty="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7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0300" y="685800"/>
            <a:ext cx="4672013" cy="35036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495800"/>
            <a:ext cx="5103813" cy="4189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91540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dirty="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915400"/>
            <a:ext cx="30464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fld id="{B422A88C-D796-4E78-95FA-E5FD5A43E060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301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422A88C-D796-4E78-95FA-E5FD5A43E06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14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44AD0284-47FE-4E82-8B04-9586D02BAD77}" type="slidenum">
              <a:rPr lang="en-US" smtClean="0">
                <a:latin typeface="Times New Roman" pitchFamily="18" charset="0"/>
                <a:ea typeface="Lucida Sans Unicode" pitchFamily="34" charset="0"/>
                <a:cs typeface="Lucida Sans Unicode" pitchFamily="34" charset="0"/>
              </a:rPr>
              <a:pPr>
                <a:buFont typeface="Wingdings" pitchFamily="2" charset="2"/>
                <a:buNone/>
              </a:pPr>
              <a:t>4</a:t>
            </a:fld>
            <a:endParaRPr lang="en-US" dirty="0" smtClean="0">
              <a:latin typeface="Times New Roman" pitchFamily="18" charset="0"/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60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0300" y="685800"/>
            <a:ext cx="4673600" cy="3505200"/>
          </a:xfrm>
          <a:ln/>
        </p:spPr>
      </p:sp>
      <p:sp>
        <p:nvSpPr>
          <p:cNvPr id="460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495800"/>
            <a:ext cx="5105400" cy="4192588"/>
          </a:xfrm>
          <a:noFill/>
          <a:ln/>
        </p:spPr>
        <p:txBody>
          <a:bodyPr wrap="none" anchor="ctr"/>
          <a:lstStyle/>
          <a:p>
            <a:endParaRPr lang="pt-B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75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5" name="Retângulo 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6" name="Retângulo 5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Retângulo 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10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  <a:prstGeom prst="rect">
            <a:avLst/>
          </a:prstGeo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06192BE-FEA2-4731-ABD4-8F541EDAA04B}" type="slidenum">
              <a:rPr lang="en-US" smtClean="0">
                <a:solidFill>
                  <a:schemeClr val="tx2">
                    <a:shade val="90000"/>
                  </a:schemeClr>
                </a:solidFill>
              </a:rPr>
              <a:pPr>
                <a:defRPr/>
              </a:pPr>
              <a:t>‹nº›</a:t>
            </a:fld>
            <a:r>
              <a:rPr lang="en-US" dirty="0" smtClean="0">
                <a:solidFill>
                  <a:schemeClr val="tx2">
                    <a:shade val="90000"/>
                  </a:schemeClr>
                </a:solidFill>
              </a:rPr>
              <a:t>/29</a:t>
            </a:r>
          </a:p>
          <a:p>
            <a:pPr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0B890-17C0-45B0-980F-70FD04076F59}" type="slidenum">
              <a:rPr lang="en-US"/>
              <a:pPr>
                <a:defRPr/>
              </a:pPr>
              <a:t>‹nº›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74C63-9F7F-4C72-9969-220D53961C2B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5" name="Retângulo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47890-4531-4DEC-8FB5-E98B26824604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91653-CA26-4615-8F5E-4BCE6C7649BF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527DF-82B0-413D-B144-3E21BD0C9B4C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B4CCC-3656-4E60-933C-4C43A1063229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CF783-30C8-4610-BE15-30255E833297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DE8EC-ECDD-426B-B6BF-086B5367FBFA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isósceles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4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25AB5-6D86-4E6A-9FF2-E30A4AF23B5D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1A596-8171-46DD-8C66-508A952A1387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ector reto 1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Triângulo isósceles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4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E0EA-6CC4-4FBC-AB7A-5966752B13F1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9CDCA-3BB3-41F8-8148-C8FDD0EE741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ector reto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Conector reto 5"/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riângulo isósceles 6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2" name="Espaço Reservado para Conteúdo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8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B8707-B26E-4553-B7F3-CE62785678F2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9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D2209-67B2-4052-80BF-695757A83BC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ector reto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riângulo isósceles 5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Retângulo 6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pt-BR" noProof="0" dirty="0" smtClean="0"/>
              <a:t>Clique no ícone para adicionar uma imagem</a:t>
            </a:r>
            <a:endParaRPr lang="en-US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8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A5676-C652-4E22-8F5F-59632CC62AC0}" type="datetimeFigureOut">
              <a:rPr lang="en-US"/>
              <a:pPr>
                <a:defRPr/>
              </a:pPr>
              <a:t>9/12/2021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A205C-0699-4FAF-8F82-9BDB2FB25B5D}" type="slidenum">
              <a:rPr lang="en-US"/>
              <a:pPr>
                <a:defRPr/>
              </a:pPr>
              <a:t>‹nº›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E64E3-CE69-4226-8648-5D1BED4BC405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BED4C-C8AE-440D-B9E8-775E425B61C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ector reto 3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riângulo isósceles 4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6" name="Conector reto 5"/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A64AE-61F2-4E5A-83E4-800E0A0E42A5}" type="datetimeFigureOut">
              <a:rPr lang="en-US"/>
              <a:pPr>
                <a:defRPr/>
              </a:pPr>
              <a:t>9/12/2021</a:t>
            </a:fld>
            <a:endParaRPr lang="en-US" dirty="0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0CE311-BD77-42D7-917F-D4997E304EB9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29" name="Conector reto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0" name="Triângulo isósceles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8388501" y="6460097"/>
            <a:ext cx="611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fld id="{E06192BE-FEA2-4731-ABD4-8F541EDAA04B}" type="slidenum">
              <a:rPr lang="en-US" sz="1200" smtClean="0">
                <a:solidFill>
                  <a:schemeClr val="tx2">
                    <a:shade val="90000"/>
                  </a:schemeClr>
                </a:solidFill>
              </a:rPr>
              <a:pPr marL="0" marR="0" indent="0" algn="l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/>
                <a:defRPr/>
              </a:pPr>
              <a:t>‹nº›</a:t>
            </a:fld>
            <a:r>
              <a:rPr lang="en-US" sz="1200" dirty="0" smtClean="0">
                <a:solidFill>
                  <a:schemeClr val="tx2">
                    <a:shade val="90000"/>
                  </a:schemeClr>
                </a:solidFill>
              </a:rPr>
              <a:t>/36</a:t>
            </a:r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0" r:id="rId1"/>
    <p:sldLayoutId id="2147484451" r:id="rId2"/>
    <p:sldLayoutId id="2147484452" r:id="rId3"/>
    <p:sldLayoutId id="2147484453" r:id="rId4"/>
    <p:sldLayoutId id="2147484454" r:id="rId5"/>
    <p:sldLayoutId id="2147484455" r:id="rId6"/>
    <p:sldLayoutId id="2147484456" r:id="rId7"/>
    <p:sldLayoutId id="2147484457" r:id="rId8"/>
    <p:sldLayoutId id="2147484458" r:id="rId9"/>
    <p:sldLayoutId id="2147484459" r:id="rId10"/>
    <p:sldLayoutId id="21474844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ChangeArrowheads="1"/>
          </p:cNvSpPr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3075" name="Rectangle 21"/>
          <p:cNvSpPr>
            <a:spLocks noChangeArrowheads="1"/>
          </p:cNvSpPr>
          <p:nvPr/>
        </p:nvSpPr>
        <p:spPr bwMode="auto">
          <a:xfrm>
            <a:off x="395288" y="5085184"/>
            <a:ext cx="828040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lnSpc>
                <a:spcPct val="110000"/>
              </a:lnSpc>
              <a:spcBef>
                <a:spcPct val="20000"/>
              </a:spcBef>
            </a:pPr>
            <a:r>
              <a:rPr lang="pt-BR" sz="1600" b="1" dirty="0" smtClean="0">
                <a:solidFill>
                  <a:srgbClr val="C7BDA9"/>
                </a:solidFill>
                <a:latin typeface="Garamond" pitchFamily="18" charset="0"/>
              </a:rPr>
              <a:t>FUNDAMENTOS DE ENGENHARIA DE SOFTWARE</a:t>
            </a:r>
          </a:p>
          <a:p>
            <a:pPr algn="r">
              <a:lnSpc>
                <a:spcPct val="110000"/>
              </a:lnSpc>
              <a:spcBef>
                <a:spcPct val="2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Bookman Old Style" pitchFamily="18" charset="0"/>
              </a:rPr>
              <a:t>Requisitos e Engenharia de Software</a:t>
            </a:r>
          </a:p>
          <a:p>
            <a:pPr algn="r">
              <a:lnSpc>
                <a:spcPct val="110000"/>
              </a:lnSpc>
              <a:spcBef>
                <a:spcPct val="20000"/>
              </a:spcBef>
            </a:pPr>
            <a:r>
              <a:rPr lang="pt-BR" sz="2000" b="1" dirty="0" smtClean="0">
                <a:solidFill>
                  <a:srgbClr val="C7BDA9"/>
                </a:solidFill>
                <a:latin typeface="Garamond" pitchFamily="18" charset="0"/>
              </a:rPr>
              <a:t>Profª. Simone de Assis Alves da Silva</a:t>
            </a:r>
          </a:p>
          <a:p>
            <a:pPr algn="r">
              <a:lnSpc>
                <a:spcPct val="110000"/>
              </a:lnSpc>
              <a:spcBef>
                <a:spcPct val="20000"/>
              </a:spcBef>
            </a:pPr>
            <a:endParaRPr lang="pt-BR" sz="2000" b="1" dirty="0" smtClean="0">
              <a:solidFill>
                <a:schemeClr val="bg1"/>
              </a:solidFill>
              <a:latin typeface="Bookman Old Style" pitchFamily="18" charset="0"/>
            </a:endParaRPr>
          </a:p>
        </p:txBody>
      </p:sp>
      <p:pic>
        <p:nvPicPr>
          <p:cNvPr id="3076" name="Picture 43" descr="brasão IEC bran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invGray">
          <a:xfrm>
            <a:off x="5219700" y="546100"/>
            <a:ext cx="4206875" cy="384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Rectangle 44"/>
          <p:cNvSpPr>
            <a:spLocks noChangeArrowheads="1"/>
          </p:cNvSpPr>
          <p:nvPr/>
        </p:nvSpPr>
        <p:spPr bwMode="white">
          <a:xfrm>
            <a:off x="5219700" y="476250"/>
            <a:ext cx="217488" cy="36004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3078" name="Rectangle 45"/>
          <p:cNvSpPr>
            <a:spLocks noChangeArrowheads="1"/>
          </p:cNvSpPr>
          <p:nvPr/>
        </p:nvSpPr>
        <p:spPr bwMode="auto">
          <a:xfrm>
            <a:off x="5322888" y="3540125"/>
            <a:ext cx="3529012" cy="1047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3079" name="Rectangle 46"/>
          <p:cNvSpPr>
            <a:spLocks noChangeArrowheads="1"/>
          </p:cNvSpPr>
          <p:nvPr/>
        </p:nvSpPr>
        <p:spPr bwMode="white">
          <a:xfrm>
            <a:off x="8818563" y="396875"/>
            <a:ext cx="217487" cy="35290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3080" name="Rectangle 47"/>
          <p:cNvSpPr>
            <a:spLocks noChangeArrowheads="1"/>
          </p:cNvSpPr>
          <p:nvPr/>
        </p:nvSpPr>
        <p:spPr bwMode="white">
          <a:xfrm>
            <a:off x="5435600" y="496888"/>
            <a:ext cx="3529013" cy="1047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3081" name="Rectangle 48"/>
          <p:cNvSpPr>
            <a:spLocks noChangeArrowheads="1"/>
          </p:cNvSpPr>
          <p:nvPr/>
        </p:nvSpPr>
        <p:spPr bwMode="white">
          <a:xfrm>
            <a:off x="4572000" y="3429000"/>
            <a:ext cx="4537075" cy="10080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Requisitos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Requisito x Especificação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800" dirty="0" smtClean="0"/>
          </a:p>
          <a:p>
            <a:r>
              <a:rPr lang="pt-BR" b="1" dirty="0" smtClean="0"/>
              <a:t>Requisito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“condição necessária para a obtenção de certo objetivo, ou para o preenchimento de certo fim”</a:t>
            </a:r>
          </a:p>
          <a:p>
            <a:endParaRPr lang="pt-BR" sz="800" dirty="0" smtClean="0"/>
          </a:p>
          <a:p>
            <a:r>
              <a:rPr lang="pt-BR" b="1" dirty="0" smtClean="0"/>
              <a:t>Especificação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“é uma descrição rigorosa e minuciosa das características que um material, uma obra, ou um serviço deverão apresentar”</a:t>
            </a:r>
          </a:p>
          <a:p>
            <a:pPr lvl="1" algn="r">
              <a:buNone/>
            </a:pPr>
            <a:endParaRPr lang="pt-BR" dirty="0" smtClean="0"/>
          </a:p>
          <a:p>
            <a:pPr lvl="1" algn="r">
              <a:buNone/>
            </a:pPr>
            <a:r>
              <a:rPr lang="pt-BR" sz="2000" dirty="0" smtClean="0"/>
              <a:t>(fonte: dicionário Aurélio)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um Requisito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pt-BR" sz="2400" dirty="0" smtClean="0"/>
              <a:t>Uma condição ou capacidade necessitada por um usuário</a:t>
            </a:r>
          </a:p>
          <a:p>
            <a:pPr lvl="1"/>
            <a:r>
              <a:rPr lang="pt-BR" sz="2000" dirty="0" smtClean="0"/>
              <a:t>para resolver um problema ou atingir um objetivo</a:t>
            </a:r>
          </a:p>
          <a:p>
            <a:r>
              <a:rPr lang="pt-BR" sz="2400" dirty="0" smtClean="0"/>
              <a:t>Uma condição ou capacidade que deve ser cumprida ou possuída por um sistema ou componente do sistema</a:t>
            </a:r>
          </a:p>
          <a:p>
            <a:pPr lvl="1"/>
            <a:r>
              <a:rPr lang="pt-BR" sz="2000" dirty="0" smtClean="0"/>
              <a:t>para satisfazer um contrato, padrão, ou outro documento formal imposto</a:t>
            </a:r>
          </a:p>
          <a:p>
            <a:r>
              <a:rPr lang="pt-BR" sz="2400" dirty="0" smtClean="0"/>
              <a:t>Característica que define um dos critérios de aceitação de um produto</a:t>
            </a:r>
          </a:p>
          <a:p>
            <a:r>
              <a:rPr lang="pt-BR" sz="2400" dirty="0" smtClean="0"/>
              <a:t>Qualquer característica externa do sistema</a:t>
            </a:r>
          </a:p>
          <a:p>
            <a:pPr lvl="1"/>
            <a:r>
              <a:rPr lang="pt-BR" sz="2000" dirty="0" smtClean="0"/>
              <a:t>observada por um usuário, comprador, ou cliente que participe do desenvolvimento desse sistema</a:t>
            </a:r>
          </a:p>
          <a:p>
            <a:r>
              <a:rPr lang="pt-BR" sz="2400" dirty="0" smtClean="0"/>
              <a:t>Descrição de uma das funções ou restrições do sistema</a:t>
            </a:r>
          </a:p>
          <a:p>
            <a:pPr lvl="1"/>
            <a:r>
              <a:rPr lang="pt-BR" sz="2000" dirty="0" smtClean="0"/>
              <a:t>gerada durante o processo de engenharia de requisitos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Importância e Finalidade dos 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Erros durante a etapa de requisitos podem causar:</a:t>
            </a:r>
          </a:p>
          <a:p>
            <a:pPr lvl="1"/>
            <a:r>
              <a:rPr lang="pt-BR" dirty="0" smtClean="0"/>
              <a:t>perda de vidas</a:t>
            </a:r>
          </a:p>
          <a:p>
            <a:pPr lvl="1"/>
            <a:r>
              <a:rPr lang="pt-BR" dirty="0" smtClean="0"/>
              <a:t>prejuízos financeiros</a:t>
            </a:r>
          </a:p>
          <a:p>
            <a:pPr lvl="1"/>
            <a:r>
              <a:rPr lang="pt-BR" dirty="0" smtClean="0"/>
              <a:t>atrasos nas entregas</a:t>
            </a:r>
          </a:p>
          <a:p>
            <a:pPr lvl="1"/>
            <a:r>
              <a:rPr lang="pt-BR" dirty="0" smtClean="0"/>
              <a:t>aumento de riscos</a:t>
            </a:r>
          </a:p>
          <a:p>
            <a:pPr lvl="1"/>
            <a:r>
              <a:rPr lang="pt-BR" dirty="0" smtClean="0"/>
              <a:t>baixa qualidade</a:t>
            </a:r>
          </a:p>
          <a:p>
            <a:r>
              <a:rPr lang="pt-BR" dirty="0" smtClean="0"/>
              <a:t>Podem ser utilizados como base:</a:t>
            </a:r>
          </a:p>
          <a:p>
            <a:pPr lvl="1"/>
            <a:r>
              <a:rPr lang="pt-BR" dirty="0" smtClean="0"/>
              <a:t>para que potenciais fornecedores apresentem suas propostas</a:t>
            </a:r>
          </a:p>
          <a:p>
            <a:pPr lvl="2"/>
            <a:r>
              <a:rPr lang="pt-BR" dirty="0" smtClean="0"/>
              <a:t>descrição em alto nível</a:t>
            </a:r>
          </a:p>
          <a:p>
            <a:pPr lvl="1"/>
            <a:r>
              <a:rPr lang="pt-BR" dirty="0" smtClean="0"/>
              <a:t>de um contrato</a:t>
            </a:r>
          </a:p>
          <a:p>
            <a:pPr lvl="2"/>
            <a:r>
              <a:rPr lang="pt-BR" dirty="0" smtClean="0"/>
              <a:t>descrição mais detalhada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dirty="0" smtClean="0"/>
              <a:t>Funcionais</a:t>
            </a:r>
          </a:p>
          <a:p>
            <a:r>
              <a:rPr lang="pt-BR" dirty="0" smtClean="0"/>
              <a:t>Não Funcionais</a:t>
            </a:r>
          </a:p>
          <a:p>
            <a:r>
              <a:rPr lang="pt-BR" dirty="0" smtClean="0"/>
              <a:t>Restrições de projeto</a:t>
            </a:r>
          </a:p>
          <a:p>
            <a:r>
              <a:rPr lang="pt-BR" dirty="0" smtClean="0"/>
              <a:t>Restrições de processo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Requisitos Funcionais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000" dirty="0" smtClean="0"/>
              <a:t>São os mais comuns</a:t>
            </a:r>
          </a:p>
          <a:p>
            <a:endParaRPr lang="pt-BR" sz="1000" dirty="0" smtClean="0"/>
          </a:p>
          <a:p>
            <a:r>
              <a:rPr lang="pt-BR" sz="2000" dirty="0" smtClean="0"/>
              <a:t>Correspondem à listagem de tudo que o sistema deve fazer</a:t>
            </a:r>
          </a:p>
          <a:p>
            <a:pPr lvl="1"/>
            <a:r>
              <a:rPr lang="pt-BR" sz="1700" dirty="0" smtClean="0"/>
              <a:t>quando ele deve atuar</a:t>
            </a:r>
          </a:p>
          <a:p>
            <a:pPr lvl="1"/>
            <a:r>
              <a:rPr lang="pt-BR" sz="1700" dirty="0" smtClean="0"/>
              <a:t>quais cálculos devem ser realizados</a:t>
            </a:r>
          </a:p>
          <a:p>
            <a:pPr lvl="1"/>
            <a:r>
              <a:rPr lang="pt-BR" sz="1700" dirty="0" smtClean="0"/>
              <a:t>como deve reagir a eventos externo</a:t>
            </a:r>
          </a:p>
          <a:p>
            <a:pPr lvl="1"/>
            <a:endParaRPr lang="pt-BR" sz="1000" dirty="0" smtClean="0"/>
          </a:p>
          <a:p>
            <a:r>
              <a:rPr lang="pt-BR" sz="2000" dirty="0" smtClean="0"/>
              <a:t>Definem detalhadamente:</a:t>
            </a:r>
          </a:p>
          <a:p>
            <a:pPr lvl="1"/>
            <a:r>
              <a:rPr lang="pt-BR" sz="1800" dirty="0" smtClean="0"/>
              <a:t>as funcionalidades ou os serviços esperados do sistema</a:t>
            </a:r>
          </a:p>
          <a:p>
            <a:pPr lvl="1"/>
            <a:r>
              <a:rPr lang="pt-BR" sz="1800" dirty="0" smtClean="0"/>
              <a:t>como o sistema deve reagir a entradas específicas</a:t>
            </a:r>
          </a:p>
          <a:p>
            <a:pPr lvl="1"/>
            <a:r>
              <a:rPr lang="pt-BR" sz="1800" dirty="0" smtClean="0"/>
              <a:t>como o sistema deve se comportar em determinadas situações</a:t>
            </a:r>
          </a:p>
          <a:p>
            <a:pPr lvl="1"/>
            <a:endParaRPr lang="pt-BR" sz="1000" dirty="0" smtClean="0"/>
          </a:p>
          <a:p>
            <a:r>
              <a:rPr lang="pt-BR" sz="2000" dirty="0" smtClean="0"/>
              <a:t>Também definem informações sobre os dados:</a:t>
            </a:r>
          </a:p>
          <a:p>
            <a:pPr lvl="1"/>
            <a:r>
              <a:rPr lang="pt-BR" sz="1800" dirty="0" smtClean="0"/>
              <a:t>Qual deve ser o formato dos dados de entrada e saída</a:t>
            </a:r>
          </a:p>
          <a:p>
            <a:pPr lvl="1"/>
            <a:r>
              <a:rPr lang="pt-BR" sz="1800" dirty="0" smtClean="0"/>
              <a:t>Quais dados devem ser armazenados</a:t>
            </a:r>
            <a:endParaRPr lang="pt-BR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Requisitos Funcionais - Exemplos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 anchor="t"/>
          <a:lstStyle/>
          <a:p>
            <a:pPr algn="just">
              <a:spcAft>
                <a:spcPts val="800"/>
              </a:spcAft>
            </a:pPr>
            <a:r>
              <a:rPr lang="pt-BR" sz="2100" dirty="0" smtClean="0"/>
              <a:t>O professor deve cadastrar as avaliações da disciplina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usuário deve ser capaz de pesquisar todo o acervo da biblioteca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Cada pedido de compra deverá ser analisado pelo gestor de compras, que poderá decidir por aprová-lo ou retorná-lo ao solicitante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sistema registrará toda movimentação diária do caixa como entrada e saída de capital, venda de produto, pagamento de contas, pagamento a fornecedor e recebido cliente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</a:t>
            </a:r>
            <a:r>
              <a:rPr lang="pt-BR" sz="2100" dirty="0" smtClean="0"/>
              <a:t>sistema </a:t>
            </a:r>
            <a:r>
              <a:rPr lang="pt-BR" sz="2100" dirty="0" smtClean="0"/>
              <a:t>possibilitará uma pesquisa sobre as contas de </a:t>
            </a:r>
            <a:r>
              <a:rPr lang="pt-BR" sz="2100" dirty="0" smtClean="0"/>
              <a:t>usuários (deste sistema) </a:t>
            </a:r>
            <a:r>
              <a:rPr lang="pt-BR" sz="2100" dirty="0" smtClean="0"/>
              <a:t>existentes e </a:t>
            </a:r>
            <a:r>
              <a:rPr lang="pt-BR" sz="2100" dirty="0" smtClean="0"/>
              <a:t>disponibilizará </a:t>
            </a:r>
            <a:r>
              <a:rPr lang="pt-BR" sz="2100" dirty="0" smtClean="0"/>
              <a:t>essas informações, exceto senha. Sua busca será feita pelo nome do usuário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sistema deverá possibilitar a exclusão pelo nome do </a:t>
            </a:r>
            <a:r>
              <a:rPr lang="pt-BR" sz="2100" dirty="0" smtClean="0"/>
              <a:t>funcionário, atualizando </a:t>
            </a:r>
            <a:r>
              <a:rPr lang="pt-BR" sz="2100" dirty="0" smtClean="0"/>
              <a:t>automaticamente no banco de dados</a:t>
            </a:r>
          </a:p>
          <a:p>
            <a:pPr algn="just">
              <a:spcAft>
                <a:spcPts val="800"/>
              </a:spcAft>
            </a:pPr>
            <a:endParaRPr lang="pt-BR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Requisitos Não Funcionais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sz="2200" dirty="0" smtClean="0"/>
              <a:t>São restrições colocadas sobre como o sistema deve realizar seus requisitos funcionais</a:t>
            </a:r>
          </a:p>
          <a:p>
            <a:pPr algn="just"/>
            <a:endParaRPr lang="pt-BR" sz="1000" dirty="0" smtClean="0"/>
          </a:p>
          <a:p>
            <a:pPr algn="just"/>
            <a:r>
              <a:rPr lang="pt-BR" sz="2200" dirty="0" smtClean="0"/>
              <a:t>Quantificam determinados aspectos do comportamento do sistema devendo ser mensuráveis</a:t>
            </a:r>
          </a:p>
          <a:p>
            <a:pPr lvl="1" algn="just"/>
            <a:r>
              <a:rPr lang="pt-BR" sz="2000" dirty="0" smtClean="0"/>
              <a:t>deve-se associar uma métrica a para cada requisito não funcional definido</a:t>
            </a:r>
          </a:p>
          <a:p>
            <a:pPr lvl="1" algn="just"/>
            <a:r>
              <a:rPr lang="pt-BR" sz="2000" dirty="0" smtClean="0"/>
              <a:t>Após a implementação deve ser possível testá-los objetivamente</a:t>
            </a:r>
          </a:p>
          <a:p>
            <a:pPr lvl="1" algn="just"/>
            <a:endParaRPr lang="pt-BR" sz="1000" dirty="0" smtClean="0"/>
          </a:p>
          <a:p>
            <a:pPr algn="just"/>
            <a:r>
              <a:rPr lang="pt-BR" sz="2200" dirty="0" smtClean="0"/>
              <a:t>Podem ser mais críticos do que requisitos funcionais</a:t>
            </a:r>
          </a:p>
          <a:p>
            <a:pPr lvl="1" algn="just"/>
            <a:r>
              <a:rPr lang="pt-BR" sz="2000" dirty="0" smtClean="0"/>
              <a:t>se não forem atendidos, o sistema pode se tornar inútil</a:t>
            </a:r>
          </a:p>
          <a:p>
            <a:pPr lvl="1" algn="just"/>
            <a:endParaRPr lang="pt-BR" sz="1000" dirty="0" smtClean="0"/>
          </a:p>
          <a:p>
            <a:pPr algn="just"/>
            <a:r>
              <a:rPr lang="pt-BR" sz="2200" dirty="0" smtClean="0"/>
              <a:t>Podem influenciar um ou mais requisitos funcionais ou mesmo todos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Requisitos Não Funcionais - Exemplos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spcAft>
                <a:spcPts val="800"/>
              </a:spcAft>
            </a:pPr>
            <a:r>
              <a:rPr lang="pt-BR" sz="2100" dirty="0" smtClean="0"/>
              <a:t>Toda consulta ao acervo da biblioteca deve ser respondida em até 30 segundos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sistema deve ser dimensionado para suportar até 100 usuários simultâneos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A interface do sistema será agradável, objetiva e trivial ao usuário. Suas funcionalidades e informações deverão estar bem visíveis e disponíveis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site deve estar disponível </a:t>
            </a:r>
            <a:r>
              <a:rPr lang="pt-BR" sz="2100" dirty="0" smtClean="0"/>
              <a:t>99,99% </a:t>
            </a:r>
            <a:r>
              <a:rPr lang="pt-BR" sz="2100" dirty="0" smtClean="0"/>
              <a:t>do tempo para evitar que o usuário procure outro site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O software deve ser multiplataforma</a:t>
            </a:r>
          </a:p>
          <a:p>
            <a:pPr algn="just">
              <a:spcAft>
                <a:spcPts val="800"/>
              </a:spcAft>
            </a:pPr>
            <a:r>
              <a:rPr lang="pt-BR" sz="2100" dirty="0" smtClean="0"/>
              <a:t>Informações pessoais do usuário não podem ser vistas pelos operadores do sistema</a:t>
            </a:r>
          </a:p>
          <a:p>
            <a:pPr algn="just">
              <a:spcAft>
                <a:spcPts val="800"/>
              </a:spcAft>
            </a:pPr>
            <a:endParaRPr lang="pt-BR" sz="2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 smtClean="0"/>
              <a:t>Métricas para Requisitos Não Funcionais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8912" y="1248317"/>
            <a:ext cx="6984776" cy="5061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Restrições 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06144"/>
          </a:xfrm>
        </p:spPr>
        <p:txBody>
          <a:bodyPr/>
          <a:lstStyle/>
          <a:p>
            <a:r>
              <a:rPr lang="pt-BR" sz="2400" dirty="0" smtClean="0"/>
              <a:t>São restrições relativas a fatores externos ao sistema, como:</a:t>
            </a:r>
          </a:p>
          <a:p>
            <a:pPr lvl="1"/>
            <a:r>
              <a:rPr lang="pt-BR" sz="2000" dirty="0" smtClean="0"/>
              <a:t>ambiente de desenvolvimento ou de operação:</a:t>
            </a:r>
          </a:p>
          <a:p>
            <a:pPr lvl="2"/>
            <a:r>
              <a:rPr lang="pt-BR" sz="1800" dirty="0" smtClean="0"/>
              <a:t>onde ficará o equipamento?</a:t>
            </a:r>
          </a:p>
          <a:p>
            <a:pPr lvl="2"/>
            <a:r>
              <a:rPr lang="pt-BR" sz="1800" dirty="0" smtClean="0"/>
              <a:t>há restrições de temperatura, umidade ou outras?</a:t>
            </a:r>
          </a:p>
          <a:p>
            <a:pPr lvl="2"/>
            <a:r>
              <a:rPr lang="pt-BR" sz="1800" dirty="0" smtClean="0"/>
              <a:t>há restrições no tamanho do sistema?</a:t>
            </a:r>
          </a:p>
          <a:p>
            <a:pPr lvl="2"/>
            <a:r>
              <a:rPr lang="pt-BR" sz="1800" dirty="0" smtClean="0"/>
              <a:t>há restrições na linguagem de programação usada, devido a outros sistemas já existentes?</a:t>
            </a:r>
          </a:p>
          <a:p>
            <a:r>
              <a:rPr lang="pt-BR" sz="2400" dirty="0" smtClean="0"/>
              <a:t>Interfaces com outros sistemas:</a:t>
            </a:r>
          </a:p>
          <a:p>
            <a:pPr lvl="1"/>
            <a:r>
              <a:rPr lang="pt-BR" sz="2000" dirty="0" smtClean="0"/>
              <a:t>o sistema receberá dados de outros sistemas?</a:t>
            </a:r>
          </a:p>
          <a:p>
            <a:pPr lvl="1"/>
            <a:r>
              <a:rPr lang="pt-BR" sz="2000" dirty="0" smtClean="0"/>
              <a:t>o sistema enviará dados para algum outro sistema?</a:t>
            </a:r>
          </a:p>
          <a:p>
            <a:r>
              <a:rPr lang="pt-BR" sz="2400" dirty="0" smtClean="0"/>
              <a:t>Usuários do sistema:</a:t>
            </a:r>
          </a:p>
          <a:p>
            <a:pPr lvl="1"/>
            <a:r>
              <a:rPr lang="pt-BR" sz="2000" dirty="0" smtClean="0"/>
              <a:t>quem usará o sistema?</a:t>
            </a:r>
          </a:p>
          <a:p>
            <a:pPr lvl="1"/>
            <a:r>
              <a:rPr lang="pt-BR" sz="2000" dirty="0" smtClean="0"/>
              <a:t>haverá diversos tipos de usuário?</a:t>
            </a:r>
          </a:p>
          <a:p>
            <a:pPr lvl="1"/>
            <a:r>
              <a:rPr lang="pt-BR" sz="2000" dirty="0" smtClean="0"/>
              <a:t>qual é o nível esperado de habilidades dos usuários</a:t>
            </a:r>
            <a:r>
              <a:rPr lang="pt-BR" sz="2000" dirty="0" smtClean="0"/>
              <a:t>?</a:t>
            </a:r>
          </a:p>
          <a:p>
            <a:pPr lvl="1"/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Restrições de Processo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restrições relativas à forma como o desenvolvimento do sistema será conduzido como: </a:t>
            </a:r>
          </a:p>
          <a:p>
            <a:pPr lvl="1"/>
            <a:r>
              <a:rPr lang="pt-BR" dirty="0" smtClean="0"/>
              <a:t>recursos disponíveis:</a:t>
            </a:r>
          </a:p>
          <a:p>
            <a:pPr lvl="2"/>
            <a:r>
              <a:rPr lang="pt-BR" dirty="0" smtClean="0"/>
              <a:t>há restrições de materiais ou pessoas disponíveis para o projeto?</a:t>
            </a:r>
          </a:p>
          <a:p>
            <a:pPr lvl="2"/>
            <a:r>
              <a:rPr lang="pt-BR" dirty="0" smtClean="0"/>
              <a:t>qual é o nível esperado de capacidade dos desenvolvedores?</a:t>
            </a:r>
          </a:p>
          <a:p>
            <a:pPr lvl="1"/>
            <a:r>
              <a:rPr lang="pt-BR" dirty="0" smtClean="0"/>
              <a:t>documentação exigida:</a:t>
            </a:r>
          </a:p>
          <a:p>
            <a:pPr lvl="2"/>
            <a:r>
              <a:rPr lang="pt-BR" dirty="0" smtClean="0"/>
              <a:t>quanta documentação é necessária?</a:t>
            </a:r>
          </a:p>
          <a:p>
            <a:pPr lvl="2"/>
            <a:r>
              <a:rPr lang="pt-BR" dirty="0" smtClean="0"/>
              <a:t>em que formato (on-line, impresso, etc.)?</a:t>
            </a:r>
          </a:p>
          <a:p>
            <a:pPr lvl="1"/>
            <a:r>
              <a:rPr lang="pt-BR" dirty="0" smtClean="0"/>
              <a:t>normas a serem seguidas:</a:t>
            </a:r>
          </a:p>
          <a:p>
            <a:pPr lvl="2"/>
            <a:r>
              <a:rPr lang="pt-BR" dirty="0" smtClean="0"/>
              <a:t>existem normas que devem ser seguidas?</a:t>
            </a:r>
          </a:p>
          <a:p>
            <a:pPr lvl="1"/>
            <a:r>
              <a:rPr lang="pt-BR" dirty="0" smtClean="0"/>
              <a:t>processo de desenvolvimento de software a ser seguido:</a:t>
            </a:r>
          </a:p>
          <a:p>
            <a:pPr lvl="2"/>
            <a:r>
              <a:rPr lang="pt-BR" dirty="0" smtClean="0"/>
              <a:t>o sistema precisa ser desenvolvido seguindo algum processo?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Regras de Negócio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Regras de negócio ou propriedades do domínio:</a:t>
            </a:r>
          </a:p>
          <a:p>
            <a:pPr lvl="1"/>
            <a:r>
              <a:rPr lang="pt-BR" dirty="0" smtClean="0"/>
              <a:t>não são requisitos</a:t>
            </a:r>
          </a:p>
          <a:p>
            <a:pPr lvl="1"/>
            <a:r>
              <a:rPr lang="pt-BR" dirty="0" smtClean="0"/>
              <a:t>são fatos sobre o meio em que o sistema será inserido</a:t>
            </a:r>
          </a:p>
          <a:p>
            <a:pPr lvl="1"/>
            <a:r>
              <a:rPr lang="pt-BR" dirty="0" smtClean="0"/>
              <a:t>são verdadeiras mesmo se não houver um sistema</a:t>
            </a:r>
          </a:p>
          <a:p>
            <a:pPr lvl="1"/>
            <a:r>
              <a:rPr lang="pt-BR" dirty="0" smtClean="0"/>
              <a:t>são relevantes para o desenvolvimento correto do sistema</a:t>
            </a:r>
          </a:p>
          <a:p>
            <a:pPr lvl="1"/>
            <a:r>
              <a:rPr lang="pt-BR" dirty="0" smtClean="0"/>
              <a:t>se não forem seguidas, o sistema pode se tornar inútil</a:t>
            </a:r>
          </a:p>
          <a:p>
            <a:pPr lvl="1"/>
            <a:endParaRPr lang="pt-BR" sz="1000" dirty="0" smtClean="0"/>
          </a:p>
          <a:p>
            <a:r>
              <a:rPr lang="pt-BR" dirty="0" smtClean="0"/>
              <a:t>Exemplos:</a:t>
            </a:r>
          </a:p>
          <a:p>
            <a:pPr lvl="1"/>
            <a:r>
              <a:rPr lang="pt-BR" dirty="0" smtClean="0"/>
              <a:t>um aluno não pode se matricular em mais de 28 créditos por semestre</a:t>
            </a:r>
          </a:p>
          <a:p>
            <a:pPr lvl="1"/>
            <a:r>
              <a:rPr lang="pt-BR" dirty="0" smtClean="0"/>
              <a:t>cheques vencem 30 dias após sua emissão</a:t>
            </a:r>
          </a:p>
          <a:p>
            <a:pPr lvl="1"/>
            <a:r>
              <a:rPr lang="pt-BR" dirty="0" smtClean="0"/>
              <a:t>a temperatura do paciente, deve ser medida a cada 2 horas</a:t>
            </a:r>
            <a:endParaRPr lang="pt-B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Engenharia de Requisitos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Engenharia de 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 hangingPunct="0">
              <a:spcAft>
                <a:spcPts val="800"/>
              </a:spcAft>
            </a:pPr>
            <a:r>
              <a:rPr lang="pt-BR" dirty="0" smtClean="0"/>
              <a:t>Desenvolvedores tem compulsão por começar </a:t>
            </a:r>
            <a:r>
              <a:rPr lang="pt-BR" dirty="0" smtClean="0"/>
              <a:t>projetos</a:t>
            </a:r>
            <a:endParaRPr lang="pt-BR" dirty="0" smtClean="0"/>
          </a:p>
          <a:p>
            <a:pPr lvl="0" algn="just" hangingPunct="0">
              <a:spcAft>
                <a:spcPts val="800"/>
              </a:spcAft>
            </a:pPr>
            <a:r>
              <a:rPr lang="pt-BR" dirty="0" smtClean="0"/>
              <a:t>Para eles, “as coisas vão ficando mais claras à medida que o software vai sendo criado”</a:t>
            </a:r>
          </a:p>
          <a:p>
            <a:pPr lvl="0" algn="just" hangingPunct="0">
              <a:spcAft>
                <a:spcPts val="800"/>
              </a:spcAft>
            </a:pPr>
            <a:r>
              <a:rPr lang="pt-BR" dirty="0" smtClean="0"/>
              <a:t>No entanto, criar software é como um prédio, se a base for fraca, o resto terá problemas</a:t>
            </a:r>
          </a:p>
          <a:p>
            <a:pPr algn="just">
              <a:spcAft>
                <a:spcPts val="800"/>
              </a:spcAft>
            </a:pPr>
            <a:r>
              <a:rPr lang="pt-BR" dirty="0" smtClean="0"/>
              <a:t>A </a:t>
            </a:r>
            <a:r>
              <a:rPr lang="pt-BR" dirty="0" smtClean="0"/>
              <a:t>solução passa a ser reconstruir o prédio do início ou remendar até “dar certo” </a:t>
            </a:r>
          </a:p>
          <a:p>
            <a:pPr algn="just">
              <a:spcAft>
                <a:spcPts val="800"/>
              </a:spcAft>
            </a:pPr>
            <a:r>
              <a:rPr lang="pt-BR" dirty="0" smtClean="0"/>
              <a:t>A Engenharia de Requisitos busca essa:</a:t>
            </a:r>
          </a:p>
          <a:p>
            <a:pPr algn="just">
              <a:spcAft>
                <a:spcPts val="800"/>
              </a:spcAft>
              <a:buNone/>
            </a:pPr>
            <a:r>
              <a:rPr lang="pt-BR" dirty="0" smtClean="0"/>
              <a:t>					 </a:t>
            </a:r>
            <a:r>
              <a:rPr lang="pt-BR" b="1" dirty="0" smtClean="0"/>
              <a:t>“base de sustentação” 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Engenharia de 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0" algn="just" hangingPunct="0"/>
            <a:r>
              <a:rPr lang="pt-BR" dirty="0" smtClean="0"/>
              <a:t>Adoção de métodos e técnicas sistemáticas para a obtenção de requisitos do sistema </a:t>
            </a:r>
            <a:r>
              <a:rPr lang="pt-BR" sz="2800" dirty="0" smtClean="0"/>
              <a:t> </a:t>
            </a:r>
          </a:p>
          <a:p>
            <a:pPr lvl="0" algn="just" hangingPunct="0"/>
            <a:endParaRPr lang="pt-BR" sz="1100" dirty="0" smtClean="0"/>
          </a:p>
          <a:p>
            <a:pPr lvl="0" algn="just" hangingPunct="0"/>
            <a:r>
              <a:rPr lang="pt-BR" dirty="0" smtClean="0"/>
              <a:t>Fundamental no início do processo e na etapa inicial de modelagem </a:t>
            </a:r>
          </a:p>
          <a:p>
            <a:pPr lvl="0" algn="just" hangingPunct="0"/>
            <a:endParaRPr lang="pt-BR" sz="1100" dirty="0" smtClean="0"/>
          </a:p>
          <a:p>
            <a:pPr algn="just"/>
            <a:r>
              <a:rPr lang="pt-BR" dirty="0" smtClean="0"/>
              <a:t>Procura promover a padronização da comunicação entre cliente e desenvolvedor/analista </a:t>
            </a:r>
          </a:p>
          <a:p>
            <a:pPr algn="just"/>
            <a:endParaRPr lang="pt-BR" sz="1100" dirty="0" smtClean="0"/>
          </a:p>
          <a:p>
            <a:pPr lvl="0" algn="just" hangingPunct="0"/>
            <a:r>
              <a:rPr lang="pt-BR" dirty="0" smtClean="0"/>
              <a:t>Objetivos :</a:t>
            </a:r>
            <a:endParaRPr lang="pt-BR" sz="1100" dirty="0" smtClean="0"/>
          </a:p>
          <a:p>
            <a:pPr lvl="1" algn="just" hangingPunct="0"/>
            <a:r>
              <a:rPr lang="pt-BR" dirty="0" smtClean="0"/>
              <a:t>Entender o que o cliente deseja </a:t>
            </a:r>
            <a:endParaRPr lang="pt-BR" sz="1100" dirty="0" smtClean="0"/>
          </a:p>
          <a:p>
            <a:pPr lvl="1" algn="just" hangingPunct="0"/>
            <a:r>
              <a:rPr lang="pt-BR" dirty="0" smtClean="0"/>
              <a:t>Avaliar a viabilidade </a:t>
            </a:r>
            <a:endParaRPr lang="pt-BR" sz="1100" dirty="0" smtClean="0"/>
          </a:p>
          <a:p>
            <a:pPr lvl="1" algn="just" hangingPunct="0"/>
            <a:r>
              <a:rPr lang="pt-BR" dirty="0" smtClean="0"/>
              <a:t>Negociar condições razoáveis </a:t>
            </a:r>
          </a:p>
          <a:p>
            <a:pPr lvl="1" algn="just" hangingPunct="0"/>
            <a:r>
              <a:rPr lang="pt-BR" dirty="0" smtClean="0"/>
              <a:t>Especificar o software de modo não ambíguo </a:t>
            </a:r>
            <a:endParaRPr lang="pt-BR" sz="1100" dirty="0" smtClean="0"/>
          </a:p>
          <a:p>
            <a:pPr lvl="1" algn="just" hangingPunct="0"/>
            <a:r>
              <a:rPr lang="pt-BR" dirty="0" smtClean="0"/>
              <a:t>Gerenciar requisitos</a:t>
            </a:r>
          </a:p>
          <a:p>
            <a:pPr lvl="1" algn="just" hangingPunct="0"/>
            <a:r>
              <a:rPr lang="pt-BR" dirty="0" smtClean="0"/>
              <a:t>Guiar os clientes para checar a integridade dos requisitos</a:t>
            </a:r>
            <a:endParaRPr lang="pt-BR" sz="1100" dirty="0" smtClean="0"/>
          </a:p>
          <a:p>
            <a:pPr algn="just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Processos da </a:t>
            </a:r>
            <a:r>
              <a:rPr lang="pt-BR" dirty="0" smtClean="0"/>
              <a:t>Engenharia de Requisitos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sz="quarter" idx="1"/>
          </p:nvPr>
        </p:nvGraphicFramePr>
        <p:xfrm>
          <a:off x="961256" y="1628800"/>
          <a:ext cx="6851104" cy="417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Etapas de Engenharia de 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95536" y="5013176"/>
            <a:ext cx="8496944" cy="1152128"/>
          </a:xfrm>
        </p:spPr>
        <p:txBody>
          <a:bodyPr/>
          <a:lstStyle/>
          <a:p>
            <a:pPr lvl="0" hangingPunct="0"/>
            <a:r>
              <a:rPr lang="pt-BR" sz="1800" dirty="0" smtClean="0"/>
              <a:t>As etapas podem seguir em paralelo</a:t>
            </a:r>
          </a:p>
          <a:p>
            <a:pPr lvl="0" hangingPunct="0"/>
            <a:r>
              <a:rPr lang="pt-BR" sz="1800" dirty="0" smtClean="0"/>
              <a:t>São necessárias para que o cliente possa entender o que deseja em seu sistema</a:t>
            </a:r>
          </a:p>
          <a:p>
            <a:endParaRPr lang="pt-BR" sz="1800" dirty="0"/>
          </a:p>
        </p:txBody>
      </p:sp>
      <p:graphicFrame>
        <p:nvGraphicFramePr>
          <p:cNvPr id="4" name="Diagrama 3"/>
          <p:cNvGraphicFramePr/>
          <p:nvPr/>
        </p:nvGraphicFramePr>
        <p:xfrm>
          <a:off x="395536" y="1484784"/>
          <a:ext cx="8064896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1 - Concepção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lvl="0" hangingPunct="0"/>
            <a:r>
              <a:rPr lang="pt-BR" sz="2800" dirty="0" smtClean="0"/>
              <a:t>Objetivo:</a:t>
            </a:r>
          </a:p>
          <a:p>
            <a:pPr lvl="1" hangingPunct="0"/>
            <a:r>
              <a:rPr lang="pt-BR" sz="2500" dirty="0" smtClean="0"/>
              <a:t>Estabelecer um entendimento básico do problema</a:t>
            </a:r>
          </a:p>
          <a:p>
            <a:pPr lvl="0" hangingPunct="0"/>
            <a:endParaRPr lang="pt-BR" sz="1300" dirty="0" smtClean="0"/>
          </a:p>
          <a:p>
            <a:pPr hangingPunct="0"/>
            <a:r>
              <a:rPr lang="pt-BR" sz="2800" dirty="0" smtClean="0"/>
              <a:t>Compreende:</a:t>
            </a:r>
          </a:p>
          <a:p>
            <a:pPr lvl="1" hangingPunct="0"/>
            <a:r>
              <a:rPr lang="pt-BR" sz="2500" dirty="0" smtClean="0"/>
              <a:t>Identificação do caso de negócio</a:t>
            </a:r>
          </a:p>
          <a:p>
            <a:pPr lvl="1" hangingPunct="0"/>
            <a:r>
              <a:rPr lang="pt-BR" sz="2500" dirty="0" smtClean="0"/>
              <a:t>Análise de viabilidade mais superficial</a:t>
            </a:r>
            <a:endParaRPr lang="pt-BR" sz="1700" dirty="0" smtClean="0"/>
          </a:p>
          <a:p>
            <a:pPr lvl="1" hangingPunct="0"/>
            <a:r>
              <a:rPr lang="pt-BR" sz="2500" dirty="0" smtClean="0"/>
              <a:t>Descrição do escopo do projeto</a:t>
            </a:r>
          </a:p>
          <a:p>
            <a:pPr hangingPunct="0"/>
            <a:endParaRPr lang="pt-BR" sz="1300" dirty="0" smtClean="0"/>
          </a:p>
          <a:p>
            <a:pPr hangingPunct="0"/>
            <a:r>
              <a:rPr lang="pt-BR" sz="2800" dirty="0" smtClean="0"/>
              <a:t>Podem ser feitas perguntas simples e livres de contexto: </a:t>
            </a:r>
            <a:endParaRPr lang="pt-BR" sz="1200" dirty="0" smtClean="0"/>
          </a:p>
          <a:p>
            <a:pPr lvl="1" hangingPunct="0"/>
            <a:r>
              <a:rPr lang="pt-BR" sz="2400" dirty="0" smtClean="0"/>
              <a:t>Quem está por trás da solicitação desse trabalho? </a:t>
            </a:r>
            <a:endParaRPr lang="pt-BR" sz="1200" dirty="0" smtClean="0"/>
          </a:p>
          <a:p>
            <a:pPr lvl="1" hangingPunct="0"/>
            <a:r>
              <a:rPr lang="pt-BR" sz="2400" dirty="0" smtClean="0"/>
              <a:t>Quem vai usar a solução? </a:t>
            </a:r>
            <a:endParaRPr lang="pt-BR" sz="1800" dirty="0" smtClean="0"/>
          </a:p>
          <a:p>
            <a:pPr lvl="1" hangingPunct="0"/>
            <a:r>
              <a:rPr lang="pt-BR" sz="2400" dirty="0" smtClean="0"/>
              <a:t>Qual será o benefício econômico dessa solução? </a:t>
            </a:r>
            <a:endParaRPr lang="pt-BR" sz="1800" dirty="0" smtClean="0"/>
          </a:p>
          <a:p>
            <a:pPr lvl="1" hangingPunct="0"/>
            <a:r>
              <a:rPr lang="pt-BR" sz="2400" dirty="0" smtClean="0"/>
              <a:t>Que problemas esse solução enfrenta? </a:t>
            </a:r>
            <a:endParaRPr lang="pt-BR" sz="1800" dirty="0" smtClean="0"/>
          </a:p>
          <a:p>
            <a:pPr lvl="1" hangingPunct="0"/>
            <a:r>
              <a:rPr lang="pt-BR" sz="2400" dirty="0" smtClean="0"/>
              <a:t>Como descrever o ambiente de negócios que utilizará essa solução? </a:t>
            </a:r>
            <a:endParaRPr lang="pt-BR" sz="1800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2 - Levantamento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0" hangingPunct="0"/>
            <a:r>
              <a:rPr lang="pt-BR" sz="2800" dirty="0" smtClean="0"/>
              <a:t>Informações da etapa de Concepção vão se tornar requisitos </a:t>
            </a:r>
          </a:p>
          <a:p>
            <a:pPr lvl="0" hangingPunct="0"/>
            <a:endParaRPr lang="pt-BR" sz="900" dirty="0" smtClean="0"/>
          </a:p>
          <a:p>
            <a:pPr lvl="0" hangingPunct="0"/>
            <a:r>
              <a:rPr lang="pt-BR" sz="2800" dirty="0" smtClean="0"/>
              <a:t>A coleta de requisitos é feita pela equipe e deve procurar envolver usuários finais, gerentes, especialistas no domínio.  (S</a:t>
            </a:r>
            <a:r>
              <a:rPr lang="pt-BR" sz="2800" i="1" dirty="0" smtClean="0"/>
              <a:t>takeholders</a:t>
            </a:r>
            <a:r>
              <a:rPr lang="pt-BR" sz="2800" dirty="0" smtClean="0"/>
              <a:t>)</a:t>
            </a:r>
          </a:p>
          <a:p>
            <a:pPr lvl="0" hangingPunct="0"/>
            <a:endParaRPr lang="pt-BR" sz="900" dirty="0" smtClean="0"/>
          </a:p>
          <a:p>
            <a:pPr lvl="0" hangingPunct="0"/>
            <a:r>
              <a:rPr lang="pt-BR" sz="2800" dirty="0" smtClean="0"/>
              <a:t>Diversos problemas podem ocorrer nessa etapa</a:t>
            </a:r>
          </a:p>
          <a:p>
            <a:pPr lvl="1" hangingPunct="0"/>
            <a:r>
              <a:rPr lang="pt-BR" sz="2500" dirty="0" smtClean="0"/>
              <a:t>Escopo </a:t>
            </a:r>
          </a:p>
          <a:p>
            <a:pPr lvl="2" hangingPunct="0"/>
            <a:r>
              <a:rPr lang="pt-BR" sz="2100" dirty="0" smtClean="0"/>
              <a:t>Limite do sistema mal definido </a:t>
            </a:r>
            <a:endParaRPr lang="pt-BR" sz="1900" dirty="0" smtClean="0"/>
          </a:p>
          <a:p>
            <a:pPr lvl="2" hangingPunct="0"/>
            <a:r>
              <a:rPr lang="pt-BR" sz="2100" dirty="0" smtClean="0"/>
              <a:t>Detalhes técnicos introduzidos que causam confusão no cliente </a:t>
            </a:r>
          </a:p>
          <a:p>
            <a:pPr lvl="1" hangingPunct="0"/>
            <a:r>
              <a:rPr lang="pt-BR" sz="2500" dirty="0" smtClean="0"/>
              <a:t>Entendimento (Clientes) </a:t>
            </a:r>
          </a:p>
          <a:p>
            <a:pPr lvl="2" hangingPunct="0"/>
            <a:r>
              <a:rPr lang="pt-BR" sz="2100" dirty="0" smtClean="0"/>
              <a:t>Não estão certos sobre o que é necessário </a:t>
            </a:r>
            <a:endParaRPr lang="pt-BR" sz="1900" dirty="0" smtClean="0"/>
          </a:p>
          <a:p>
            <a:pPr lvl="2" hangingPunct="0"/>
            <a:r>
              <a:rPr lang="pt-BR" sz="2100" dirty="0" smtClean="0"/>
              <a:t>Pouco entendem das limitações do ambiente </a:t>
            </a:r>
            <a:endParaRPr lang="pt-BR" sz="1900" dirty="0" smtClean="0"/>
          </a:p>
          <a:p>
            <a:pPr lvl="2" hangingPunct="0"/>
            <a:r>
              <a:rPr lang="pt-BR" sz="2100" dirty="0" smtClean="0"/>
              <a:t>Não compreendem o domínio do problema</a:t>
            </a:r>
            <a:endParaRPr lang="pt-BR" sz="1900" dirty="0" smtClean="0"/>
          </a:p>
          <a:p>
            <a:pPr lvl="2" hangingPunct="0"/>
            <a:r>
              <a:rPr lang="pt-BR" sz="2100" dirty="0" smtClean="0"/>
              <a:t>Especificam requisitos conflitantes ou ambíguos </a:t>
            </a:r>
            <a:endParaRPr lang="pt-BR" sz="1900" dirty="0" smtClean="0"/>
          </a:p>
          <a:p>
            <a:pPr lvl="2" hangingPunct="0"/>
            <a:r>
              <a:rPr lang="pt-BR" sz="2100" dirty="0" smtClean="0"/>
              <a:t>Omitem “coisas óbvias” </a:t>
            </a:r>
            <a:endParaRPr lang="pt-BR" sz="1900" dirty="0" smtClean="0"/>
          </a:p>
          <a:p>
            <a:pPr lvl="1" hangingPunct="0"/>
            <a:r>
              <a:rPr lang="pt-BR" sz="2500" dirty="0" smtClean="0"/>
              <a:t>Volatilidade </a:t>
            </a:r>
          </a:p>
          <a:p>
            <a:pPr lvl="2" hangingPunct="0"/>
            <a:r>
              <a:rPr lang="pt-BR" sz="2100" dirty="0" smtClean="0"/>
              <a:t>Requisitos que mudam com o tempo </a:t>
            </a:r>
            <a:endParaRPr lang="pt-BR" sz="13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2 – Levantamento: Técnicas Utilizadas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62128"/>
          </a:xfrm>
        </p:spPr>
        <p:txBody>
          <a:bodyPr/>
          <a:lstStyle/>
          <a:p>
            <a:pPr lvl="0" hangingPunct="0"/>
            <a:r>
              <a:rPr lang="pt-BR" sz="2000" dirty="0" smtClean="0"/>
              <a:t>Entrevistas ou Questionários </a:t>
            </a:r>
            <a:endParaRPr lang="pt-BR" sz="1100" dirty="0" smtClean="0"/>
          </a:p>
          <a:p>
            <a:pPr lvl="1" hangingPunct="0"/>
            <a:r>
              <a:rPr lang="pt-BR" sz="1800" dirty="0" smtClean="0"/>
              <a:t>Amplamente usados </a:t>
            </a:r>
            <a:endParaRPr lang="pt-BR" sz="1200" dirty="0" smtClean="0"/>
          </a:p>
          <a:p>
            <a:pPr lvl="1" hangingPunct="0"/>
            <a:r>
              <a:rPr lang="pt-BR" sz="1800" dirty="0" smtClean="0"/>
              <a:t>Pergunta-resposta </a:t>
            </a:r>
            <a:endParaRPr lang="pt-BR" sz="1200" dirty="0" smtClean="0"/>
          </a:p>
          <a:p>
            <a:pPr lvl="0" hangingPunct="0"/>
            <a:r>
              <a:rPr lang="pt-BR" sz="2000" dirty="0" smtClean="0"/>
              <a:t>Observação ou Análise de Documentos </a:t>
            </a:r>
            <a:endParaRPr lang="pt-BR" sz="1100" dirty="0" smtClean="0"/>
          </a:p>
          <a:p>
            <a:pPr lvl="1" hangingPunct="0"/>
            <a:r>
              <a:rPr lang="pt-BR" sz="1800" dirty="0" smtClean="0"/>
              <a:t>Ambiente e seus usuários são avaliados por desenvolvedores </a:t>
            </a:r>
            <a:endParaRPr lang="pt-BR" sz="1200" dirty="0" smtClean="0"/>
          </a:p>
          <a:p>
            <a:pPr lvl="1" hangingPunct="0"/>
            <a:r>
              <a:rPr lang="pt-BR" sz="1800" dirty="0" smtClean="0"/>
              <a:t>Pode identificar melhorias que nem os usuários percebem </a:t>
            </a:r>
            <a:endParaRPr lang="pt-BR" sz="1200" dirty="0" smtClean="0"/>
          </a:p>
          <a:p>
            <a:pPr lvl="0" hangingPunct="0"/>
            <a:r>
              <a:rPr lang="pt-BR" sz="2000" dirty="0" smtClean="0"/>
              <a:t>Cenários </a:t>
            </a:r>
            <a:endParaRPr lang="pt-BR" sz="1100" dirty="0" smtClean="0"/>
          </a:p>
          <a:p>
            <a:pPr lvl="1" hangingPunct="0"/>
            <a:r>
              <a:rPr lang="pt-BR" sz="1800" dirty="0" smtClean="0"/>
              <a:t>Simulação do ambiente real é feita </a:t>
            </a:r>
            <a:endParaRPr lang="pt-BR" sz="1200" dirty="0" smtClean="0"/>
          </a:p>
          <a:p>
            <a:pPr lvl="0" hangingPunct="0"/>
            <a:r>
              <a:rPr lang="pt-BR" sz="2000" dirty="0" smtClean="0"/>
              <a:t>Prototipagem </a:t>
            </a:r>
            <a:endParaRPr lang="pt-BR" sz="1100" dirty="0" smtClean="0"/>
          </a:p>
          <a:p>
            <a:pPr lvl="0" hangingPunct="0"/>
            <a:r>
              <a:rPr lang="pt-BR" sz="2000" dirty="0" smtClean="0"/>
              <a:t>Reuniões</a:t>
            </a:r>
          </a:p>
          <a:p>
            <a:pPr lvl="1" hangingPunct="0"/>
            <a:r>
              <a:rPr lang="pt-BR" sz="1800" dirty="0" smtClean="0"/>
              <a:t>Workshop</a:t>
            </a:r>
          </a:p>
          <a:p>
            <a:pPr lvl="1" hangingPunct="0"/>
            <a:r>
              <a:rPr lang="pt-BR" sz="1800" dirty="0" err="1" smtClean="0"/>
              <a:t>Brainstorm</a:t>
            </a:r>
            <a:r>
              <a:rPr lang="pt-BR" sz="1800" dirty="0" smtClean="0"/>
              <a:t>: </a:t>
            </a:r>
            <a:r>
              <a:rPr lang="pt-BR" sz="1800" dirty="0" smtClean="0"/>
              <a:t>JAD (Joint </a:t>
            </a:r>
            <a:r>
              <a:rPr lang="pt-BR" sz="1800" dirty="0" err="1" smtClean="0"/>
              <a:t>Application</a:t>
            </a:r>
            <a:r>
              <a:rPr lang="pt-BR" sz="1800" dirty="0" smtClean="0"/>
              <a:t> </a:t>
            </a:r>
            <a:r>
              <a:rPr lang="pt-BR" sz="1800" dirty="0" err="1" smtClean="0"/>
              <a:t>Development</a:t>
            </a:r>
            <a:r>
              <a:rPr lang="pt-BR" sz="1800" dirty="0" smtClean="0"/>
              <a:t>) – Metodologia desenvolvida pela IBM para auxiliar em reuniões de projetos na </a:t>
            </a:r>
            <a:r>
              <a:rPr lang="pt-BR" sz="1800" dirty="0" err="1" smtClean="0"/>
              <a:t>ESw</a:t>
            </a:r>
            <a:endParaRPr lang="pt-BR" sz="1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 smtClean="0"/>
              <a:t>2 – Concepção + Levantamento = Elicitação 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err="1" smtClean="0"/>
              <a:t>Elicitar</a:t>
            </a:r>
            <a:endParaRPr lang="pt-BR" dirty="0" smtClean="0"/>
          </a:p>
          <a:p>
            <a:pPr lvl="1"/>
            <a:r>
              <a:rPr lang="pt-BR" dirty="0" smtClean="0"/>
              <a:t>fazer sair, trazer à tona a verdade,  clarear,  extrair e descobrir</a:t>
            </a:r>
          </a:p>
          <a:p>
            <a:endParaRPr lang="pt-BR" sz="1100" dirty="0" smtClean="0"/>
          </a:p>
          <a:p>
            <a:r>
              <a:rPr lang="pt-BR" dirty="0" smtClean="0"/>
              <a:t>Elicitação de Requisitos</a:t>
            </a:r>
          </a:p>
          <a:p>
            <a:pPr lvl="1"/>
            <a:r>
              <a:rPr lang="pt-BR" dirty="0" smtClean="0"/>
              <a:t>obter e tornar explícito o máximo de informações possíveis para o conhecimento de um sistema</a:t>
            </a:r>
          </a:p>
          <a:p>
            <a:pPr lvl="1" hangingPunct="0"/>
            <a:r>
              <a:rPr lang="pt-BR" dirty="0" smtClean="0"/>
              <a:t>É comum considerar a Concepção e o Levantamento de Requisitos uma etapa só, denominada elicitação </a:t>
            </a:r>
          </a:p>
          <a:p>
            <a:pPr>
              <a:buNone/>
            </a:pPr>
            <a:endParaRPr lang="pt-BR" sz="1000" dirty="0" smtClean="0"/>
          </a:p>
          <a:p>
            <a:pPr lvl="0" hangingPunct="0"/>
            <a:r>
              <a:rPr lang="pt-BR" dirty="0" smtClean="0"/>
              <a:t>Em resumo,  os objetivos da etapa de elicitação (concepção + levantamento) é descobrir os requisitos do sistema através de: </a:t>
            </a:r>
            <a:r>
              <a:rPr lang="pt-BR" sz="2800" dirty="0" smtClean="0"/>
              <a:t> </a:t>
            </a:r>
            <a:endParaRPr lang="pt-BR" sz="1400" dirty="0" smtClean="0"/>
          </a:p>
          <a:p>
            <a:pPr lvl="1" hangingPunct="0"/>
            <a:r>
              <a:rPr lang="pt-BR" dirty="0" smtClean="0"/>
              <a:t>Entrevistas com o cliente </a:t>
            </a:r>
            <a:endParaRPr lang="pt-BR" sz="1600" dirty="0" smtClean="0"/>
          </a:p>
          <a:p>
            <a:pPr lvl="1" hangingPunct="0"/>
            <a:r>
              <a:rPr lang="pt-BR" dirty="0" smtClean="0"/>
              <a:t>Análise do domínio do problema </a:t>
            </a:r>
            <a:endParaRPr lang="pt-BR" sz="1600" dirty="0" smtClean="0"/>
          </a:p>
          <a:p>
            <a:pPr lvl="1" hangingPunct="0"/>
            <a:r>
              <a:rPr lang="pt-BR" dirty="0" smtClean="0"/>
              <a:t>Estudos de mercado</a:t>
            </a:r>
            <a:endParaRPr lang="pt-BR" sz="1100" dirty="0" smtClean="0"/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3 - Elaboração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hangingPunct="0"/>
            <a:r>
              <a:rPr lang="pt-BR" dirty="0" smtClean="0"/>
              <a:t>Objetivo: </a:t>
            </a:r>
            <a:endParaRPr lang="pt-BR" sz="1400" dirty="0" smtClean="0"/>
          </a:p>
          <a:p>
            <a:pPr lvl="1" hangingPunct="0"/>
            <a:r>
              <a:rPr lang="pt-BR" dirty="0" smtClean="0"/>
              <a:t>Encontrar possíveis problemas, falhas e inconsistências na declaração informal dos requisitos obtidos na concepção e levantamento </a:t>
            </a:r>
          </a:p>
          <a:p>
            <a:pPr lvl="1" hangingPunct="0"/>
            <a:endParaRPr lang="pt-BR" sz="1000" dirty="0" smtClean="0"/>
          </a:p>
          <a:p>
            <a:pPr lvl="0" hangingPunct="0"/>
            <a:r>
              <a:rPr lang="pt-BR" dirty="0" smtClean="0"/>
              <a:t>Informações das etapas de Concepção e Levantamento são expandidas e refinadas para a construção da modelagem </a:t>
            </a:r>
          </a:p>
          <a:p>
            <a:pPr lvl="0" hangingPunct="0">
              <a:buNone/>
            </a:pPr>
            <a:endParaRPr lang="pt-BR" sz="1000" dirty="0" smtClean="0"/>
          </a:p>
          <a:p>
            <a:pPr lvl="0" hangingPunct="0"/>
            <a:r>
              <a:rPr lang="pt-BR" dirty="0" smtClean="0"/>
              <a:t>Modelos de análise baseados em UML são construídos </a:t>
            </a:r>
            <a:endParaRPr lang="pt-BR" sz="1400" dirty="0" smtClean="0"/>
          </a:p>
          <a:p>
            <a:pPr lvl="1" hangingPunct="0"/>
            <a:r>
              <a:rPr lang="pt-BR" dirty="0" smtClean="0"/>
              <a:t>Diagramas de Casos de Uso </a:t>
            </a:r>
            <a:endParaRPr lang="pt-BR" sz="1600" dirty="0" smtClean="0"/>
          </a:p>
          <a:p>
            <a:pPr lvl="1" hangingPunct="0"/>
            <a:r>
              <a:rPr lang="pt-BR" dirty="0" smtClean="0"/>
              <a:t>Diagramas de Classe </a:t>
            </a:r>
            <a:endParaRPr lang="pt-BR" sz="1600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4 - Negociação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sz="2400" dirty="0" smtClean="0"/>
              <a:t>Erros comuns cometidos pelos clientes:</a:t>
            </a:r>
          </a:p>
          <a:p>
            <a:pPr lvl="1" algn="just"/>
            <a:r>
              <a:rPr lang="pt-BR" sz="2000" dirty="0" smtClean="0"/>
              <a:t>Solicitar mais do que pode ser conseguido devido ao desconhecimento do negócio de software</a:t>
            </a:r>
          </a:p>
          <a:p>
            <a:pPr lvl="1" algn="just"/>
            <a:r>
              <a:rPr lang="pt-BR" sz="2000" dirty="0" smtClean="0"/>
              <a:t>Falhas de comunicação</a:t>
            </a:r>
          </a:p>
          <a:p>
            <a:pPr lvl="1" algn="just"/>
            <a:r>
              <a:rPr lang="pt-BR" sz="2000" dirty="0" smtClean="0"/>
              <a:t>Requisitos conflitantes</a:t>
            </a:r>
          </a:p>
          <a:p>
            <a:pPr lvl="1" algn="just"/>
            <a:endParaRPr lang="pt-BR" sz="900" dirty="0" smtClean="0"/>
          </a:p>
          <a:p>
            <a:pPr algn="just"/>
            <a:r>
              <a:rPr lang="pt-BR" sz="2400" dirty="0" smtClean="0"/>
              <a:t>Reuniões de negociação:</a:t>
            </a:r>
          </a:p>
          <a:p>
            <a:pPr lvl="1" algn="just"/>
            <a:r>
              <a:rPr lang="pt-BR" sz="2000" dirty="0" smtClean="0"/>
              <a:t>Utilizadas para solucionar problemas identificados e não resolvidos durante a etapa de elaboração</a:t>
            </a:r>
          </a:p>
          <a:p>
            <a:pPr lvl="1" algn="just"/>
            <a:r>
              <a:rPr lang="pt-BR" sz="2000" dirty="0" smtClean="0"/>
              <a:t>Discutir os requisitos com problemas,  buscando as opiniões dos interessados </a:t>
            </a:r>
          </a:p>
          <a:p>
            <a:pPr lvl="1" algn="just"/>
            <a:r>
              <a:rPr lang="pt-BR" sz="2000" dirty="0" smtClean="0"/>
              <a:t>As possíveis soluções devem ser discutidas para que as mudanças possam ser acordadas</a:t>
            </a:r>
          </a:p>
          <a:p>
            <a:pPr lvl="1" algn="just"/>
            <a:r>
              <a:rPr lang="pt-BR" sz="2000" dirty="0" smtClean="0"/>
              <a:t>Prioridades dos requisitos são redefinidas</a:t>
            </a:r>
          </a:p>
          <a:p>
            <a:pPr lvl="1" algn="just"/>
            <a:endParaRPr lang="pt-BR" sz="2400" dirty="0" smtClean="0">
              <a:solidFill>
                <a:schemeClr val="tx1"/>
              </a:solidFill>
            </a:endParaRPr>
          </a:p>
          <a:p>
            <a:pPr lvl="1" algn="just"/>
            <a:endParaRPr lang="pt-BR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5 - Especificação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 hangingPunct="0"/>
            <a:r>
              <a:rPr lang="pt-BR" sz="2800" dirty="0" smtClean="0"/>
              <a:t>Requisitos e modelos das etapas anteriores devem ser descritos e apresentados em documentos de requisitos </a:t>
            </a:r>
            <a:endParaRPr lang="pt-BR" sz="1400" dirty="0" smtClean="0"/>
          </a:p>
          <a:p>
            <a:pPr hangingPunct="0">
              <a:buNone/>
            </a:pPr>
            <a:r>
              <a:rPr lang="pt-BR" dirty="0" smtClean="0"/>
              <a:t>	(atividade de registro e oficialização dos resultados da engenharia de requisitos) </a:t>
            </a:r>
          </a:p>
          <a:p>
            <a:pPr hangingPunct="0">
              <a:buNone/>
            </a:pPr>
            <a:endParaRPr lang="pt-BR" sz="1400" dirty="0" smtClean="0"/>
          </a:p>
          <a:p>
            <a:pPr lvl="0" hangingPunct="0"/>
            <a:r>
              <a:rPr lang="pt-BR" dirty="0" smtClean="0"/>
              <a:t>Vantagens da documentação </a:t>
            </a:r>
            <a:endParaRPr lang="pt-BR" sz="1400" dirty="0" smtClean="0"/>
          </a:p>
          <a:p>
            <a:pPr lvl="1" hangingPunct="0"/>
            <a:r>
              <a:rPr lang="pt-BR" dirty="0" smtClean="0"/>
              <a:t>Facilita a comunicação dos requisitos </a:t>
            </a:r>
            <a:endParaRPr lang="pt-BR" sz="1600" dirty="0" smtClean="0"/>
          </a:p>
          <a:p>
            <a:pPr lvl="1" hangingPunct="0"/>
            <a:r>
              <a:rPr lang="pt-BR" dirty="0" smtClean="0"/>
              <a:t>Redução de trabalho pois minimiza o retrabalho resultante de erros</a:t>
            </a:r>
          </a:p>
          <a:p>
            <a:pPr lvl="1" hangingPunct="0"/>
            <a:r>
              <a:rPr lang="pt-BR" dirty="0" smtClean="0"/>
              <a:t>Fornece uma base realística para estimativas, verificação e validação </a:t>
            </a:r>
            <a:endParaRPr lang="pt-BR" sz="1600" dirty="0" smtClean="0"/>
          </a:p>
          <a:p>
            <a:pPr lvl="1" hangingPunct="0"/>
            <a:r>
              <a:rPr lang="pt-BR" dirty="0" smtClean="0"/>
              <a:t>Manual para futuros usuários </a:t>
            </a:r>
            <a:endParaRPr lang="pt-BR" sz="1600" dirty="0" smtClean="0"/>
          </a:p>
          <a:p>
            <a:pPr lvl="1" hangingPunct="0"/>
            <a:r>
              <a:rPr lang="pt-BR" dirty="0" smtClean="0"/>
              <a:t>Útil para futuras manutenções ou incremento de funcionalidades</a:t>
            </a:r>
            <a:endParaRPr lang="pt-BR" sz="1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5 - Especificação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hangingPunct="0"/>
            <a:r>
              <a:rPr lang="pt-BR" dirty="0" smtClean="0"/>
              <a:t>Como são muitos interessados (clientes e usuários, gerentes, desenvolvedores e testadores) é comum existir mais de um documento de requisitos específico </a:t>
            </a:r>
            <a:endParaRPr lang="pt-BR" sz="1400" dirty="0" smtClean="0"/>
          </a:p>
          <a:p>
            <a:pPr lvl="0" hangingPunct="0"/>
            <a:endParaRPr lang="pt-BR" sz="1000" dirty="0" smtClean="0"/>
          </a:p>
          <a:p>
            <a:pPr lvl="0" hangingPunct="0"/>
            <a:r>
              <a:rPr lang="pt-BR" dirty="0" smtClean="0"/>
              <a:t>Documentos para especificação </a:t>
            </a:r>
            <a:endParaRPr lang="pt-BR" sz="1400" dirty="0" smtClean="0"/>
          </a:p>
          <a:p>
            <a:pPr lvl="1" hangingPunct="0"/>
            <a:r>
              <a:rPr lang="pt-BR" dirty="0" smtClean="0"/>
              <a:t>Documento de Definição de Requisitos </a:t>
            </a:r>
            <a:endParaRPr lang="pt-BR" sz="1600" dirty="0" smtClean="0"/>
          </a:p>
          <a:p>
            <a:pPr lvl="1" hangingPunct="0"/>
            <a:r>
              <a:rPr lang="pt-BR" dirty="0" smtClean="0"/>
              <a:t>Documento de Especificação de Requisitos </a:t>
            </a:r>
          </a:p>
          <a:p>
            <a:pPr lvl="1" hangingPunct="0"/>
            <a:endParaRPr lang="pt-BR" sz="1000" dirty="0" smtClean="0"/>
          </a:p>
          <a:p>
            <a:pPr hangingPunct="0"/>
            <a:r>
              <a:rPr lang="pt-BR" dirty="0" smtClean="0"/>
              <a:t>Especificação de Requisitos de Software – ERSw</a:t>
            </a:r>
          </a:p>
          <a:p>
            <a:pPr lvl="1" hangingPunct="0"/>
            <a:r>
              <a:rPr lang="pt-BR" dirty="0" smtClean="0"/>
              <a:t>Exemplo de documento de especificação de requisitos</a:t>
            </a:r>
          </a:p>
          <a:p>
            <a:pPr lvl="1" hangingPunct="0"/>
            <a:r>
              <a:rPr lang="pt-BR" dirty="0" smtClean="0"/>
              <a:t>Segue </a:t>
            </a:r>
            <a:r>
              <a:rPr lang="pt-BR" dirty="0" smtClean="0"/>
              <a:t>padrões do IEEE</a:t>
            </a:r>
          </a:p>
          <a:p>
            <a:pPr lvl="1" hangingPunct="0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Documento de Definição dos 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hangingPunct="0"/>
            <a:r>
              <a:rPr lang="pt-BR" sz="2800" dirty="0" smtClean="0"/>
              <a:t>Um documento de definição completo e consistente é o produto da Engenharia de Requisitos</a:t>
            </a:r>
          </a:p>
          <a:p>
            <a:pPr hangingPunct="0">
              <a:buNone/>
            </a:pPr>
            <a:endParaRPr lang="pt-BR" sz="1100" dirty="0" smtClean="0">
              <a:solidFill>
                <a:schemeClr val="tx2"/>
              </a:solidFill>
            </a:endParaRPr>
          </a:p>
          <a:p>
            <a:pPr hangingPunct="0"/>
            <a:r>
              <a:rPr lang="pt-BR" sz="2800" dirty="0" smtClean="0"/>
              <a:t>Deve conter:</a:t>
            </a:r>
          </a:p>
          <a:p>
            <a:pPr lvl="1" hangingPunct="0"/>
            <a:r>
              <a:rPr lang="pt-BR" sz="2500" dirty="0" smtClean="0"/>
              <a:t>uma descrição do propósito do sistema</a:t>
            </a:r>
          </a:p>
          <a:p>
            <a:pPr lvl="1" hangingPunct="0"/>
            <a:r>
              <a:rPr lang="pt-BR" sz="2500" dirty="0" smtClean="0"/>
              <a:t>uma</a:t>
            </a:r>
            <a:r>
              <a:rPr lang="pt-BR" sz="1700" dirty="0" smtClean="0"/>
              <a:t> </a:t>
            </a:r>
            <a:r>
              <a:rPr lang="pt-BR" sz="2500" dirty="0" smtClean="0"/>
              <a:t>descrição do domínio do problema </a:t>
            </a:r>
          </a:p>
          <a:p>
            <a:pPr lvl="1" hangingPunct="0"/>
            <a:r>
              <a:rPr lang="pt-BR" sz="2500" dirty="0" smtClean="0"/>
              <a:t>listas de requisitos funcionais, não funcionais e regras de negócios</a:t>
            </a:r>
          </a:p>
          <a:p>
            <a:pPr hangingPunct="0"/>
            <a:endParaRPr lang="pt-BR" sz="1100" dirty="0" smtClean="0"/>
          </a:p>
          <a:p>
            <a:pPr lvl="0" hangingPunct="0"/>
            <a:r>
              <a:rPr lang="pt-BR" dirty="0" smtClean="0"/>
              <a:t>Linguagem natural estruturada </a:t>
            </a:r>
            <a:endParaRPr lang="pt-BR" sz="1400" dirty="0" smtClean="0"/>
          </a:p>
          <a:p>
            <a:pPr lvl="1" hangingPunct="0"/>
            <a:r>
              <a:rPr lang="pt-BR" dirty="0" smtClean="0"/>
              <a:t>Linguagem humana empregada em formulários </a:t>
            </a:r>
          </a:p>
          <a:p>
            <a:pPr lvl="1" hangingPunct="0"/>
            <a:endParaRPr lang="pt-BR" sz="1100" dirty="0" smtClean="0"/>
          </a:p>
          <a:p>
            <a:pPr lvl="0" hangingPunct="0"/>
            <a:r>
              <a:rPr lang="pt-BR" dirty="0" smtClean="0"/>
              <a:t>Notações gráficas </a:t>
            </a:r>
            <a:endParaRPr lang="pt-BR" sz="1400" dirty="0" smtClean="0"/>
          </a:p>
          <a:p>
            <a:pPr lvl="1" hangingPunct="0"/>
            <a:r>
              <a:rPr lang="pt-BR" dirty="0" smtClean="0"/>
              <a:t>Diagramas de casos de uso ou de </a:t>
            </a:r>
            <a:r>
              <a:rPr lang="pt-BR" dirty="0" smtClean="0"/>
              <a:t>sequência (UML) </a:t>
            </a:r>
            <a:endParaRPr lang="pt-BR" dirty="0" smtClean="0"/>
          </a:p>
          <a:p>
            <a:pPr lvl="1" hangingPunct="0"/>
            <a:endParaRPr lang="pt-BR" sz="1100" dirty="0" smtClean="0"/>
          </a:p>
          <a:p>
            <a:pPr lvl="0" hangingPunct="0"/>
            <a:r>
              <a:rPr lang="pt-BR" dirty="0" smtClean="0"/>
              <a:t>Público-Alvo </a:t>
            </a:r>
            <a:endParaRPr lang="pt-BR" sz="1400" dirty="0" smtClean="0"/>
          </a:p>
          <a:p>
            <a:pPr lvl="1" hangingPunct="0"/>
            <a:r>
              <a:rPr lang="pt-BR" dirty="0" smtClean="0"/>
              <a:t>Clientes, </a:t>
            </a:r>
            <a:r>
              <a:rPr lang="pt-BR" dirty="0" smtClean="0"/>
              <a:t>usuários, e gerentes </a:t>
            </a:r>
            <a:endParaRPr lang="pt-BR" sz="1100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900" dirty="0" smtClean="0"/>
              <a:t>Documento de Especificação dos Requisitos</a:t>
            </a:r>
            <a:endParaRPr lang="pt-BR" sz="29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 hangingPunct="0"/>
            <a:r>
              <a:rPr lang="pt-BR" dirty="0" smtClean="0"/>
              <a:t>Deve conter:</a:t>
            </a:r>
          </a:p>
          <a:p>
            <a:pPr lvl="1" algn="just" hangingPunct="0"/>
            <a:r>
              <a:rPr lang="pt-BR" dirty="0" smtClean="0"/>
              <a:t>uma descrição dos requisitos a partir da perspectiva do desenvolvedor  </a:t>
            </a:r>
          </a:p>
          <a:p>
            <a:pPr lvl="1" algn="just" hangingPunct="0"/>
            <a:r>
              <a:rPr lang="pt-BR" dirty="0" smtClean="0"/>
              <a:t>Deve apresentar os mesmos requisitos do documento de definição dos requisitos </a:t>
            </a:r>
          </a:p>
          <a:p>
            <a:pPr lvl="1" algn="just" hangingPunct="0"/>
            <a:endParaRPr lang="pt-BR" sz="1000" dirty="0" smtClean="0"/>
          </a:p>
          <a:p>
            <a:pPr lvl="0" algn="just" hangingPunct="0"/>
            <a:r>
              <a:rPr lang="pt-BR" dirty="0" smtClean="0"/>
              <a:t>Linguagem:</a:t>
            </a:r>
          </a:p>
          <a:p>
            <a:pPr lvl="1" algn="just" hangingPunct="0"/>
            <a:r>
              <a:rPr lang="pt-BR" dirty="0" smtClean="0"/>
              <a:t>Documento mais técnico </a:t>
            </a:r>
          </a:p>
          <a:p>
            <a:pPr lvl="1" algn="just" hangingPunct="0"/>
            <a:endParaRPr lang="pt-BR" sz="1000" dirty="0" smtClean="0"/>
          </a:p>
          <a:p>
            <a:pPr lvl="0" algn="just" hangingPunct="0"/>
            <a:r>
              <a:rPr lang="pt-BR" dirty="0" smtClean="0"/>
              <a:t>Público-alvo </a:t>
            </a:r>
          </a:p>
          <a:p>
            <a:pPr lvl="1" algn="just"/>
            <a:r>
              <a:rPr lang="pt-BR" dirty="0" smtClean="0"/>
              <a:t>Desenvolvedores e </a:t>
            </a:r>
            <a:r>
              <a:rPr lang="pt-BR" dirty="0" smtClean="0"/>
              <a:t>testadores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Convenção de Requisitos - Exemplos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hangingPunct="0"/>
            <a:r>
              <a:rPr lang="pt-BR" sz="2800" dirty="0" smtClean="0"/>
              <a:t>Por convenção,  um requisito recebe um nome, um</a:t>
            </a:r>
            <a:r>
              <a:rPr lang="pt-BR" sz="2000" dirty="0" smtClean="0"/>
              <a:t> </a:t>
            </a:r>
            <a:r>
              <a:rPr lang="pt-BR" sz="2800" dirty="0" smtClean="0"/>
              <a:t>identificador e se o mesmo é funcional ou não</a:t>
            </a:r>
          </a:p>
          <a:p>
            <a:pPr hangingPunct="0"/>
            <a:endParaRPr lang="pt-BR" sz="1100" dirty="0" smtClean="0"/>
          </a:p>
          <a:p>
            <a:pPr lvl="0" hangingPunct="0"/>
            <a:r>
              <a:rPr lang="pt-BR" dirty="0" smtClean="0"/>
              <a:t>Exemplo </a:t>
            </a:r>
            <a:endParaRPr lang="pt-BR" sz="1400" dirty="0" smtClean="0"/>
          </a:p>
          <a:p>
            <a:pPr lvl="1" hangingPunct="0"/>
            <a:r>
              <a:rPr lang="pt-BR" sz="2400" dirty="0" smtClean="0"/>
              <a:t>O requisito efetuar cadastro é identificado pelo código [RF01] </a:t>
            </a:r>
          </a:p>
          <a:p>
            <a:pPr lvl="1" hangingPunct="0"/>
            <a:r>
              <a:rPr lang="pt-BR" sz="2400" dirty="0" smtClean="0"/>
              <a:t>O requisito interface com o usuário é identificado pelo bloco [NF01] </a:t>
            </a:r>
          </a:p>
          <a:p>
            <a:endParaRPr lang="pt-BR" sz="1100" dirty="0" smtClean="0"/>
          </a:p>
          <a:p>
            <a:pPr lvl="0" hangingPunct="0"/>
            <a:r>
              <a:rPr lang="pt-BR" dirty="0" smtClean="0"/>
              <a:t>Também é comum definir uma prioridade ao requisito </a:t>
            </a:r>
            <a:endParaRPr lang="pt-BR" sz="1400" dirty="0" smtClean="0"/>
          </a:p>
          <a:p>
            <a:pPr lvl="1" hangingPunct="0"/>
            <a:r>
              <a:rPr lang="pt-BR" dirty="0" smtClean="0"/>
              <a:t>Essencial </a:t>
            </a:r>
            <a:endParaRPr lang="pt-BR" sz="1600" dirty="0" smtClean="0"/>
          </a:p>
          <a:p>
            <a:pPr lvl="1" hangingPunct="0"/>
            <a:r>
              <a:rPr lang="pt-BR" dirty="0" smtClean="0"/>
              <a:t>Importante </a:t>
            </a:r>
            <a:endParaRPr lang="pt-BR" sz="1600" dirty="0" smtClean="0"/>
          </a:p>
          <a:p>
            <a:pPr lvl="1" hangingPunct="0"/>
            <a:r>
              <a:rPr lang="pt-BR" dirty="0" smtClean="0"/>
              <a:t>Desejável </a:t>
            </a:r>
          </a:p>
          <a:p>
            <a:pPr lvl="1" hangingPunct="0"/>
            <a:endParaRPr lang="pt-BR" sz="1100" dirty="0" smtClean="0"/>
          </a:p>
          <a:p>
            <a:pPr lvl="0" hangingPunct="0"/>
            <a:r>
              <a:rPr lang="pt-BR" dirty="0" smtClean="0"/>
              <a:t>Informações sobre entradas de dados, saídas e fluxo de trabalho devem ser especificados </a:t>
            </a:r>
            <a:endParaRPr lang="pt-BR" sz="1100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[RF01] Efetuar Cadastro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lvl="0" hangingPunct="0"/>
            <a:r>
              <a:rPr lang="pt-BR" sz="2800" dirty="0" smtClean="0"/>
              <a:t>Objetivo </a:t>
            </a:r>
            <a:endParaRPr lang="pt-BR" sz="1600" dirty="0" smtClean="0"/>
          </a:p>
          <a:p>
            <a:pPr lvl="1" hangingPunct="0"/>
            <a:r>
              <a:rPr lang="pt-BR" sz="2400" dirty="0" smtClean="0"/>
              <a:t>Cadastrar no sistema e para permitir acesso a serviços personalizados</a:t>
            </a:r>
          </a:p>
          <a:p>
            <a:pPr lvl="1" hangingPunct="0"/>
            <a:endParaRPr lang="pt-BR" sz="1400" dirty="0" smtClean="0"/>
          </a:p>
          <a:p>
            <a:pPr lvl="0" hangingPunct="0"/>
            <a:r>
              <a:rPr lang="pt-BR" sz="2800" dirty="0" smtClean="0"/>
              <a:t>Prioridade </a:t>
            </a:r>
            <a:endParaRPr lang="pt-BR" sz="1600" dirty="0" smtClean="0"/>
          </a:p>
          <a:p>
            <a:pPr lvl="1" hangingPunct="0"/>
            <a:r>
              <a:rPr lang="pt-BR" sz="2400" dirty="0" smtClean="0"/>
              <a:t>Essencial </a:t>
            </a:r>
          </a:p>
          <a:p>
            <a:pPr lvl="1" hangingPunct="0"/>
            <a:endParaRPr lang="pt-BR" sz="1400" dirty="0" smtClean="0"/>
          </a:p>
          <a:p>
            <a:pPr lvl="0" hangingPunct="0"/>
            <a:r>
              <a:rPr lang="pt-BR" sz="2800" dirty="0" smtClean="0"/>
              <a:t>Entrada </a:t>
            </a:r>
            <a:endParaRPr lang="pt-BR" sz="1400" dirty="0" smtClean="0"/>
          </a:p>
          <a:p>
            <a:pPr lvl="1" hangingPunct="0"/>
            <a:r>
              <a:rPr lang="pt-BR" sz="2400" dirty="0" smtClean="0"/>
              <a:t>Informações pessoais dos usuários </a:t>
            </a:r>
          </a:p>
          <a:p>
            <a:pPr lvl="1" hangingPunct="0"/>
            <a:endParaRPr lang="pt-BR" sz="1400" dirty="0" smtClean="0"/>
          </a:p>
          <a:p>
            <a:pPr lvl="0" hangingPunct="0"/>
            <a:r>
              <a:rPr lang="pt-BR" sz="2800" dirty="0" smtClean="0"/>
              <a:t>Saídas </a:t>
            </a:r>
            <a:endParaRPr lang="pt-BR" sz="1600" dirty="0" smtClean="0"/>
          </a:p>
          <a:p>
            <a:pPr lvl="1" hangingPunct="0"/>
            <a:r>
              <a:rPr lang="pt-BR" sz="2400" dirty="0" smtClean="0"/>
              <a:t>Usuário adicionado </a:t>
            </a:r>
          </a:p>
          <a:p>
            <a:pPr lvl="1" hangingPunct="0"/>
            <a:endParaRPr lang="pt-BR" sz="1400" dirty="0" smtClean="0"/>
          </a:p>
          <a:p>
            <a:pPr lvl="0" hangingPunct="0"/>
            <a:r>
              <a:rPr lang="pt-BR" sz="2800" dirty="0" smtClean="0"/>
              <a:t>Fluxo de eventos </a:t>
            </a:r>
            <a:endParaRPr lang="pt-BR" sz="1600" dirty="0" smtClean="0"/>
          </a:p>
          <a:p>
            <a:pPr lvl="1" hangingPunct="0"/>
            <a:r>
              <a:rPr lang="pt-BR" sz="2400" dirty="0" smtClean="0"/>
              <a:t>Sistema recebe os dados necessários para cadastro</a:t>
            </a:r>
            <a:endParaRPr lang="pt-BR" sz="1800" dirty="0" smtClean="0"/>
          </a:p>
          <a:p>
            <a:pPr lvl="1" hangingPunct="0"/>
            <a:r>
              <a:rPr lang="pt-BR" sz="2400" dirty="0" smtClean="0"/>
              <a:t>Sistema envia e-mail de confirmação </a:t>
            </a:r>
            <a:endParaRPr lang="pt-BR" sz="1800" dirty="0" smtClean="0"/>
          </a:p>
          <a:p>
            <a:pPr lvl="1" hangingPunct="0"/>
            <a:r>
              <a:rPr lang="pt-BR" sz="2400" dirty="0" smtClean="0"/>
              <a:t>Usuário é adicionado a base de dados de usuários pendentes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[NF001] Interface com o Usuário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hangingPunct="0"/>
            <a:r>
              <a:rPr lang="pt-BR" dirty="0" smtClean="0"/>
              <a:t>Objetivo </a:t>
            </a:r>
            <a:endParaRPr lang="pt-BR" sz="1400" dirty="0" smtClean="0"/>
          </a:p>
          <a:p>
            <a:pPr lvl="1" hangingPunct="0"/>
            <a:r>
              <a:rPr lang="pt-BR" dirty="0" smtClean="0"/>
              <a:t>Sistema deve prover uma interface amigável e intuitiva </a:t>
            </a:r>
          </a:p>
          <a:p>
            <a:pPr lvl="1" hangingPunct="0"/>
            <a:endParaRPr lang="pt-BR" sz="1000" dirty="0" smtClean="0"/>
          </a:p>
          <a:p>
            <a:pPr lvl="0" hangingPunct="0"/>
            <a:r>
              <a:rPr lang="pt-BR" dirty="0" smtClean="0"/>
              <a:t>Metodologia </a:t>
            </a:r>
            <a:endParaRPr lang="pt-BR" sz="1400" dirty="0" smtClean="0"/>
          </a:p>
          <a:p>
            <a:pPr lvl="1" hangingPunct="0"/>
            <a:r>
              <a:rPr lang="pt-BR" dirty="0" smtClean="0"/>
              <a:t>A partir do acesso poderemos medir quais as principais dúvidas dos usuários e direcionar o desenvolvimento de uma nova interface baseada em consultas</a:t>
            </a:r>
          </a:p>
          <a:p>
            <a:pPr lvl="1" hangingPunct="0">
              <a:buNone/>
            </a:pPr>
            <a:endParaRPr lang="pt-BR" sz="1000" dirty="0" smtClean="0"/>
          </a:p>
          <a:p>
            <a:pPr lvl="0" hangingPunct="0"/>
            <a:r>
              <a:rPr lang="pt-BR" dirty="0" smtClean="0"/>
              <a:t>Prioridade </a:t>
            </a:r>
            <a:endParaRPr lang="pt-BR" sz="1400" dirty="0" smtClean="0"/>
          </a:p>
          <a:p>
            <a:pPr lvl="1" hangingPunct="0"/>
            <a:r>
              <a:rPr lang="pt-BR" dirty="0" smtClean="0"/>
              <a:t>Importante </a:t>
            </a:r>
            <a:endParaRPr lang="pt-BR" sz="1100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6 - Validação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4937760"/>
          </a:xfrm>
        </p:spPr>
        <p:txBody>
          <a:bodyPr>
            <a:normAutofit/>
          </a:bodyPr>
          <a:lstStyle/>
          <a:p>
            <a:pPr lvl="0" algn="just" hangingPunct="0"/>
            <a:r>
              <a:rPr lang="pt-BR" dirty="0" smtClean="0"/>
              <a:t>A qualidade dos requisitos gerados pelos documentos anteriores é avaliada </a:t>
            </a:r>
          </a:p>
          <a:p>
            <a:pPr lvl="0" algn="just" hangingPunct="0"/>
            <a:endParaRPr lang="pt-BR" sz="1000" dirty="0" smtClean="0"/>
          </a:p>
          <a:p>
            <a:pPr lvl="0" algn="just" hangingPunct="0"/>
            <a:r>
              <a:rPr lang="pt-BR" dirty="0" smtClean="0"/>
              <a:t>Os objetivo são assegurar que:</a:t>
            </a:r>
            <a:endParaRPr lang="pt-BR" sz="1400" dirty="0" smtClean="0"/>
          </a:p>
          <a:p>
            <a:pPr lvl="1" algn="just" hangingPunct="0"/>
            <a:r>
              <a:rPr lang="pt-BR" dirty="0" smtClean="0"/>
              <a:t>Todos os requisitos tenham sido declarados de modo não ambíguo </a:t>
            </a:r>
            <a:endParaRPr lang="pt-BR" sz="1600" dirty="0" smtClean="0"/>
          </a:p>
          <a:p>
            <a:pPr lvl="1" algn="just" hangingPunct="0"/>
            <a:r>
              <a:rPr lang="pt-BR" dirty="0" smtClean="0"/>
              <a:t>Inconsistências, conflitos, omissões e erros tenham sido detectados e corrigidos </a:t>
            </a:r>
            <a:endParaRPr lang="pt-BR" sz="1600" dirty="0" smtClean="0"/>
          </a:p>
          <a:p>
            <a:pPr lvl="1" algn="just" hangingPunct="0"/>
            <a:r>
              <a:rPr lang="pt-BR" dirty="0" smtClean="0"/>
              <a:t>Os documentos estão em conformidade com os padrões da companhia </a:t>
            </a:r>
            <a:endParaRPr lang="pt-BR" sz="1600" dirty="0" smtClean="0"/>
          </a:p>
          <a:p>
            <a:pPr lvl="1" algn="just" hangingPunct="0"/>
            <a:r>
              <a:rPr lang="pt-BR" dirty="0" smtClean="0"/>
              <a:t>Os requisitos realmente satisfazem às necessidades dos clientes e desenvolvedores </a:t>
            </a:r>
            <a:endParaRPr lang="pt-BR" sz="1100" dirty="0" smtClean="0"/>
          </a:p>
          <a:p>
            <a:pPr algn="just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74" y="188640"/>
            <a:ext cx="6275040" cy="810344"/>
          </a:xfrm>
        </p:spPr>
        <p:txBody>
          <a:bodyPr/>
          <a:lstStyle/>
          <a:p>
            <a:r>
              <a:rPr lang="pt-BR" dirty="0" smtClean="0"/>
              <a:t>7 - Gestão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93028" y="1127223"/>
            <a:ext cx="8435280" cy="5715000"/>
          </a:xfrm>
        </p:spPr>
        <p:txBody>
          <a:bodyPr>
            <a:normAutofit fontScale="77500" lnSpcReduction="20000"/>
          </a:bodyPr>
          <a:lstStyle/>
          <a:p>
            <a:pPr lvl="0" algn="just" hangingPunct="0"/>
            <a:r>
              <a:rPr lang="pt-BR" dirty="0" smtClean="0"/>
              <a:t>Conjunto de atividades que tem como objetivo ajudar a equipe a identificar, controlar e rastrear requisitos e modificações dos mesmos em qualquer época, à medida que o projeto prossegue </a:t>
            </a:r>
          </a:p>
          <a:p>
            <a:pPr lvl="0" algn="just" hangingPunct="0"/>
            <a:endParaRPr lang="pt-BR" sz="900" dirty="0" smtClean="0"/>
          </a:p>
          <a:p>
            <a:pPr lvl="0" algn="just" hangingPunct="0"/>
            <a:r>
              <a:rPr lang="pt-BR" dirty="0" smtClean="0"/>
              <a:t>O processo é iniciado com a </a:t>
            </a:r>
            <a:r>
              <a:rPr lang="pt-BR" dirty="0" smtClean="0"/>
              <a:t>descrição dos requisitos já identificados e </a:t>
            </a:r>
            <a:r>
              <a:rPr lang="pt-BR" dirty="0" smtClean="0"/>
              <a:t>a construção de tabelas de rastreamento </a:t>
            </a:r>
          </a:p>
          <a:p>
            <a:pPr lvl="0" algn="just" hangingPunct="0"/>
            <a:endParaRPr lang="pt-BR" sz="900" dirty="0" smtClean="0"/>
          </a:p>
          <a:p>
            <a:pPr algn="just"/>
            <a:r>
              <a:rPr lang="pt-BR" dirty="0" smtClean="0"/>
              <a:t> As principais preocupações da gestão de requisitos são:</a:t>
            </a:r>
          </a:p>
          <a:p>
            <a:pPr lvl="1" algn="just"/>
            <a:r>
              <a:rPr lang="pt-BR" dirty="0" smtClean="0"/>
              <a:t>Gerenciar mudanças nos requisitos que foram definidos</a:t>
            </a:r>
          </a:p>
          <a:p>
            <a:pPr lvl="1" algn="just"/>
            <a:r>
              <a:rPr lang="pt-BR" dirty="0" smtClean="0"/>
              <a:t>Gerenciar o relacionamento entre requisitos</a:t>
            </a:r>
          </a:p>
          <a:p>
            <a:pPr lvl="1" algn="just"/>
            <a:r>
              <a:rPr lang="pt-BR" dirty="0" smtClean="0"/>
              <a:t>Gerenciar as dependências entre os documentos de requisitos e outros documentos produzidos no processo de engenharia de sistemas</a:t>
            </a:r>
          </a:p>
          <a:p>
            <a:pPr lvl="1" algn="just">
              <a:buNone/>
            </a:pPr>
            <a:endParaRPr lang="pt-BR" sz="900" dirty="0" smtClean="0"/>
          </a:p>
          <a:p>
            <a:pPr algn="just"/>
            <a:r>
              <a:rPr lang="pt-BR" dirty="0" smtClean="0"/>
              <a:t>Requisitos não podem ser gerenciados efetivamente sem rastreamento de requisitos</a:t>
            </a:r>
          </a:p>
          <a:p>
            <a:pPr lvl="1" algn="just"/>
            <a:r>
              <a:rPr lang="pt-BR" dirty="0" smtClean="0"/>
              <a:t>Um requisito é rastreável se for possível descobrir:</a:t>
            </a:r>
          </a:p>
          <a:p>
            <a:pPr lvl="2" algn="just"/>
            <a:r>
              <a:rPr lang="pt-BR" dirty="0" smtClean="0"/>
              <a:t>quem o sugeriu</a:t>
            </a:r>
          </a:p>
          <a:p>
            <a:pPr lvl="2" algn="just"/>
            <a:r>
              <a:rPr lang="pt-BR" dirty="0" smtClean="0"/>
              <a:t>porque ele existe</a:t>
            </a:r>
          </a:p>
          <a:p>
            <a:pPr lvl="2" algn="just"/>
            <a:r>
              <a:rPr lang="pt-BR" dirty="0" smtClean="0"/>
              <a:t>quais os requisitos relacionados a ele</a:t>
            </a:r>
          </a:p>
          <a:p>
            <a:pPr lvl="2" algn="just"/>
            <a:r>
              <a:rPr lang="pt-BR" dirty="0" smtClean="0"/>
              <a:t>como o requisito está relacionado com outras informações como:</a:t>
            </a:r>
          </a:p>
          <a:p>
            <a:pPr lvl="3" algn="just"/>
            <a:r>
              <a:rPr lang="pt-BR" dirty="0" smtClean="0"/>
              <a:t>projeto do sistema, implementações e documentação do usuário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 de Rastreamento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hangingPunct="0"/>
            <a:r>
              <a:rPr lang="pt-BR" dirty="0" smtClean="0"/>
              <a:t>Tabelas de rastreamento são simples listas de relacionamentos que podem ser implementadas até mesmo como texto ou tabelas</a:t>
            </a:r>
          </a:p>
          <a:p>
            <a:pPr hangingPunct="0"/>
            <a:endParaRPr lang="pt-BR" sz="1200" dirty="0" smtClean="0"/>
          </a:p>
          <a:p>
            <a:pPr lvl="0" hangingPunct="0"/>
            <a:r>
              <a:rPr lang="pt-BR" dirty="0" smtClean="0"/>
              <a:t>Objetivo:</a:t>
            </a:r>
          </a:p>
          <a:p>
            <a:pPr lvl="1" hangingPunct="0"/>
            <a:r>
              <a:rPr lang="pt-BR" dirty="0" smtClean="0"/>
              <a:t>relacionar um conjunto de requisitos com aspectos do sistema </a:t>
            </a:r>
          </a:p>
          <a:p>
            <a:pPr lvl="1" hangingPunct="0"/>
            <a:endParaRPr lang="pt-BR" sz="1300" dirty="0" smtClean="0"/>
          </a:p>
          <a:p>
            <a:pPr hangingPunct="0"/>
            <a:r>
              <a:rPr lang="pt-BR" dirty="0" smtClean="0"/>
              <a:t>Exemplos:	</a:t>
            </a:r>
          </a:p>
          <a:p>
            <a:pPr lvl="1" hangingPunct="0"/>
            <a:r>
              <a:rPr lang="pt-BR" b="1" dirty="0" smtClean="0"/>
              <a:t>Tabela de rastreamento de características </a:t>
            </a:r>
            <a:endParaRPr lang="pt-BR" sz="1100" b="1" dirty="0" smtClean="0"/>
          </a:p>
          <a:p>
            <a:pPr lvl="2" hangingPunct="0"/>
            <a:r>
              <a:rPr lang="pt-BR" dirty="0" smtClean="0"/>
              <a:t>Mostra como os requisitos se relacionam a características importantes do sistema</a:t>
            </a:r>
          </a:p>
          <a:p>
            <a:pPr lvl="1" hangingPunct="0"/>
            <a:r>
              <a:rPr lang="pt-BR" b="1" dirty="0" smtClean="0"/>
              <a:t>Tabela de rastreamento de fonte </a:t>
            </a:r>
          </a:p>
          <a:p>
            <a:pPr lvl="2" hangingPunct="0"/>
            <a:r>
              <a:rPr lang="pt-BR" dirty="0" smtClean="0"/>
              <a:t>Identifica a fonte de cada requisito </a:t>
            </a:r>
          </a:p>
          <a:p>
            <a:pPr lvl="1" hangingPunct="0"/>
            <a:r>
              <a:rPr lang="pt-BR" b="1" dirty="0" smtClean="0"/>
              <a:t>Tabela de rastreamento de dependência </a:t>
            </a:r>
          </a:p>
          <a:p>
            <a:pPr lvl="2" hangingPunct="0"/>
            <a:r>
              <a:rPr lang="pt-BR" dirty="0" smtClean="0"/>
              <a:t>Indica como os requisitos se relacionam uns aos outros</a:t>
            </a:r>
          </a:p>
          <a:p>
            <a:pPr lvl="1" hangingPunct="0"/>
            <a:r>
              <a:rPr lang="pt-BR" b="1" dirty="0" smtClean="0"/>
              <a:t>Tabela de rastreamento de subsistemas </a:t>
            </a:r>
          </a:p>
          <a:p>
            <a:pPr lvl="2" hangingPunct="0"/>
            <a:r>
              <a:rPr lang="pt-BR" dirty="0" smtClean="0"/>
              <a:t>Caracteriza os requisitos pelos subsistemas que governam</a:t>
            </a:r>
          </a:p>
          <a:p>
            <a:pPr lvl="1" hangingPunct="0"/>
            <a:r>
              <a:rPr lang="pt-BR" b="1" dirty="0" smtClean="0"/>
              <a:t>Tabela de rastreamento de interface </a:t>
            </a:r>
          </a:p>
          <a:p>
            <a:pPr lvl="2" hangingPunct="0"/>
            <a:r>
              <a:rPr lang="pt-BR" dirty="0" smtClean="0"/>
              <a:t>Mostram como os requisitos se relacionam com as interfaces do sistema </a:t>
            </a:r>
            <a:endParaRPr lang="pt-BR" sz="800" dirty="0" smtClean="0"/>
          </a:p>
          <a:p>
            <a:pPr hangingPunct="0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 de Rastreamento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39552" y="5805264"/>
            <a:ext cx="8229600" cy="696064"/>
          </a:xfrm>
        </p:spPr>
        <p:txBody>
          <a:bodyPr/>
          <a:lstStyle/>
          <a:p>
            <a:pPr algn="ctr">
              <a:buNone/>
            </a:pPr>
            <a:r>
              <a:rPr lang="pt-BR" sz="2000" dirty="0" smtClean="0"/>
              <a:t>Exemplo de tabela de rastreamento</a:t>
            </a:r>
          </a:p>
          <a:p>
            <a:pPr algn="ctr">
              <a:buNone/>
            </a:pPr>
            <a:r>
              <a:rPr lang="pt-BR" sz="2000" dirty="0" smtClean="0"/>
              <a:t>Fonte: PRESSMAN (2010)</a:t>
            </a:r>
          </a:p>
          <a:p>
            <a:pPr algn="ctr"/>
            <a:endParaRPr lang="pt-BR" sz="2000" dirty="0"/>
          </a:p>
        </p:txBody>
      </p:sp>
      <p:pic>
        <p:nvPicPr>
          <p:cNvPr id="1026" name="Picture 2" descr="http://julianakolb.files.wordpress.com/2012/04/tabel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218433"/>
            <a:ext cx="7056784" cy="45907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m">
  <a:themeElements>
    <a:clrScheme name="Origem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m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m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em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em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1784</TotalTime>
  <Words>2108</Words>
  <Application>Microsoft Office PowerPoint</Application>
  <PresentationFormat>Apresentação na tela (4:3)</PresentationFormat>
  <Paragraphs>374</Paragraphs>
  <Slides>36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4" baseType="lpstr">
      <vt:lpstr>Bookman Old Style</vt:lpstr>
      <vt:lpstr>Garamond</vt:lpstr>
      <vt:lpstr>Gill Sans MT</vt:lpstr>
      <vt:lpstr>Lucida Sans Unicode</vt:lpstr>
      <vt:lpstr>Times New Roman</vt:lpstr>
      <vt:lpstr>Wingdings</vt:lpstr>
      <vt:lpstr>Wingdings 3</vt:lpstr>
      <vt:lpstr>Origem</vt:lpstr>
      <vt:lpstr>Apresentação do PowerPoint</vt:lpstr>
      <vt:lpstr>Requisitos</vt:lpstr>
      <vt:lpstr>Requisito x Especificação</vt:lpstr>
      <vt:lpstr>O que é um Requisito</vt:lpstr>
      <vt:lpstr>Importância e Finalidade dos Requisitos</vt:lpstr>
      <vt:lpstr>Tipos de Requisitos</vt:lpstr>
      <vt:lpstr>Requisitos Funcionais</vt:lpstr>
      <vt:lpstr>Requisitos Funcionais - Exemplos</vt:lpstr>
      <vt:lpstr>Requisitos Não Funcionais</vt:lpstr>
      <vt:lpstr>Requisitos Não Funcionais - Exemplos</vt:lpstr>
      <vt:lpstr>Métricas para Requisitos Não Funcionais</vt:lpstr>
      <vt:lpstr>Restrições de Projeto</vt:lpstr>
      <vt:lpstr>Restrições de Processo</vt:lpstr>
      <vt:lpstr>Regras de Negócio</vt:lpstr>
      <vt:lpstr>Engenharia de Requisitos</vt:lpstr>
      <vt:lpstr>Engenharia de Requisitos</vt:lpstr>
      <vt:lpstr>Engenharia de Requisitos</vt:lpstr>
      <vt:lpstr>Processos da Engenharia de Requisitos</vt:lpstr>
      <vt:lpstr>Etapas de Engenharia de Requisitos</vt:lpstr>
      <vt:lpstr>1 - Concepção</vt:lpstr>
      <vt:lpstr>2 - Levantamento</vt:lpstr>
      <vt:lpstr>2 – Levantamento: Técnicas Utilizadas</vt:lpstr>
      <vt:lpstr>2 – Concepção + Levantamento = Elicitação </vt:lpstr>
      <vt:lpstr>3 - Elaboração</vt:lpstr>
      <vt:lpstr>4 - Negociação</vt:lpstr>
      <vt:lpstr>5 - Especificação</vt:lpstr>
      <vt:lpstr>5 - Especificação</vt:lpstr>
      <vt:lpstr>Documento de Definição dos Requisitos</vt:lpstr>
      <vt:lpstr>Documento de Especificação dos Requisitos</vt:lpstr>
      <vt:lpstr>Convenção de Requisitos - Exemplos</vt:lpstr>
      <vt:lpstr>[RF01] Efetuar Cadastro</vt:lpstr>
      <vt:lpstr>[NF001] Interface com o Usuário</vt:lpstr>
      <vt:lpstr>6 - Validação</vt:lpstr>
      <vt:lpstr>7 - Gestão</vt:lpstr>
      <vt:lpstr>Tabelas de Rastreamento</vt:lpstr>
      <vt:lpstr>Tabelas de Rastreamento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Engenharia de Software</dc:title>
  <dc:creator>Hermano Perrelli de Moura</dc:creator>
  <cp:lastModifiedBy>Avaliador</cp:lastModifiedBy>
  <cp:revision>275</cp:revision>
  <cp:lastPrinted>2000-02-17T21:24:07Z</cp:lastPrinted>
  <dcterms:created xsi:type="dcterms:W3CDTF">1999-05-04T19:43:02Z</dcterms:created>
  <dcterms:modified xsi:type="dcterms:W3CDTF">2021-09-12T22:38:24Z</dcterms:modified>
</cp:coreProperties>
</file>