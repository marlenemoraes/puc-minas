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34"/>
  </p:notesMasterIdLst>
  <p:handoutMasterIdLst>
    <p:handoutMasterId r:id="rId35"/>
  </p:handoutMasterIdLst>
  <p:sldIdLst>
    <p:sldId id="256" r:id="rId2"/>
    <p:sldId id="267" r:id="rId3"/>
    <p:sldId id="306" r:id="rId4"/>
    <p:sldId id="308" r:id="rId5"/>
    <p:sldId id="309" r:id="rId6"/>
    <p:sldId id="285" r:id="rId7"/>
    <p:sldId id="288" r:id="rId8"/>
    <p:sldId id="312" r:id="rId9"/>
    <p:sldId id="311" r:id="rId10"/>
    <p:sldId id="313" r:id="rId11"/>
    <p:sldId id="314" r:id="rId12"/>
    <p:sldId id="310" r:id="rId13"/>
    <p:sldId id="315" r:id="rId14"/>
    <p:sldId id="286" r:id="rId15"/>
    <p:sldId id="319" r:id="rId16"/>
    <p:sldId id="287" r:id="rId17"/>
    <p:sldId id="316" r:id="rId18"/>
    <p:sldId id="317" r:id="rId19"/>
    <p:sldId id="318" r:id="rId20"/>
    <p:sldId id="320" r:id="rId21"/>
    <p:sldId id="321" r:id="rId22"/>
    <p:sldId id="327" r:id="rId23"/>
    <p:sldId id="323" r:id="rId24"/>
    <p:sldId id="324" r:id="rId25"/>
    <p:sldId id="328" r:id="rId26"/>
    <p:sldId id="329" r:id="rId27"/>
    <p:sldId id="322" r:id="rId28"/>
    <p:sldId id="325" r:id="rId29"/>
    <p:sldId id="330" r:id="rId30"/>
    <p:sldId id="331" r:id="rId31"/>
    <p:sldId id="326" r:id="rId32"/>
    <p:sldId id="307" r:id="rId33"/>
  </p:sldIdLst>
  <p:sldSz cx="9144000" cy="6858000" type="screen4x3"/>
  <p:notesSz cx="6858000" cy="99472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203" autoAdjust="0"/>
  </p:normalViewPr>
  <p:slideViewPr>
    <p:cSldViewPr snapToGrid="0" snapToObjects="1">
      <p:cViewPr varScale="1">
        <p:scale>
          <a:sx n="64" d="100"/>
          <a:sy n="64" d="100"/>
        </p:scale>
        <p:origin x="148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8185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9448185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6866E4-1765-2F4A-A89A-80163E91F790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967599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42975" y="746125"/>
            <a:ext cx="4972050" cy="3730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24956"/>
            <a:ext cx="5486400" cy="447627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8185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48185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53656E-706C-AB47-A545-30B3AC9444BA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30440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53656E-706C-AB47-A545-30B3AC9444BA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07029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53656E-706C-AB47-A545-30B3AC9444BA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81506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53656E-706C-AB47-A545-30B3AC9444BA}" type="slidenum">
              <a:rPr lang="uk-UA"/>
              <a:t>20</a:t>
            </a:fld>
            <a:endParaRPr lang="uk-UA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030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3370502" y="-21511"/>
            <a:ext cx="486985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3489805" y="-21511"/>
            <a:ext cx="4664491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86201" y="2708476"/>
            <a:ext cx="4160520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x-none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86201" y="4421080"/>
            <a:ext cx="4156967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B764401E-FE02-554F-BB67-EB0F1E7DB570}" type="datetime4">
              <a:t>20 de setembro de 2021</a:t>
            </a:fld>
            <a:endParaRPr lang="en-US" dirty="0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B37D5FE-740C-46F5-801A-FA5477D9711F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89" name="Rectangle 88"/>
          <p:cNvSpPr/>
          <p:nvPr/>
        </p:nvSpPr>
        <p:spPr>
          <a:xfrm>
            <a:off x="3489805" y="6088284"/>
            <a:ext cx="4666284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9A1DB-51F2-9A44-8E91-2882CC62252C}" type="datetime4">
              <a:t>20 de setembro de 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x-none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DBCBD-5F83-A945-B570-99E1F4A49224}" type="datetime4">
              <a:t>20 de setembro de 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E7258-24F9-D541-BFCA-280CE6ECD71B}" type="datetime4">
              <a:t>20 de setembro de 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EF938-4993-1545-AF62-811DE014F22B}" type="datetime4">
              <a:t>20 de setembro de 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E7003-78DE-DC41-A4B6-D8089940FEEA}" type="datetime4">
              <a:t>20 de setembro de 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CF514-B1C4-AB4E-B86B-1BD359C534F2}" type="datetime4">
              <a:t>20 de setembro de 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19EE4-50D9-5548-AE77-9D2263DC177D}" type="datetime4">
              <a:t>20 de setembro de 2021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x-none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721F5-BB00-E347-AC8C-6826D6F481CD}" type="datetime4">
              <a:t>20 de setembro de 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CCBB7-673A-8D47-9BFB-7788F31189CA}" type="datetime4">
              <a:t>20 de setembro de 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8D39-81CD-5A45-A344-7927E936806C}" type="datetime4">
              <a:t>20 de setembro de 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x-none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2844236D-9E56-5848-8234-1EDE6BC47DD8}" type="datetime4">
              <a:t>20 de setembro de 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90211" y="2505518"/>
            <a:ext cx="4356509" cy="2179694"/>
          </a:xfrm>
        </p:spPr>
        <p:txBody>
          <a:bodyPr>
            <a:normAutofit fontScale="90000"/>
          </a:bodyPr>
          <a:lstStyle/>
          <a:p>
            <a:r>
              <a:rPr lang="en-US"/>
              <a:t>Modelos de ciclo de vida e processo de Software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5021716"/>
            <a:ext cx="3309803" cy="62428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Maria Augusta Vieira </a:t>
            </a:r>
            <a:r>
              <a:rPr lang="en-US" dirty="0" smtClean="0"/>
              <a:t>Nelson e Simone de </a:t>
            </a:r>
            <a:r>
              <a:rPr lang="en-US" dirty="0" err="1" smtClean="0"/>
              <a:t>Assis</a:t>
            </a:r>
            <a:r>
              <a:rPr lang="en-US" dirty="0" smtClean="0"/>
              <a:t> </a:t>
            </a:r>
            <a:r>
              <a:rPr lang="en-US" dirty="0" err="1" smtClean="0"/>
              <a:t>Alves</a:t>
            </a:r>
            <a:r>
              <a:rPr lang="en-US" dirty="0" smtClean="0"/>
              <a:t> da Silva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860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Processo de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2649711"/>
            <a:ext cx="6777317" cy="220687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Um </a:t>
            </a:r>
            <a:r>
              <a:rPr lang="en-US" dirty="0" err="1"/>
              <a:t>conjunto</a:t>
            </a:r>
            <a:r>
              <a:rPr lang="en-US" dirty="0"/>
              <a:t> </a:t>
            </a:r>
            <a:r>
              <a:rPr lang="en-US" dirty="0" err="1"/>
              <a:t>estruturado</a:t>
            </a:r>
            <a:r>
              <a:rPr lang="en-US" dirty="0"/>
              <a:t> de </a:t>
            </a:r>
            <a:r>
              <a:rPr lang="en-US" dirty="0" err="1"/>
              <a:t>atividades</a:t>
            </a:r>
            <a:r>
              <a:rPr lang="en-US" dirty="0"/>
              <a:t> </a:t>
            </a:r>
            <a:r>
              <a:rPr lang="en-US" dirty="0" err="1"/>
              <a:t>necessárias</a:t>
            </a:r>
            <a:r>
              <a:rPr lang="en-US" dirty="0"/>
              <a:t> para </a:t>
            </a:r>
            <a:r>
              <a:rPr lang="en-US" dirty="0" err="1"/>
              <a:t>desenvolver</a:t>
            </a:r>
            <a:r>
              <a:rPr lang="en-US" dirty="0"/>
              <a:t> um </a:t>
            </a:r>
            <a:r>
              <a:rPr lang="en-US" dirty="0" err="1"/>
              <a:t>sistema</a:t>
            </a:r>
            <a:r>
              <a:rPr lang="en-US" dirty="0"/>
              <a:t> de software. </a:t>
            </a:r>
          </a:p>
          <a:p>
            <a:endParaRPr lang="en-US" dirty="0"/>
          </a:p>
          <a:p>
            <a:r>
              <a:rPr lang="en-US" dirty="0"/>
              <a:t>As </a:t>
            </a:r>
            <a:r>
              <a:rPr lang="en-US" dirty="0" err="1"/>
              <a:t>atividades</a:t>
            </a:r>
            <a:r>
              <a:rPr lang="en-US" dirty="0"/>
              <a:t>, a </a:t>
            </a:r>
            <a:r>
              <a:rPr lang="en-US" dirty="0" err="1"/>
              <a:t>ênfase</a:t>
            </a:r>
            <a:r>
              <a:rPr lang="en-US" dirty="0"/>
              <a:t>, a </a:t>
            </a:r>
            <a:r>
              <a:rPr lang="en-US" dirty="0" err="1"/>
              <a:t>duração</a:t>
            </a:r>
            <a:r>
              <a:rPr lang="en-US" dirty="0"/>
              <a:t>, a </a:t>
            </a:r>
            <a:r>
              <a:rPr lang="en-US" dirty="0" err="1"/>
              <a:t>ordem</a:t>
            </a:r>
            <a:r>
              <a:rPr lang="en-US" dirty="0"/>
              <a:t>, a </a:t>
            </a:r>
            <a:r>
              <a:rPr lang="en-US" dirty="0" err="1"/>
              <a:t>distribuição</a:t>
            </a:r>
            <a:r>
              <a:rPr lang="en-US" dirty="0"/>
              <a:t> no tempo </a:t>
            </a:r>
            <a:r>
              <a:rPr lang="en-US" dirty="0" err="1"/>
              <a:t>podem</a:t>
            </a:r>
            <a:r>
              <a:rPr lang="en-US" dirty="0"/>
              <a:t> </a:t>
            </a:r>
            <a:r>
              <a:rPr lang="en-US" dirty="0" err="1"/>
              <a:t>variar</a:t>
            </a:r>
            <a:r>
              <a:rPr lang="en-US" dirty="0"/>
              <a:t> de </a:t>
            </a:r>
            <a:r>
              <a:rPr lang="en-US" dirty="0" err="1"/>
              <a:t>processo</a:t>
            </a:r>
            <a:r>
              <a:rPr lang="en-US" dirty="0"/>
              <a:t> para </a:t>
            </a:r>
            <a:r>
              <a:rPr lang="en-US" dirty="0" err="1"/>
              <a:t>processo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645709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424" y="669211"/>
            <a:ext cx="7024744" cy="961808"/>
          </a:xfrm>
        </p:spPr>
        <p:txBody>
          <a:bodyPr/>
          <a:lstStyle/>
          <a:p>
            <a:pPr algn="r"/>
            <a:r>
              <a:rPr lang="en-US" dirty="0" err="1"/>
              <a:t>Modelos</a:t>
            </a:r>
            <a:r>
              <a:rPr lang="en-US" dirty="0"/>
              <a:t> de </a:t>
            </a:r>
            <a:r>
              <a:rPr lang="en-US" dirty="0" err="1"/>
              <a:t>processos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936569"/>
            <a:ext cx="6777317" cy="3864797"/>
          </a:xfrm>
        </p:spPr>
        <p:txBody>
          <a:bodyPr/>
          <a:lstStyle/>
          <a:p>
            <a:r>
              <a:rPr lang="en-US" dirty="0"/>
              <a:t>Um </a:t>
            </a:r>
            <a:r>
              <a:rPr lang="en-US" dirty="0" err="1"/>
              <a:t>modelo</a:t>
            </a:r>
            <a:r>
              <a:rPr lang="en-US" dirty="0"/>
              <a:t> de </a:t>
            </a:r>
            <a:r>
              <a:rPr lang="en-US" dirty="0" err="1"/>
              <a:t>processo</a:t>
            </a:r>
            <a:r>
              <a:rPr lang="en-US" dirty="0"/>
              <a:t> de </a:t>
            </a:r>
            <a:r>
              <a:rPr lang="en-US" dirty="0" err="1"/>
              <a:t>desenvolvimento</a:t>
            </a:r>
            <a:r>
              <a:rPr lang="en-US" dirty="0"/>
              <a:t> de software é uma </a:t>
            </a:r>
            <a:r>
              <a:rPr lang="en-US" dirty="0" err="1"/>
              <a:t>representação</a:t>
            </a:r>
            <a:r>
              <a:rPr lang="en-US" dirty="0"/>
              <a:t> </a:t>
            </a:r>
            <a:r>
              <a:rPr lang="en-US" dirty="0" err="1"/>
              <a:t>abstrata</a:t>
            </a:r>
            <a:r>
              <a:rPr lang="en-US" dirty="0"/>
              <a:t> de um </a:t>
            </a:r>
            <a:r>
              <a:rPr lang="en-US" dirty="0" err="1"/>
              <a:t>processo</a:t>
            </a:r>
            <a:r>
              <a:rPr lang="en-US" dirty="0"/>
              <a:t>.</a:t>
            </a:r>
          </a:p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geral</a:t>
            </a:r>
            <a:r>
              <a:rPr lang="en-US" dirty="0"/>
              <a:t> </a:t>
            </a:r>
            <a:r>
              <a:rPr lang="en-US" dirty="0" err="1"/>
              <a:t>baseia</a:t>
            </a:r>
            <a:r>
              <a:rPr lang="en-US" dirty="0"/>
              <a:t>-se no </a:t>
            </a:r>
            <a:r>
              <a:rPr lang="en-US" dirty="0" err="1"/>
              <a:t>modelo</a:t>
            </a:r>
            <a:r>
              <a:rPr lang="en-US" dirty="0"/>
              <a:t> de </a:t>
            </a:r>
            <a:r>
              <a:rPr lang="en-US" dirty="0" err="1"/>
              <a:t>ciclo</a:t>
            </a:r>
            <a:r>
              <a:rPr lang="en-US" dirty="0"/>
              <a:t> de </a:t>
            </a:r>
            <a:r>
              <a:rPr lang="en-US" dirty="0" err="1"/>
              <a:t>vida</a:t>
            </a:r>
            <a:r>
              <a:rPr lang="en-US" dirty="0"/>
              <a:t> do software</a:t>
            </a:r>
          </a:p>
          <a:p>
            <a:pPr lvl="1"/>
            <a:r>
              <a:rPr lang="en-US" dirty="0" err="1"/>
              <a:t>Ciclo</a:t>
            </a:r>
            <a:r>
              <a:rPr lang="en-US" dirty="0"/>
              <a:t> de </a:t>
            </a:r>
            <a:r>
              <a:rPr lang="en-US" dirty="0" err="1"/>
              <a:t>vida</a:t>
            </a:r>
            <a:r>
              <a:rPr lang="en-US" dirty="0"/>
              <a:t> </a:t>
            </a:r>
            <a:r>
              <a:rPr lang="en-US" dirty="0" err="1"/>
              <a:t>compreende</a:t>
            </a:r>
            <a:r>
              <a:rPr lang="en-US" dirty="0"/>
              <a:t> a </a:t>
            </a:r>
            <a:r>
              <a:rPr lang="en-US" dirty="0" err="1"/>
              <a:t>vida</a:t>
            </a:r>
            <a:r>
              <a:rPr lang="en-US" dirty="0"/>
              <a:t> </a:t>
            </a:r>
            <a:r>
              <a:rPr lang="en-US" dirty="0" err="1"/>
              <a:t>útil</a:t>
            </a:r>
            <a:r>
              <a:rPr lang="en-US" dirty="0"/>
              <a:t> do software </a:t>
            </a:r>
            <a:r>
              <a:rPr lang="en-US" dirty="0" err="1"/>
              <a:t>desde</a:t>
            </a:r>
            <a:r>
              <a:rPr lang="en-US" dirty="0"/>
              <a:t> a </a:t>
            </a:r>
            <a:r>
              <a:rPr lang="en-US" dirty="0" err="1"/>
              <a:t>concepção</a:t>
            </a:r>
            <a:r>
              <a:rPr lang="en-US" dirty="0"/>
              <a:t> da </a:t>
            </a:r>
            <a:r>
              <a:rPr lang="en-US" dirty="0" err="1"/>
              <a:t>ideia</a:t>
            </a:r>
            <a:r>
              <a:rPr lang="en-US" dirty="0"/>
              <a:t> </a:t>
            </a:r>
            <a:r>
              <a:rPr lang="en-US" dirty="0" err="1"/>
              <a:t>inicial</a:t>
            </a:r>
            <a:r>
              <a:rPr lang="en-US" dirty="0"/>
              <a:t> do software até o </a:t>
            </a:r>
            <a:r>
              <a:rPr lang="en-US" dirty="0" err="1"/>
              <a:t>momento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que o software é </a:t>
            </a:r>
            <a:r>
              <a:rPr lang="en-US" dirty="0" err="1"/>
              <a:t>aposentado</a:t>
            </a:r>
            <a:r>
              <a:rPr lang="en-US" dirty="0"/>
              <a:t> e </a:t>
            </a:r>
            <a:r>
              <a:rPr lang="en-US" dirty="0" err="1"/>
              <a:t>retirado</a:t>
            </a:r>
            <a:r>
              <a:rPr lang="en-US" dirty="0"/>
              <a:t> do </a:t>
            </a:r>
            <a:r>
              <a:rPr lang="en-US" dirty="0" err="1" smtClean="0"/>
              <a:t>ambiente</a:t>
            </a:r>
            <a:r>
              <a:rPr lang="en-US" dirty="0" smtClean="0"/>
              <a:t> </a:t>
            </a:r>
            <a:r>
              <a:rPr lang="en-US" dirty="0"/>
              <a:t>de </a:t>
            </a:r>
            <a:r>
              <a:rPr lang="en-US" dirty="0" err="1"/>
              <a:t>produção</a:t>
            </a:r>
            <a:r>
              <a:rPr lang="en-US" dirty="0"/>
              <a:t> na </a:t>
            </a:r>
            <a:r>
              <a:rPr lang="en-US" dirty="0" err="1"/>
              <a:t>empresa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29692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776787"/>
            <a:ext cx="7024744" cy="961808"/>
          </a:xfrm>
        </p:spPr>
        <p:txBody>
          <a:bodyPr/>
          <a:lstStyle/>
          <a:p>
            <a:r>
              <a:rPr lang="en-US"/>
              <a:t>Ciclo de vida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2313087"/>
            <a:ext cx="6777317" cy="3864797"/>
          </a:xfrm>
        </p:spPr>
        <p:txBody>
          <a:bodyPr/>
          <a:lstStyle/>
          <a:p>
            <a:pPr marL="365760" lvl="1" indent="0">
              <a:buNone/>
            </a:pPr>
            <a:r>
              <a:rPr lang="en-US" dirty="0"/>
              <a:t>"</a:t>
            </a:r>
            <a:r>
              <a:rPr lang="en-US" dirty="0" err="1"/>
              <a:t>Estrutura</a:t>
            </a:r>
            <a:r>
              <a:rPr lang="en-US" dirty="0"/>
              <a:t> </a:t>
            </a:r>
            <a:r>
              <a:rPr lang="en-US" dirty="0" err="1"/>
              <a:t>contendo</a:t>
            </a:r>
            <a:r>
              <a:rPr lang="en-US" dirty="0"/>
              <a:t> </a:t>
            </a:r>
            <a:r>
              <a:rPr lang="en-US" dirty="0" err="1"/>
              <a:t>processos</a:t>
            </a:r>
            <a:r>
              <a:rPr lang="en-US" dirty="0"/>
              <a:t>, </a:t>
            </a:r>
            <a:r>
              <a:rPr lang="en-US" dirty="0" err="1"/>
              <a:t>atividades</a:t>
            </a:r>
            <a:r>
              <a:rPr lang="en-US" dirty="0"/>
              <a:t> e </a:t>
            </a:r>
            <a:r>
              <a:rPr lang="en-US" dirty="0" err="1"/>
              <a:t>tarefas</a:t>
            </a:r>
            <a:r>
              <a:rPr lang="en-US" dirty="0"/>
              <a:t> </a:t>
            </a:r>
            <a:r>
              <a:rPr lang="en-US" dirty="0" err="1"/>
              <a:t>envolvidas</a:t>
            </a:r>
            <a:r>
              <a:rPr lang="en-US" dirty="0"/>
              <a:t> no </a:t>
            </a:r>
            <a:r>
              <a:rPr lang="en-US" dirty="0" err="1"/>
              <a:t>desenvolvimento</a:t>
            </a:r>
            <a:r>
              <a:rPr lang="en-US" dirty="0"/>
              <a:t>, </a:t>
            </a:r>
            <a:r>
              <a:rPr lang="en-US" dirty="0" err="1"/>
              <a:t>operação</a:t>
            </a:r>
            <a:r>
              <a:rPr lang="en-US" dirty="0"/>
              <a:t> e </a:t>
            </a:r>
            <a:r>
              <a:rPr lang="en-US" dirty="0" err="1"/>
              <a:t>manutenção</a:t>
            </a:r>
            <a:r>
              <a:rPr lang="en-US" dirty="0"/>
              <a:t> de um </a:t>
            </a:r>
            <a:r>
              <a:rPr lang="en-US" dirty="0" err="1"/>
              <a:t>produto</a:t>
            </a:r>
            <a:r>
              <a:rPr lang="en-US" dirty="0"/>
              <a:t> de software, </a:t>
            </a:r>
            <a:r>
              <a:rPr lang="en-US" dirty="0" err="1"/>
              <a:t>abrangendo</a:t>
            </a:r>
            <a:r>
              <a:rPr lang="en-US" dirty="0"/>
              <a:t> a </a:t>
            </a:r>
            <a:r>
              <a:rPr lang="en-US" dirty="0" err="1"/>
              <a:t>vida</a:t>
            </a:r>
            <a:r>
              <a:rPr lang="en-US" dirty="0"/>
              <a:t> do </a:t>
            </a:r>
            <a:r>
              <a:rPr lang="en-US" dirty="0" err="1"/>
              <a:t>sistema</a:t>
            </a:r>
            <a:r>
              <a:rPr lang="en-US" dirty="0"/>
              <a:t>, </a:t>
            </a:r>
            <a:r>
              <a:rPr lang="en-US" dirty="0" err="1"/>
              <a:t>desde</a:t>
            </a:r>
            <a:r>
              <a:rPr lang="en-US" dirty="0"/>
              <a:t> a definição de </a:t>
            </a:r>
            <a:r>
              <a:rPr lang="en-US" dirty="0" err="1"/>
              <a:t>seus</a:t>
            </a:r>
            <a:r>
              <a:rPr lang="en-US" dirty="0"/>
              <a:t> </a:t>
            </a:r>
            <a:r>
              <a:rPr lang="en-US" dirty="0" err="1"/>
              <a:t>requisitos</a:t>
            </a:r>
            <a:r>
              <a:rPr lang="en-US" dirty="0"/>
              <a:t> até o </a:t>
            </a:r>
            <a:r>
              <a:rPr lang="en-US" dirty="0" err="1"/>
              <a:t>término</a:t>
            </a:r>
            <a:r>
              <a:rPr lang="en-US" dirty="0"/>
              <a:t> de </a:t>
            </a:r>
            <a:r>
              <a:rPr lang="en-US" dirty="0" err="1"/>
              <a:t>seu</a:t>
            </a:r>
            <a:r>
              <a:rPr lang="en-US" dirty="0"/>
              <a:t> </a:t>
            </a:r>
            <a:r>
              <a:rPr lang="en-US" dirty="0" err="1"/>
              <a:t>uso</a:t>
            </a:r>
            <a:r>
              <a:rPr lang="en-US" dirty="0"/>
              <a:t>"</a:t>
            </a:r>
          </a:p>
          <a:p>
            <a:pPr marL="1289304" lvl="5" indent="0" algn="r">
              <a:buNone/>
            </a:pPr>
            <a:r>
              <a:rPr lang="de-DE" dirty="0"/>
              <a:t>NBR ISO/IEC 12207:1998</a:t>
            </a:r>
            <a:endParaRPr lang="en-US" dirty="0"/>
          </a:p>
          <a:p>
            <a:pPr marL="36576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590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770658"/>
            <a:ext cx="7024744" cy="1143000"/>
          </a:xfrm>
        </p:spPr>
        <p:txBody>
          <a:bodyPr/>
          <a:lstStyle/>
          <a:p>
            <a:r>
              <a:rPr lang="en-US"/>
              <a:t>Descrições de processos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2293416"/>
            <a:ext cx="6777317" cy="3508977"/>
          </a:xfrm>
        </p:spPr>
        <p:txBody>
          <a:bodyPr/>
          <a:lstStyle/>
          <a:p>
            <a:r>
              <a:rPr lang="en-US" b="1" dirty="0" err="1"/>
              <a:t>Atividades</a:t>
            </a:r>
            <a:r>
              <a:rPr lang="en-US" dirty="0"/>
              <a:t> : </a:t>
            </a:r>
            <a:r>
              <a:rPr lang="en-US" dirty="0" err="1"/>
              <a:t>indicam</a:t>
            </a:r>
            <a:r>
              <a:rPr lang="en-US" dirty="0"/>
              <a:t> o que </a:t>
            </a:r>
            <a:r>
              <a:rPr lang="en-US" dirty="0" err="1"/>
              <a:t>precisa</a:t>
            </a:r>
            <a:r>
              <a:rPr lang="en-US" dirty="0"/>
              <a:t> </a:t>
            </a:r>
            <a:r>
              <a:rPr lang="en-US" dirty="0" err="1"/>
              <a:t>ser</a:t>
            </a:r>
            <a:r>
              <a:rPr lang="en-US" dirty="0"/>
              <a:t> </a:t>
            </a:r>
            <a:r>
              <a:rPr lang="en-US" dirty="0" err="1"/>
              <a:t>feito</a:t>
            </a:r>
            <a:r>
              <a:rPr lang="en-US" dirty="0"/>
              <a:t> e </a:t>
            </a:r>
            <a:r>
              <a:rPr lang="en-US" dirty="0" err="1" smtClean="0"/>
              <a:t>indicam</a:t>
            </a:r>
            <a:r>
              <a:rPr lang="en-US" dirty="0" smtClean="0"/>
              <a:t> </a:t>
            </a:r>
            <a:r>
              <a:rPr lang="en-US" dirty="0" err="1"/>
              <a:t>também</a:t>
            </a:r>
            <a:r>
              <a:rPr lang="en-US" dirty="0"/>
              <a:t> uma </a:t>
            </a:r>
            <a:r>
              <a:rPr lang="en-US" dirty="0" err="1"/>
              <a:t>prática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técnica</a:t>
            </a:r>
            <a:r>
              <a:rPr lang="en-US" dirty="0"/>
              <a:t> que </a:t>
            </a:r>
            <a:r>
              <a:rPr lang="en-US" dirty="0" err="1"/>
              <a:t>deve</a:t>
            </a:r>
            <a:r>
              <a:rPr lang="en-US" dirty="0"/>
              <a:t> </a:t>
            </a:r>
            <a:r>
              <a:rPr lang="en-US" dirty="0" err="1"/>
              <a:t>ser</a:t>
            </a:r>
            <a:r>
              <a:rPr lang="en-US" dirty="0"/>
              <a:t> </a:t>
            </a:r>
            <a:r>
              <a:rPr lang="en-US" dirty="0" err="1"/>
              <a:t>usada</a:t>
            </a:r>
            <a:r>
              <a:rPr lang="en-US" dirty="0"/>
              <a:t>.</a:t>
            </a:r>
          </a:p>
          <a:p>
            <a:r>
              <a:rPr lang="en-US" b="1" dirty="0" err="1"/>
              <a:t>Produtos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b="1" dirty="0" err="1"/>
              <a:t>artefatos</a:t>
            </a:r>
            <a:r>
              <a:rPr lang="en-US" dirty="0"/>
              <a:t> :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resultados</a:t>
            </a:r>
            <a:r>
              <a:rPr lang="en-US" dirty="0"/>
              <a:t> de uma </a:t>
            </a:r>
            <a:r>
              <a:rPr lang="en-US" dirty="0" err="1"/>
              <a:t>atividade</a:t>
            </a:r>
            <a:r>
              <a:rPr lang="en-US" dirty="0"/>
              <a:t> do </a:t>
            </a:r>
            <a:r>
              <a:rPr lang="en-US" dirty="0" err="1"/>
              <a:t>processo</a:t>
            </a:r>
            <a:r>
              <a:rPr lang="en-US" dirty="0"/>
              <a:t>; </a:t>
            </a:r>
          </a:p>
          <a:p>
            <a:r>
              <a:rPr lang="en-US" b="1" dirty="0" err="1"/>
              <a:t>Insumos</a:t>
            </a:r>
            <a:r>
              <a:rPr lang="en-US" dirty="0"/>
              <a:t> :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artefatos</a:t>
            </a:r>
            <a:r>
              <a:rPr lang="en-US" dirty="0"/>
              <a:t> que </a:t>
            </a:r>
            <a:r>
              <a:rPr lang="en-US" dirty="0" err="1"/>
              <a:t>servem</a:t>
            </a:r>
            <a:r>
              <a:rPr lang="en-US" dirty="0"/>
              <a:t> de </a:t>
            </a:r>
            <a:r>
              <a:rPr lang="en-US" dirty="0" err="1"/>
              <a:t>entrada</a:t>
            </a:r>
            <a:r>
              <a:rPr lang="en-US" dirty="0"/>
              <a:t> para a </a:t>
            </a:r>
            <a:r>
              <a:rPr lang="en-US" dirty="0" err="1"/>
              <a:t>execução</a:t>
            </a:r>
            <a:r>
              <a:rPr lang="en-US" dirty="0"/>
              <a:t> de uma </a:t>
            </a:r>
            <a:r>
              <a:rPr lang="en-US" dirty="0" err="1"/>
              <a:t>atividade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6179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800894"/>
            <a:ext cx="7024744" cy="1143000"/>
          </a:xfrm>
        </p:spPr>
        <p:txBody>
          <a:bodyPr/>
          <a:lstStyle/>
          <a:p>
            <a:r>
              <a:rPr lang="en-US"/>
              <a:t>Descrições de processos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2353888"/>
            <a:ext cx="6777317" cy="3508977"/>
          </a:xfrm>
        </p:spPr>
        <p:txBody>
          <a:bodyPr/>
          <a:lstStyle/>
          <a:p>
            <a:r>
              <a:rPr lang="en-US" b="1"/>
              <a:t>Papéis</a:t>
            </a:r>
            <a:r>
              <a:rPr lang="en-US"/>
              <a:t> : refletem as responsabilidades das pessoas envolvidas no processo;</a:t>
            </a:r>
          </a:p>
          <a:p>
            <a:r>
              <a:rPr lang="en-US" b="1"/>
              <a:t>Pré </a:t>
            </a:r>
            <a:r>
              <a:rPr lang="en-US"/>
              <a:t>e</a:t>
            </a:r>
            <a:r>
              <a:rPr lang="en-US" b="1"/>
              <a:t> pós-condições</a:t>
            </a:r>
            <a:r>
              <a:rPr lang="en-US"/>
              <a:t> : são declarações que são verdadeiras antes e depois de uma atividade do processo ser executada, ou um produto produzido. </a:t>
            </a:r>
          </a:p>
        </p:txBody>
      </p:sp>
    </p:spTree>
    <p:extLst>
      <p:ext uri="{BB962C8B-B14F-4D97-AF65-F5344CB8AC3E}">
        <p14:creationId xmlns:p14="http://schemas.microsoft.com/office/powerpoint/2010/main" val="19803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65938"/>
            <a:ext cx="7024744" cy="1143000"/>
          </a:xfrm>
        </p:spPr>
        <p:txBody>
          <a:bodyPr/>
          <a:lstStyle/>
          <a:p>
            <a:r>
              <a:rPr lang="en-US"/>
              <a:t>Exemplos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Screen Shot 2016-02-25 at 10.59.10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0" y="1207144"/>
            <a:ext cx="5921849" cy="524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50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65938"/>
            <a:ext cx="7024744" cy="1143000"/>
          </a:xfrm>
        </p:spPr>
        <p:txBody>
          <a:bodyPr/>
          <a:lstStyle/>
          <a:p>
            <a:r>
              <a:rPr lang="en-US"/>
              <a:t>Exemplos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Screen Shot 2016-02-25 at 10.59.10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4464" y="1363264"/>
            <a:ext cx="5745685" cy="5091985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3235746" y="3084117"/>
            <a:ext cx="1141198" cy="1005118"/>
          </a:xfrm>
          <a:prstGeom prst="ellipse">
            <a:avLst/>
          </a:prstGeom>
          <a:noFill/>
          <a:ln w="1016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977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65938"/>
            <a:ext cx="7024744" cy="1143000"/>
          </a:xfrm>
        </p:spPr>
        <p:txBody>
          <a:bodyPr/>
          <a:lstStyle/>
          <a:p>
            <a:r>
              <a:rPr lang="en-US"/>
              <a:t>Exemplos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Screen Shot 2016-02-25 at 10.59.10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4464" y="1363264"/>
            <a:ext cx="5745685" cy="5091985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1481787" y="3567899"/>
            <a:ext cx="1368037" cy="1216764"/>
          </a:xfrm>
          <a:prstGeom prst="ellipse">
            <a:avLst/>
          </a:prstGeom>
          <a:noFill/>
          <a:ln w="1016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241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65938"/>
            <a:ext cx="7024744" cy="1143000"/>
          </a:xfrm>
        </p:spPr>
        <p:txBody>
          <a:bodyPr/>
          <a:lstStyle/>
          <a:p>
            <a:r>
              <a:rPr lang="en-US"/>
              <a:t>Exemplos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Screen Shot 2016-02-25 at 10.59.10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4464" y="1363264"/>
            <a:ext cx="5745685" cy="5091985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3205506" y="4595937"/>
            <a:ext cx="1141198" cy="853917"/>
          </a:xfrm>
          <a:prstGeom prst="ellipse">
            <a:avLst/>
          </a:prstGeom>
          <a:noFill/>
          <a:ln w="1016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174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65938"/>
            <a:ext cx="7024744" cy="1143000"/>
          </a:xfrm>
        </p:spPr>
        <p:txBody>
          <a:bodyPr/>
          <a:lstStyle/>
          <a:p>
            <a:r>
              <a:rPr lang="en-US"/>
              <a:t>Exemplos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Screen Shot 2016-02-25 at 10.59.10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4464" y="1363264"/>
            <a:ext cx="5745685" cy="5091985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4536092" y="4278454"/>
            <a:ext cx="1300343" cy="1020217"/>
          </a:xfrm>
          <a:prstGeom prst="ellipse">
            <a:avLst/>
          </a:prstGeom>
          <a:noFill/>
          <a:ln w="1016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038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513652"/>
            <a:ext cx="7024744" cy="1143000"/>
          </a:xfrm>
        </p:spPr>
        <p:txBody>
          <a:bodyPr/>
          <a:lstStyle/>
          <a:p>
            <a:r>
              <a:rPr lang="en-US"/>
              <a:t>Exemplos</a:t>
            </a:r>
          </a:p>
        </p:txBody>
      </p:sp>
      <p:pic>
        <p:nvPicPr>
          <p:cNvPr id="3" name="Picture 2" descr="Surgimento de novos projetos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88" y="2124248"/>
            <a:ext cx="9144000" cy="4165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057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513652"/>
            <a:ext cx="7024744" cy="1143000"/>
          </a:xfrm>
        </p:spPr>
        <p:txBody>
          <a:bodyPr/>
          <a:lstStyle/>
          <a:p>
            <a:r>
              <a:rPr lang="en-US"/>
              <a:t>Exemplos</a:t>
            </a:r>
          </a:p>
        </p:txBody>
      </p:sp>
      <p:pic>
        <p:nvPicPr>
          <p:cNvPr id="3" name="Picture 2" descr="Surgimento de novos projetos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21048"/>
            <a:ext cx="9144000" cy="4165934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4520969" y="2993406"/>
            <a:ext cx="1874917" cy="1020217"/>
          </a:xfrm>
          <a:prstGeom prst="ellipse">
            <a:avLst/>
          </a:prstGeom>
          <a:noFill/>
          <a:ln w="1016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28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725832"/>
          </a:xfrm>
        </p:spPr>
        <p:txBody>
          <a:bodyPr/>
          <a:lstStyle/>
          <a:p>
            <a:r>
              <a:rPr lang="en-US" dirty="0" err="1"/>
              <a:t>Modelos</a:t>
            </a:r>
            <a:r>
              <a:rPr lang="en-US" dirty="0"/>
              <a:t> de </a:t>
            </a:r>
            <a:r>
              <a:rPr lang="en-US" dirty="0" err="1"/>
              <a:t>ciclo</a:t>
            </a:r>
            <a:r>
              <a:rPr lang="en-US" dirty="0"/>
              <a:t> de </a:t>
            </a:r>
            <a:r>
              <a:rPr lang="en-US" dirty="0" err="1"/>
              <a:t>vida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0" y="2003110"/>
            <a:ext cx="6777317" cy="3658204"/>
          </a:xfrm>
        </p:spPr>
        <p:txBody>
          <a:bodyPr/>
          <a:lstStyle/>
          <a:p>
            <a:r>
              <a:rPr lang="en-US" dirty="0" err="1"/>
              <a:t>Modelo</a:t>
            </a:r>
            <a:r>
              <a:rPr lang="en-US" dirty="0"/>
              <a:t> </a:t>
            </a:r>
            <a:r>
              <a:rPr lang="en-US" dirty="0" err="1"/>
              <a:t>Sequencial</a:t>
            </a:r>
            <a:r>
              <a:rPr lang="en-US" dirty="0"/>
              <a:t> Linear</a:t>
            </a:r>
          </a:p>
          <a:p>
            <a:r>
              <a:rPr lang="en-US" dirty="0" err="1"/>
              <a:t>Modelo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Cascata</a:t>
            </a:r>
            <a:endParaRPr lang="en-US" dirty="0"/>
          </a:p>
          <a:p>
            <a:r>
              <a:rPr lang="en-US" dirty="0" err="1"/>
              <a:t>Modelo</a:t>
            </a:r>
            <a:r>
              <a:rPr lang="en-US" dirty="0"/>
              <a:t> Incremental</a:t>
            </a:r>
          </a:p>
          <a:p>
            <a:r>
              <a:rPr lang="en-US" dirty="0" err="1"/>
              <a:t>Modelo</a:t>
            </a:r>
            <a:r>
              <a:rPr lang="en-US" dirty="0"/>
              <a:t> Incremental </a:t>
            </a:r>
            <a:r>
              <a:rPr lang="en-US" dirty="0" err="1"/>
              <a:t>Evolutivo</a:t>
            </a:r>
            <a:endParaRPr lang="en-US" dirty="0"/>
          </a:p>
          <a:p>
            <a:r>
              <a:rPr lang="en-US" dirty="0" err="1"/>
              <a:t>Modelo</a:t>
            </a:r>
            <a:r>
              <a:rPr lang="en-US" dirty="0"/>
              <a:t> </a:t>
            </a:r>
            <a:r>
              <a:rPr lang="en-US" dirty="0" err="1"/>
              <a:t>Espiral</a:t>
            </a:r>
            <a:endParaRPr lang="en-US" dirty="0"/>
          </a:p>
          <a:p>
            <a:r>
              <a:rPr lang="en-US" dirty="0" err="1"/>
              <a:t>Modelo</a:t>
            </a:r>
            <a:r>
              <a:rPr lang="en-US" dirty="0"/>
              <a:t> </a:t>
            </a:r>
            <a:r>
              <a:rPr lang="en-US" dirty="0" err="1"/>
              <a:t>Iterativo</a:t>
            </a:r>
            <a:endParaRPr lang="en-US" dirty="0"/>
          </a:p>
          <a:p>
            <a:r>
              <a:rPr lang="en-US" dirty="0" err="1"/>
              <a:t>Modelo</a:t>
            </a:r>
            <a:r>
              <a:rPr lang="en-US" dirty="0"/>
              <a:t> Incremental e </a:t>
            </a:r>
            <a:r>
              <a:rPr lang="en-US" dirty="0" err="1"/>
              <a:t>Iterativo</a:t>
            </a:r>
            <a:r>
              <a:rPr lang="en-US" dirty="0"/>
              <a:t> </a:t>
            </a:r>
          </a:p>
          <a:p>
            <a:r>
              <a:rPr lang="en-US" dirty="0" err="1"/>
              <a:t>Modelo</a:t>
            </a:r>
            <a:r>
              <a:rPr lang="en-US" dirty="0"/>
              <a:t> V</a:t>
            </a:r>
          </a:p>
          <a:p>
            <a:pPr marL="6858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889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456164"/>
            <a:ext cx="7024744" cy="1143000"/>
          </a:xfrm>
        </p:spPr>
        <p:txBody>
          <a:bodyPr/>
          <a:lstStyle/>
          <a:p>
            <a:r>
              <a:rPr lang="en-US"/>
              <a:t>Modelo sequencial linear</a:t>
            </a:r>
          </a:p>
        </p:txBody>
      </p:sp>
      <p:pic>
        <p:nvPicPr>
          <p:cNvPr id="3" name="Picture 2" descr="Screen Shot 2016-02-25 at 16.34.43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290" y="2191133"/>
            <a:ext cx="7408946" cy="2674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123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456164"/>
            <a:ext cx="7024744" cy="1143000"/>
          </a:xfrm>
        </p:spPr>
        <p:txBody>
          <a:bodyPr/>
          <a:lstStyle/>
          <a:p>
            <a:r>
              <a:rPr lang="en-US"/>
              <a:t>Modelo em cascata</a:t>
            </a:r>
          </a:p>
        </p:txBody>
      </p:sp>
      <p:pic>
        <p:nvPicPr>
          <p:cNvPr id="6" name="Picture 7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711" y="1821233"/>
            <a:ext cx="7986712" cy="456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09867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456164"/>
            <a:ext cx="7024744" cy="828884"/>
          </a:xfrm>
        </p:spPr>
        <p:txBody>
          <a:bodyPr/>
          <a:lstStyle/>
          <a:p>
            <a:r>
              <a:rPr lang="en-US"/>
              <a:t>Modelo Incremental</a:t>
            </a:r>
          </a:p>
        </p:txBody>
      </p:sp>
      <p:pic>
        <p:nvPicPr>
          <p:cNvPr id="3" name="Picture 2" descr="incremental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338" y="1424069"/>
            <a:ext cx="6607571" cy="4935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794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1375" y="259630"/>
            <a:ext cx="7968397" cy="1143000"/>
          </a:xfrm>
        </p:spPr>
        <p:txBody>
          <a:bodyPr/>
          <a:lstStyle/>
          <a:p>
            <a:r>
              <a:rPr lang="en-US"/>
              <a:t>Modelo Incremental Evolutivo</a:t>
            </a:r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736725"/>
            <a:ext cx="7921625" cy="436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0390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259630"/>
            <a:ext cx="7024744" cy="1143000"/>
          </a:xfrm>
        </p:spPr>
        <p:txBody>
          <a:bodyPr/>
          <a:lstStyle/>
          <a:p>
            <a:r>
              <a:rPr lang="en-US"/>
              <a:t>Modelo Espiral</a:t>
            </a:r>
          </a:p>
        </p:txBody>
      </p:sp>
      <p:pic>
        <p:nvPicPr>
          <p:cNvPr id="3" name="Picture 2" descr="espiral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981" y="1657349"/>
            <a:ext cx="7795305" cy="4677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112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Modelo Iterativo</a:t>
            </a:r>
          </a:p>
        </p:txBody>
      </p:sp>
      <p:pic>
        <p:nvPicPr>
          <p:cNvPr id="4" name="Picture 3" descr="Screen Shot 2016-02-25 at 16.40.29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330" y="2951985"/>
            <a:ext cx="7366000" cy="132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267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559749"/>
          </a:xfrm>
        </p:spPr>
        <p:txBody>
          <a:bodyPr>
            <a:normAutofit fontScale="90000"/>
          </a:bodyPr>
          <a:lstStyle/>
          <a:p>
            <a:r>
              <a:rPr lang="en-US"/>
              <a:t>Incremental x Iterativo</a:t>
            </a:r>
          </a:p>
        </p:txBody>
      </p:sp>
      <p:pic>
        <p:nvPicPr>
          <p:cNvPr id="4" name="Picture 3" descr="Screen Shot 2016-02-25 at 16.44.42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70" y="1847784"/>
            <a:ext cx="6788824" cy="5007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555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911688"/>
            <a:ext cx="7504206" cy="770575"/>
          </a:xfrm>
        </p:spPr>
        <p:txBody>
          <a:bodyPr>
            <a:noAutofit/>
          </a:bodyPr>
          <a:lstStyle/>
          <a:p>
            <a:r>
              <a:rPr lang="en-US" sz="3600"/>
              <a:t>Modelo Incremental Iterativo</a:t>
            </a:r>
          </a:p>
        </p:txBody>
      </p:sp>
      <p:pic>
        <p:nvPicPr>
          <p:cNvPr id="4" name="Content Placeholder 3" descr="iteration.png"/>
          <p:cNvPicPr>
            <a:picLocks noGrp="1" noChangeAspect="1"/>
          </p:cNvPicPr>
          <p:nvPr>
            <p:ph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97" b="1928"/>
          <a:stretch/>
        </p:blipFill>
        <p:spPr>
          <a:xfrm>
            <a:off x="766710" y="1774533"/>
            <a:ext cx="7481568" cy="4656113"/>
          </a:xfrm>
        </p:spPr>
      </p:pic>
    </p:spTree>
    <p:extLst>
      <p:ext uri="{BB962C8B-B14F-4D97-AF65-F5344CB8AC3E}">
        <p14:creationId xmlns:p14="http://schemas.microsoft.com/office/powerpoint/2010/main" val="3801260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666336"/>
            <a:ext cx="7024744" cy="722656"/>
          </a:xfrm>
        </p:spPr>
        <p:txBody>
          <a:bodyPr/>
          <a:lstStyle/>
          <a:p>
            <a:r>
              <a:rPr lang="en-US"/>
              <a:t>Modelo V</a:t>
            </a:r>
          </a:p>
        </p:txBody>
      </p:sp>
      <p:pic>
        <p:nvPicPr>
          <p:cNvPr id="3" name="Picture 2" descr="Screen Shot 2016-02-26 at 20.36.29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542" y="1575976"/>
            <a:ext cx="695960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876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691676"/>
          </a:xfrm>
        </p:spPr>
        <p:txBody>
          <a:bodyPr>
            <a:normAutofit fontScale="90000"/>
          </a:bodyPr>
          <a:lstStyle/>
          <a:p>
            <a:r>
              <a:rPr lang="en-US"/>
              <a:t>Camadas da ES</a:t>
            </a:r>
          </a:p>
        </p:txBody>
      </p:sp>
      <p:pic>
        <p:nvPicPr>
          <p:cNvPr id="4" name="Content Placeholder 3" descr="camadas_de_eng_de_sw.pn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18" b="-1818"/>
          <a:stretch/>
        </p:blipFill>
        <p:spPr>
          <a:xfrm>
            <a:off x="696964" y="2710891"/>
            <a:ext cx="7657678" cy="2276745"/>
          </a:xfrm>
        </p:spPr>
      </p:pic>
    </p:spTree>
    <p:extLst>
      <p:ext uri="{BB962C8B-B14F-4D97-AF65-F5344CB8AC3E}">
        <p14:creationId xmlns:p14="http://schemas.microsoft.com/office/powerpoint/2010/main" val="677159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85306" y="1195288"/>
            <a:ext cx="7024744" cy="729139"/>
          </a:xfrm>
        </p:spPr>
        <p:txBody>
          <a:bodyPr/>
          <a:lstStyle/>
          <a:p>
            <a:pPr algn="ctr"/>
            <a:r>
              <a:rPr lang="pt-BR" dirty="0" smtClean="0"/>
              <a:t>Foco na qualidade</a:t>
            </a:r>
            <a:endParaRPr lang="pt-BR" dirty="0"/>
          </a:p>
        </p:txBody>
      </p:sp>
      <p:sp>
        <p:nvSpPr>
          <p:cNvPr id="3" name="Retângulo 2"/>
          <p:cNvSpPr/>
          <p:nvPr/>
        </p:nvSpPr>
        <p:spPr>
          <a:xfrm>
            <a:off x="989701" y="2334411"/>
            <a:ext cx="714307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Qualquer abordagem de engenharia (inclusive engenharia de software) deve estar fundamentada em um </a:t>
            </a:r>
            <a:r>
              <a:rPr lang="pt-BR" sz="2400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comprometimento organizacional com a qualidade</a:t>
            </a:r>
            <a:r>
              <a:rPr lang="pt-BR" sz="2400" dirty="0">
                <a:solidFill>
                  <a:srgbClr val="000000"/>
                </a:solidFill>
                <a:latin typeface="Calibri" panose="020F0502020204030204" pitchFamily="34" charset="0"/>
              </a:rPr>
              <a:t>.(PRESSMAN,2016,pg.15)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9112478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85306" y="841476"/>
            <a:ext cx="7024744" cy="729139"/>
          </a:xfrm>
        </p:spPr>
        <p:txBody>
          <a:bodyPr/>
          <a:lstStyle/>
          <a:p>
            <a:pPr algn="ctr"/>
            <a:r>
              <a:rPr lang="pt-BR" dirty="0" smtClean="0"/>
              <a:t>Processo</a:t>
            </a:r>
            <a:endParaRPr lang="pt-BR" dirty="0"/>
          </a:p>
        </p:txBody>
      </p:sp>
      <p:sp>
        <p:nvSpPr>
          <p:cNvPr id="3" name="Retângulo 2"/>
          <p:cNvSpPr/>
          <p:nvPr/>
        </p:nvSpPr>
        <p:spPr>
          <a:xfrm>
            <a:off x="699245" y="1581373"/>
            <a:ext cx="78746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b="1" dirty="0" smtClean="0"/>
              <a:t>	QUEM </a:t>
            </a:r>
            <a:r>
              <a:rPr lang="pt-BR" dirty="0" smtClean="0"/>
              <a:t>está </a:t>
            </a:r>
            <a:r>
              <a:rPr lang="pt-BR" dirty="0"/>
              <a:t>fazendo </a:t>
            </a:r>
            <a:r>
              <a:rPr lang="pt-BR" b="1" dirty="0"/>
              <a:t>O </a:t>
            </a:r>
            <a:r>
              <a:rPr lang="pt-BR" b="1" dirty="0" smtClean="0"/>
              <a:t>QUE </a:t>
            </a:r>
            <a:r>
              <a:rPr lang="pt-BR" dirty="0" smtClean="0"/>
              <a:t>e </a:t>
            </a:r>
            <a:r>
              <a:rPr lang="pt-BR" b="1" dirty="0" smtClean="0"/>
              <a:t>QUANDO ??? 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•</a:t>
            </a:r>
            <a:r>
              <a:rPr lang="pt-BR" dirty="0" smtClean="0"/>
              <a:t>O processo define uma metodologia (framework/paradigma);</a:t>
            </a:r>
            <a:endParaRPr lang="pt-BR" dirty="0"/>
          </a:p>
          <a:p>
            <a:pPr algn="just"/>
            <a:r>
              <a:rPr lang="pt-BR" dirty="0" smtClean="0"/>
              <a:t>• Constitui a base para o controle do gerenciamento de projetos de software;</a:t>
            </a:r>
            <a:endParaRPr lang="pt-BR" dirty="0"/>
          </a:p>
          <a:p>
            <a:pPr algn="just"/>
            <a:r>
              <a:rPr lang="pt-BR" dirty="0"/>
              <a:t>•</a:t>
            </a:r>
            <a:r>
              <a:rPr lang="pt-BR" dirty="0" smtClean="0"/>
              <a:t>Estabelece o </a:t>
            </a:r>
            <a:r>
              <a:rPr lang="pt-BR" b="1" dirty="0" smtClean="0"/>
              <a:t>contexto </a:t>
            </a:r>
            <a:r>
              <a:rPr lang="pt-BR" dirty="0" smtClean="0"/>
              <a:t>no qual são aplicados </a:t>
            </a:r>
            <a:r>
              <a:rPr lang="pt-BR" b="1" dirty="0" smtClean="0"/>
              <a:t>métodos </a:t>
            </a:r>
            <a:r>
              <a:rPr lang="pt-BR" b="1" dirty="0"/>
              <a:t>t</a:t>
            </a:r>
            <a:r>
              <a:rPr lang="pt-BR" b="1" dirty="0" smtClean="0"/>
              <a:t>écnicos</a:t>
            </a:r>
            <a:r>
              <a:rPr lang="pt-BR" dirty="0" smtClean="0"/>
              <a:t>, são produzidos </a:t>
            </a:r>
            <a:r>
              <a:rPr lang="pt-BR" b="1" dirty="0" smtClean="0"/>
              <a:t>artefatos</a:t>
            </a:r>
          </a:p>
          <a:p>
            <a:pPr algn="just"/>
            <a:r>
              <a:rPr lang="pt-BR" b="1" dirty="0" smtClean="0"/>
              <a:t> </a:t>
            </a:r>
            <a:r>
              <a:rPr lang="pt-BR" dirty="0" smtClean="0"/>
              <a:t>(</a:t>
            </a:r>
            <a:r>
              <a:rPr lang="pt-BR" dirty="0" err="1" smtClean="0"/>
              <a:t>modelos,documentos,dados,relatórios,formulários,etc</a:t>
            </a:r>
            <a:r>
              <a:rPr lang="pt-BR" dirty="0"/>
              <a:t>.),</a:t>
            </a:r>
            <a:r>
              <a:rPr lang="pt-BR" dirty="0" smtClean="0"/>
              <a:t>são estabelecidos </a:t>
            </a:r>
            <a:r>
              <a:rPr lang="pt-BR" b="1" dirty="0" err="1" smtClean="0"/>
              <a:t>marcos</a:t>
            </a:r>
            <a:r>
              <a:rPr lang="pt-BR" dirty="0" err="1" smtClean="0"/>
              <a:t>,a</a:t>
            </a:r>
            <a:r>
              <a:rPr lang="pt-BR" dirty="0" smtClean="0"/>
              <a:t> </a:t>
            </a:r>
            <a:r>
              <a:rPr lang="pt-BR" b="1" dirty="0" smtClean="0"/>
              <a:t>qualidade </a:t>
            </a:r>
            <a:r>
              <a:rPr lang="pt-BR" dirty="0" smtClean="0"/>
              <a:t>é garantida e </a:t>
            </a:r>
            <a:r>
              <a:rPr lang="pt-BR" b="1" dirty="0" smtClean="0"/>
              <a:t>mudanças </a:t>
            </a:r>
            <a:r>
              <a:rPr lang="pt-BR" dirty="0" smtClean="0"/>
              <a:t>são geridas de forma apropriada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288013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2" y="871368"/>
            <a:ext cx="7024744" cy="750655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Processos</a:t>
            </a:r>
            <a:r>
              <a:rPr lang="en-US" dirty="0"/>
              <a:t> </a:t>
            </a:r>
            <a:r>
              <a:rPr lang="en-US" dirty="0" err="1"/>
              <a:t>dirigidos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planos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798157"/>
            <a:ext cx="6777317" cy="3141587"/>
          </a:xfrm>
        </p:spPr>
        <p:txBody>
          <a:bodyPr/>
          <a:lstStyle/>
          <a:p>
            <a:pPr algn="just"/>
            <a:r>
              <a:rPr lang="en-US" dirty="0" err="1">
                <a:cs typeface="Calibri" pitchFamily="34" charset="0"/>
              </a:rPr>
              <a:t>Processos</a:t>
            </a:r>
            <a:r>
              <a:rPr lang="en-US" dirty="0">
                <a:cs typeface="Calibri" pitchFamily="34" charset="0"/>
              </a:rPr>
              <a:t> </a:t>
            </a:r>
            <a:r>
              <a:rPr lang="en-US" dirty="0" err="1">
                <a:cs typeface="Calibri" pitchFamily="34" charset="0"/>
              </a:rPr>
              <a:t>dirigidos</a:t>
            </a:r>
            <a:r>
              <a:rPr lang="en-US" dirty="0">
                <a:cs typeface="Calibri" pitchFamily="34" charset="0"/>
              </a:rPr>
              <a:t> a </a:t>
            </a:r>
            <a:r>
              <a:rPr lang="en-US" dirty="0" err="1">
                <a:cs typeface="Calibri" pitchFamily="34" charset="0"/>
              </a:rPr>
              <a:t>planos</a:t>
            </a:r>
            <a:r>
              <a:rPr lang="en-US" dirty="0">
                <a:cs typeface="Calibri" pitchFamily="34" charset="0"/>
              </a:rPr>
              <a:t> </a:t>
            </a:r>
            <a:r>
              <a:rPr lang="en-US" dirty="0" err="1">
                <a:cs typeface="Calibri" pitchFamily="34" charset="0"/>
              </a:rPr>
              <a:t>são</a:t>
            </a:r>
            <a:r>
              <a:rPr lang="en-US" dirty="0">
                <a:cs typeface="Calibri" pitchFamily="34" charset="0"/>
              </a:rPr>
              <a:t> </a:t>
            </a:r>
            <a:r>
              <a:rPr lang="en-US" dirty="0" err="1">
                <a:cs typeface="Calibri" pitchFamily="34" charset="0"/>
              </a:rPr>
              <a:t>processos</a:t>
            </a:r>
            <a:r>
              <a:rPr lang="en-US" dirty="0">
                <a:cs typeface="Calibri" pitchFamily="34" charset="0"/>
              </a:rPr>
              <a:t> </a:t>
            </a:r>
            <a:r>
              <a:rPr lang="en-US" dirty="0" err="1">
                <a:cs typeface="Calibri" pitchFamily="34" charset="0"/>
              </a:rPr>
              <a:t>em</a:t>
            </a:r>
            <a:r>
              <a:rPr lang="en-US" dirty="0">
                <a:cs typeface="Calibri" pitchFamily="34" charset="0"/>
              </a:rPr>
              <a:t> que </a:t>
            </a:r>
            <a:r>
              <a:rPr lang="en-US" dirty="0" err="1">
                <a:cs typeface="Calibri" pitchFamily="34" charset="0"/>
              </a:rPr>
              <a:t>todas</a:t>
            </a:r>
            <a:r>
              <a:rPr lang="en-US" dirty="0">
                <a:cs typeface="Calibri" pitchFamily="34" charset="0"/>
              </a:rPr>
              <a:t> as </a:t>
            </a:r>
            <a:r>
              <a:rPr lang="en-US" dirty="0" err="1">
                <a:cs typeface="Calibri" pitchFamily="34" charset="0"/>
              </a:rPr>
              <a:t>atividades</a:t>
            </a:r>
            <a:r>
              <a:rPr lang="en-US" dirty="0">
                <a:cs typeface="Calibri" pitchFamily="34" charset="0"/>
              </a:rPr>
              <a:t> do </a:t>
            </a:r>
            <a:r>
              <a:rPr lang="en-US" dirty="0" err="1">
                <a:cs typeface="Calibri" pitchFamily="34" charset="0"/>
              </a:rPr>
              <a:t>processo</a:t>
            </a:r>
            <a:r>
              <a:rPr lang="en-US" dirty="0">
                <a:cs typeface="Calibri" pitchFamily="34" charset="0"/>
              </a:rPr>
              <a:t> </a:t>
            </a:r>
            <a:r>
              <a:rPr lang="en-US" dirty="0" err="1">
                <a:cs typeface="Calibri" pitchFamily="34" charset="0"/>
              </a:rPr>
              <a:t>são</a:t>
            </a:r>
            <a:r>
              <a:rPr lang="en-US" dirty="0">
                <a:cs typeface="Calibri" pitchFamily="34" charset="0"/>
              </a:rPr>
              <a:t> </a:t>
            </a:r>
            <a:r>
              <a:rPr lang="en-US" dirty="0" err="1">
                <a:cs typeface="Calibri" pitchFamily="34" charset="0"/>
              </a:rPr>
              <a:t>planejadas</a:t>
            </a:r>
            <a:r>
              <a:rPr lang="en-US" dirty="0">
                <a:cs typeface="Calibri" pitchFamily="34" charset="0"/>
              </a:rPr>
              <a:t> com </a:t>
            </a:r>
            <a:r>
              <a:rPr lang="en-US" dirty="0" err="1">
                <a:cs typeface="Calibri" pitchFamily="34" charset="0"/>
              </a:rPr>
              <a:t>antecedência</a:t>
            </a:r>
            <a:r>
              <a:rPr lang="en-US" dirty="0">
                <a:cs typeface="Calibri" pitchFamily="34" charset="0"/>
              </a:rPr>
              <a:t> e o </a:t>
            </a:r>
            <a:r>
              <a:rPr lang="en-US" dirty="0" err="1">
                <a:cs typeface="Calibri" pitchFamily="34" charset="0"/>
              </a:rPr>
              <a:t>progresso</a:t>
            </a:r>
            <a:r>
              <a:rPr lang="en-US" dirty="0">
                <a:cs typeface="Calibri" pitchFamily="34" charset="0"/>
              </a:rPr>
              <a:t> é </a:t>
            </a:r>
            <a:r>
              <a:rPr lang="en-US" dirty="0" err="1">
                <a:cs typeface="Calibri" pitchFamily="34" charset="0"/>
              </a:rPr>
              <a:t>medido</a:t>
            </a:r>
            <a:r>
              <a:rPr lang="en-US" dirty="0">
                <a:cs typeface="Calibri" pitchFamily="34" charset="0"/>
              </a:rPr>
              <a:t> </a:t>
            </a:r>
            <a:r>
              <a:rPr lang="en-US" dirty="0" err="1">
                <a:cs typeface="Calibri" pitchFamily="34" charset="0"/>
              </a:rPr>
              <a:t>em</a:t>
            </a:r>
            <a:r>
              <a:rPr lang="en-US" dirty="0">
                <a:cs typeface="Calibri" pitchFamily="34" charset="0"/>
              </a:rPr>
              <a:t> </a:t>
            </a:r>
            <a:r>
              <a:rPr lang="en-US" dirty="0" err="1">
                <a:cs typeface="Calibri" pitchFamily="34" charset="0"/>
              </a:rPr>
              <a:t>relação</a:t>
            </a:r>
            <a:r>
              <a:rPr lang="en-US" dirty="0">
                <a:cs typeface="Calibri" pitchFamily="34" charset="0"/>
              </a:rPr>
              <a:t> a </a:t>
            </a:r>
            <a:r>
              <a:rPr lang="en-US" dirty="0" err="1">
                <a:cs typeface="Calibri" pitchFamily="34" charset="0"/>
              </a:rPr>
              <a:t>esse</a:t>
            </a:r>
            <a:r>
              <a:rPr lang="en-US" dirty="0">
                <a:cs typeface="Calibri" pitchFamily="34" charset="0"/>
              </a:rPr>
              <a:t> </a:t>
            </a:r>
            <a:r>
              <a:rPr lang="en-US" dirty="0" err="1">
                <a:cs typeface="Calibri" pitchFamily="34" charset="0"/>
              </a:rPr>
              <a:t>plano</a:t>
            </a:r>
            <a:r>
              <a:rPr lang="en-US" dirty="0">
                <a:cs typeface="Calibri" pitchFamily="34" charset="0"/>
              </a:rPr>
              <a:t>. </a:t>
            </a:r>
          </a:p>
          <a:p>
            <a:pPr algn="just"/>
            <a:r>
              <a:rPr lang="en-US" dirty="0" err="1">
                <a:cs typeface="Calibri" pitchFamily="34" charset="0"/>
              </a:rPr>
              <a:t>Também</a:t>
            </a:r>
            <a:r>
              <a:rPr lang="en-US" dirty="0">
                <a:cs typeface="Calibri" pitchFamily="34" charset="0"/>
              </a:rPr>
              <a:t> </a:t>
            </a:r>
            <a:r>
              <a:rPr lang="en-US" dirty="0" err="1">
                <a:cs typeface="Calibri" pitchFamily="34" charset="0"/>
              </a:rPr>
              <a:t>conhecidos</a:t>
            </a:r>
            <a:r>
              <a:rPr lang="en-US" dirty="0">
                <a:cs typeface="Calibri" pitchFamily="34" charset="0"/>
              </a:rPr>
              <a:t> </a:t>
            </a:r>
            <a:r>
              <a:rPr lang="en-US" dirty="0" err="1">
                <a:cs typeface="Calibri" pitchFamily="34" charset="0"/>
              </a:rPr>
              <a:t>como</a:t>
            </a:r>
            <a:r>
              <a:rPr lang="en-US" dirty="0">
                <a:cs typeface="Calibri" pitchFamily="34" charset="0"/>
              </a:rPr>
              <a:t> </a:t>
            </a:r>
            <a:r>
              <a:rPr lang="en-US" dirty="0" err="1">
                <a:cs typeface="Calibri" pitchFamily="34" charset="0"/>
              </a:rPr>
              <a:t>processos</a:t>
            </a:r>
            <a:r>
              <a:rPr lang="en-US" dirty="0">
                <a:cs typeface="Calibri" pitchFamily="34" charset="0"/>
              </a:rPr>
              <a:t> </a:t>
            </a:r>
            <a:r>
              <a:rPr lang="en-US" dirty="0" err="1">
                <a:cs typeface="Calibri" pitchFamily="34" charset="0"/>
              </a:rPr>
              <a:t>prescritivos</a:t>
            </a:r>
            <a:endParaRPr lang="pt-BR" dirty="0">
              <a:cs typeface="Calibri" pitchFamily="34" charset="0"/>
            </a:endParaRP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603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814253"/>
            <a:ext cx="7024744" cy="652113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Processos</a:t>
            </a:r>
            <a:r>
              <a:rPr lang="en-US" dirty="0"/>
              <a:t> </a:t>
            </a:r>
            <a:r>
              <a:rPr lang="en-US" dirty="0" err="1"/>
              <a:t>Ágeis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7429" y="1584701"/>
            <a:ext cx="6777317" cy="3887659"/>
          </a:xfrm>
        </p:spPr>
        <p:txBody>
          <a:bodyPr/>
          <a:lstStyle/>
          <a:p>
            <a:pPr algn="just"/>
            <a:r>
              <a:rPr lang="en-US" dirty="0" err="1">
                <a:cs typeface="Calibri" pitchFamily="34" charset="0"/>
              </a:rPr>
              <a:t>Nos</a:t>
            </a:r>
            <a:r>
              <a:rPr lang="en-US" dirty="0">
                <a:cs typeface="Calibri" pitchFamily="34" charset="0"/>
              </a:rPr>
              <a:t> </a:t>
            </a:r>
            <a:r>
              <a:rPr lang="en-US" dirty="0" err="1">
                <a:cs typeface="Calibri" pitchFamily="34" charset="0"/>
              </a:rPr>
              <a:t>processos</a:t>
            </a:r>
            <a:r>
              <a:rPr lang="en-US" dirty="0">
                <a:cs typeface="Calibri" pitchFamily="34" charset="0"/>
              </a:rPr>
              <a:t> </a:t>
            </a:r>
            <a:r>
              <a:rPr lang="en-US" dirty="0" err="1">
                <a:cs typeface="Calibri" pitchFamily="34" charset="0"/>
              </a:rPr>
              <a:t>ágeis</a:t>
            </a:r>
            <a:r>
              <a:rPr lang="en-US" dirty="0">
                <a:cs typeface="Calibri" pitchFamily="34" charset="0"/>
              </a:rPr>
              <a:t> o </a:t>
            </a:r>
            <a:r>
              <a:rPr lang="en-US" dirty="0" err="1">
                <a:cs typeface="Calibri" pitchFamily="34" charset="0"/>
              </a:rPr>
              <a:t>planejamento</a:t>
            </a:r>
            <a:r>
              <a:rPr lang="en-US" dirty="0">
                <a:cs typeface="Calibri" pitchFamily="34" charset="0"/>
              </a:rPr>
              <a:t> é incremental e é </a:t>
            </a:r>
            <a:r>
              <a:rPr lang="en-US" dirty="0" err="1">
                <a:cs typeface="Calibri" pitchFamily="34" charset="0"/>
              </a:rPr>
              <a:t>mais</a:t>
            </a:r>
            <a:r>
              <a:rPr lang="en-US" dirty="0">
                <a:cs typeface="Calibri" pitchFamily="34" charset="0"/>
              </a:rPr>
              <a:t> </a:t>
            </a:r>
            <a:r>
              <a:rPr lang="en-US" dirty="0" err="1">
                <a:cs typeface="Calibri" pitchFamily="34" charset="0"/>
              </a:rPr>
              <a:t>fácil</a:t>
            </a:r>
            <a:r>
              <a:rPr lang="en-US" dirty="0">
                <a:cs typeface="Calibri" pitchFamily="34" charset="0"/>
              </a:rPr>
              <a:t> </a:t>
            </a:r>
            <a:r>
              <a:rPr lang="en-US" dirty="0" err="1">
                <a:cs typeface="Calibri" pitchFamily="34" charset="0"/>
              </a:rPr>
              <a:t>modificar</a:t>
            </a:r>
            <a:r>
              <a:rPr lang="en-US" dirty="0">
                <a:cs typeface="Calibri" pitchFamily="34" charset="0"/>
              </a:rPr>
              <a:t> o </a:t>
            </a:r>
            <a:r>
              <a:rPr lang="en-US" dirty="0" err="1">
                <a:cs typeface="Calibri" pitchFamily="34" charset="0"/>
              </a:rPr>
              <a:t>processo</a:t>
            </a:r>
            <a:r>
              <a:rPr lang="en-US" dirty="0">
                <a:cs typeface="Calibri" pitchFamily="34" charset="0"/>
              </a:rPr>
              <a:t> para </a:t>
            </a:r>
            <a:r>
              <a:rPr lang="en-US" dirty="0" err="1">
                <a:cs typeface="Calibri" pitchFamily="34" charset="0"/>
              </a:rPr>
              <a:t>refletir</a:t>
            </a:r>
            <a:r>
              <a:rPr lang="en-US" dirty="0">
                <a:cs typeface="Calibri" pitchFamily="34" charset="0"/>
              </a:rPr>
              <a:t> </a:t>
            </a:r>
            <a:r>
              <a:rPr lang="en-US" dirty="0" err="1">
                <a:cs typeface="Calibri" pitchFamily="34" charset="0"/>
              </a:rPr>
              <a:t>alterações</a:t>
            </a:r>
            <a:r>
              <a:rPr lang="en-US" dirty="0">
                <a:cs typeface="Calibri" pitchFamily="34" charset="0"/>
              </a:rPr>
              <a:t> </a:t>
            </a:r>
            <a:r>
              <a:rPr lang="en-US" dirty="0" err="1">
                <a:cs typeface="Calibri" pitchFamily="34" charset="0"/>
              </a:rPr>
              <a:t>nos</a:t>
            </a:r>
            <a:r>
              <a:rPr lang="en-US" dirty="0">
                <a:cs typeface="Calibri" pitchFamily="34" charset="0"/>
              </a:rPr>
              <a:t> </a:t>
            </a:r>
            <a:r>
              <a:rPr lang="en-US" dirty="0" err="1">
                <a:cs typeface="Calibri" pitchFamily="34" charset="0"/>
              </a:rPr>
              <a:t>requisitos</a:t>
            </a:r>
            <a:r>
              <a:rPr lang="en-US" dirty="0">
                <a:cs typeface="Calibri" pitchFamily="34" charset="0"/>
              </a:rPr>
              <a:t> do </a:t>
            </a:r>
            <a:r>
              <a:rPr lang="en-US" dirty="0" err="1">
                <a:cs typeface="Calibri" pitchFamily="34" charset="0"/>
              </a:rPr>
              <a:t>cliente</a:t>
            </a:r>
            <a:r>
              <a:rPr lang="en-US" dirty="0">
                <a:latin typeface="Calibri" pitchFamily="34" charset="0"/>
                <a:cs typeface="Calibri" pitchFamily="34" charset="0"/>
              </a:rPr>
              <a:t>. </a:t>
            </a:r>
            <a:endParaRPr lang="pt-BR" dirty="0">
              <a:latin typeface="Calibri" pitchFamily="34" charset="0"/>
              <a:cs typeface="Calibri" pitchFamily="34" charset="0"/>
            </a:endParaRPr>
          </a:p>
          <a:p>
            <a:pPr algn="just"/>
            <a:r>
              <a:rPr lang="pt-BR" dirty="0"/>
              <a:t>Processos ágeis consistem em um conjunto de valores, princípios e práticas voltadas para o desenvolvimento do software que podem ser aplicados de forma leve e </a:t>
            </a:r>
            <a:r>
              <a:rPr lang="pt-BR" dirty="0" smtClean="0"/>
              <a:t>efetiva.</a:t>
            </a:r>
            <a:endParaRPr lang="pt-BR" dirty="0"/>
          </a:p>
          <a:p>
            <a:pPr marL="68580" indent="0" algn="just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83240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46671" y="996272"/>
            <a:ext cx="7024744" cy="782928"/>
          </a:xfrm>
        </p:spPr>
        <p:txBody>
          <a:bodyPr/>
          <a:lstStyle/>
          <a:p>
            <a:r>
              <a:rPr lang="pt-BR" dirty="0" smtClean="0"/>
              <a:t>Métodos</a:t>
            </a:r>
            <a:endParaRPr lang="pt-BR" dirty="0"/>
          </a:p>
        </p:txBody>
      </p:sp>
      <p:sp>
        <p:nvSpPr>
          <p:cNvPr id="3" name="Retângulo 2"/>
          <p:cNvSpPr/>
          <p:nvPr/>
        </p:nvSpPr>
        <p:spPr>
          <a:xfrm>
            <a:off x="1075765" y="1968650"/>
            <a:ext cx="7196866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10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just"/>
            <a:r>
              <a:rPr lang="pt-BR" dirty="0" smtClean="0"/>
              <a:t>•</a:t>
            </a:r>
            <a:r>
              <a:rPr lang="pt-BR" dirty="0" smtClean="0">
                <a:latin typeface="+mj-lt"/>
              </a:rPr>
              <a:t>Fornecem </a:t>
            </a:r>
            <a:r>
              <a:rPr lang="pt-BR" dirty="0" smtClean="0">
                <a:solidFill>
                  <a:srgbClr val="000000"/>
                </a:solidFill>
                <a:latin typeface="+mj-lt"/>
              </a:rPr>
              <a:t>as informações técnicas para desenvolver software (Instruções de trabalho</a:t>
            </a:r>
            <a:r>
              <a:rPr lang="pt-BR" dirty="0">
                <a:solidFill>
                  <a:srgbClr val="000000"/>
                </a:solidFill>
                <a:latin typeface="+mj-lt"/>
              </a:rPr>
              <a:t>).</a:t>
            </a:r>
          </a:p>
          <a:p>
            <a:r>
              <a:rPr lang="pt-BR" dirty="0">
                <a:solidFill>
                  <a:srgbClr val="000000"/>
                </a:solidFill>
                <a:latin typeface="+mj-lt"/>
              </a:rPr>
              <a:t>•</a:t>
            </a:r>
            <a:r>
              <a:rPr lang="pt-BR" dirty="0" smtClean="0">
                <a:solidFill>
                  <a:srgbClr val="000000"/>
                </a:solidFill>
                <a:latin typeface="+mj-lt"/>
              </a:rPr>
              <a:t>Conjuntos de tarefas com técnicas particulares para cada fase do desenvolvimento de software</a:t>
            </a:r>
            <a:r>
              <a:rPr lang="pt-BR" dirty="0">
                <a:solidFill>
                  <a:srgbClr val="000000"/>
                </a:solidFill>
                <a:latin typeface="+mj-lt"/>
              </a:rPr>
              <a:t>.</a:t>
            </a:r>
          </a:p>
          <a:p>
            <a:r>
              <a:rPr lang="pt-BR" dirty="0">
                <a:solidFill>
                  <a:srgbClr val="000000"/>
                </a:solidFill>
                <a:latin typeface="+mj-lt"/>
              </a:rPr>
              <a:t>•</a:t>
            </a:r>
            <a:r>
              <a:rPr lang="pt-BR" dirty="0" smtClean="0">
                <a:solidFill>
                  <a:srgbClr val="000000"/>
                </a:solidFill>
                <a:latin typeface="+mj-lt"/>
              </a:rPr>
              <a:t>Os métodos envolvem uma ampla variedade de tarefas, que incluem: comunicação, análise de requisitos, modelagem de projeto, construção de programa, testes e suporte</a:t>
            </a:r>
            <a:r>
              <a:rPr lang="pt-BR" dirty="0">
                <a:solidFill>
                  <a:srgbClr val="000000"/>
                </a:solidFill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566854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/>
              <a:t>Ferramentas</a:t>
            </a:r>
            <a:endParaRPr lang="pt-BR" dirty="0"/>
          </a:p>
        </p:txBody>
      </p:sp>
      <p:sp>
        <p:nvSpPr>
          <p:cNvPr id="3" name="Retângulo 2"/>
          <p:cNvSpPr/>
          <p:nvPr/>
        </p:nvSpPr>
        <p:spPr>
          <a:xfrm>
            <a:off x="1231749" y="2321574"/>
            <a:ext cx="664822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10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just"/>
            <a:r>
              <a:rPr lang="pt-BR" dirty="0" smtClean="0">
                <a:solidFill>
                  <a:srgbClr val="000000"/>
                </a:solidFill>
                <a:latin typeface="Calibri" panose="020F0502020204030204" pitchFamily="34" charset="0"/>
              </a:rPr>
              <a:t>As ferramentas da engenharia de software fornecem suporte automatizado ou </a:t>
            </a:r>
            <a:r>
              <a:rPr lang="pt-BR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semiautomatizado</a:t>
            </a:r>
            <a:r>
              <a:rPr lang="pt-BR" dirty="0" smtClean="0">
                <a:solidFill>
                  <a:srgbClr val="000000"/>
                </a:solidFill>
                <a:latin typeface="Calibri" panose="020F0502020204030204" pitchFamily="34" charset="0"/>
              </a:rPr>
              <a:t> para o processo e para os métodos</a:t>
            </a:r>
            <a:r>
              <a:rPr lang="pt-BR" dirty="0">
                <a:solidFill>
                  <a:srgbClr val="000000"/>
                </a:solidFill>
                <a:latin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73516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gile-processes-bureaucracy.pn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457" t="-10547" r="-2667" b="-1217"/>
          <a:stretch/>
        </p:blipFill>
        <p:spPr>
          <a:xfrm>
            <a:off x="1012516" y="0"/>
            <a:ext cx="7428696" cy="6040925"/>
          </a:xfrm>
        </p:spPr>
      </p:pic>
    </p:spTree>
    <p:extLst>
      <p:ext uri="{BB962C8B-B14F-4D97-AF65-F5344CB8AC3E}">
        <p14:creationId xmlns:p14="http://schemas.microsoft.com/office/powerpoint/2010/main" val="1145230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2" y="695063"/>
            <a:ext cx="7024744" cy="1143000"/>
          </a:xfrm>
        </p:spPr>
        <p:txBody>
          <a:bodyPr/>
          <a:lstStyle/>
          <a:p>
            <a:r>
              <a:rPr lang="en-US"/>
              <a:t>Referências Bibliográficas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2096879"/>
            <a:ext cx="7287792" cy="4025998"/>
          </a:xfrm>
        </p:spPr>
        <p:txBody>
          <a:bodyPr/>
          <a:lstStyle/>
          <a:p>
            <a:pPr lvl="1"/>
            <a:r>
              <a:rPr lang="en-US"/>
              <a:t>Pressman, capítulo 2</a:t>
            </a:r>
          </a:p>
          <a:p>
            <a:pPr lvl="1"/>
            <a:r>
              <a:rPr lang="en-US"/>
              <a:t>Sommerville, capítulo 2</a:t>
            </a:r>
          </a:p>
          <a:p>
            <a:pPr lvl="1"/>
            <a:r>
              <a:rPr lang="de-DE"/>
              <a:t>NBR ISO/IEC 12207:1998</a:t>
            </a:r>
          </a:p>
          <a:p>
            <a:pPr lvl="2"/>
            <a:r>
              <a:rPr lang="de-DE"/>
              <a:t>https://pt.wikipedia.org/wiki/ISO/IEC_12207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936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Austin.thmx</Template>
  <TotalTime>15579</TotalTime>
  <Words>533</Words>
  <Application>Microsoft Office PowerPoint</Application>
  <PresentationFormat>Apresentação na tela (4:3)</PresentationFormat>
  <Paragraphs>77</Paragraphs>
  <Slides>32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36" baseType="lpstr">
      <vt:lpstr>Calibri</vt:lpstr>
      <vt:lpstr>Century Gothic</vt:lpstr>
      <vt:lpstr>Wingdings 2</vt:lpstr>
      <vt:lpstr>Austin</vt:lpstr>
      <vt:lpstr>Modelos de ciclo de vida e processo de Software</vt:lpstr>
      <vt:lpstr>Processo de software</vt:lpstr>
      <vt:lpstr>Modelos de processos</vt:lpstr>
      <vt:lpstr>Ciclo de vida</vt:lpstr>
      <vt:lpstr>Descrições de processos</vt:lpstr>
      <vt:lpstr>Descrições de processos</vt:lpstr>
      <vt:lpstr>Exemplos</vt:lpstr>
      <vt:lpstr>Exemplos</vt:lpstr>
      <vt:lpstr>Exemplos</vt:lpstr>
      <vt:lpstr>Exemplos</vt:lpstr>
      <vt:lpstr>Exemplos</vt:lpstr>
      <vt:lpstr>Exemplos</vt:lpstr>
      <vt:lpstr>Exemplos</vt:lpstr>
      <vt:lpstr>Modelos de ciclo de vida</vt:lpstr>
      <vt:lpstr>Modelo sequencial linear</vt:lpstr>
      <vt:lpstr>Modelo em cascata</vt:lpstr>
      <vt:lpstr>Modelo Incremental</vt:lpstr>
      <vt:lpstr>Modelo Incremental Evolutivo</vt:lpstr>
      <vt:lpstr>Modelo Espiral</vt:lpstr>
      <vt:lpstr>Modelo Iterativo</vt:lpstr>
      <vt:lpstr>Incremental x Iterativo</vt:lpstr>
      <vt:lpstr>Modelo Incremental Iterativo</vt:lpstr>
      <vt:lpstr>Modelo V</vt:lpstr>
      <vt:lpstr>Camadas da ES</vt:lpstr>
      <vt:lpstr>Foco na qualidade</vt:lpstr>
      <vt:lpstr>Processo</vt:lpstr>
      <vt:lpstr>Processos dirigidos por planos </vt:lpstr>
      <vt:lpstr>Processos Ágeis</vt:lpstr>
      <vt:lpstr>Métodos</vt:lpstr>
      <vt:lpstr>Ferramentas</vt:lpstr>
      <vt:lpstr>Apresentação do PowerPoint</vt:lpstr>
      <vt:lpstr>Referências Bibliográficas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 de Engenharia de Software</dc:title>
  <dc:creator>Anonymous Reviewer</dc:creator>
  <cp:lastModifiedBy>Avaliador</cp:lastModifiedBy>
  <cp:revision>122</cp:revision>
  <cp:lastPrinted>2021-09-19T22:27:26Z</cp:lastPrinted>
  <dcterms:created xsi:type="dcterms:W3CDTF">2016-02-04T13:02:28Z</dcterms:created>
  <dcterms:modified xsi:type="dcterms:W3CDTF">2021-09-20T15:11:04Z</dcterms:modified>
</cp:coreProperties>
</file>