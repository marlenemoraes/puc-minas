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1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9/15/2021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dirty="0"/>
              <a:t>9/15/2021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9/15/2021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9/15/2021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9/15/2021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9/15/2021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9/15/2021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9/15/2021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9/15/2021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9/15/2021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9/15/2021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9/15/2021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9/15/2021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9/15/2021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9/15/2021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9/15/2021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9/15/2021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9/15/2021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692398" y="1371599"/>
            <a:ext cx="6815669" cy="2149535"/>
          </a:xfrm>
        </p:spPr>
        <p:txBody>
          <a:bodyPr/>
          <a:lstStyle/>
          <a:p>
            <a:r>
              <a:rPr lang="pt-BR" dirty="0" smtClean="0"/>
              <a:t>Correção da atividade: </a:t>
            </a:r>
            <a:r>
              <a:rPr lang="pt-BR" sz="4000" dirty="0" smtClean="0"/>
              <a:t>Especificação de requisitos- Clínica Médica</a:t>
            </a:r>
            <a:endParaRPr lang="pt-BR" sz="400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799974" y="3765173"/>
            <a:ext cx="6815669" cy="1320802"/>
          </a:xfrm>
        </p:spPr>
        <p:txBody>
          <a:bodyPr/>
          <a:lstStyle/>
          <a:p>
            <a:r>
              <a:rPr lang="pt-BR" dirty="0" smtClean="0"/>
              <a:t>Disciplina: Fundamentos de Engenharia de Software</a:t>
            </a:r>
          </a:p>
          <a:p>
            <a:r>
              <a:rPr lang="pt-BR" dirty="0" smtClean="0"/>
              <a:t>Profª Simone de Assis Alves da Silva</a:t>
            </a:r>
            <a:endParaRPr lang="pt-BR" dirty="0"/>
          </a:p>
        </p:txBody>
      </p:sp>
      <p:pic>
        <p:nvPicPr>
          <p:cNvPr id="1026" name="Picture 2" descr="vestibular-puc-mina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1731" y="0"/>
            <a:ext cx="1630269" cy="154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99756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smtClean="0"/>
              <a:t>Descrição dos objetivos e principais características do sistema: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pt-BR" b="1" dirty="0" smtClean="0">
                <a:solidFill>
                  <a:srgbClr val="0070C0"/>
                </a:solidFill>
              </a:rPr>
              <a:t>Objetivos:</a:t>
            </a:r>
          </a:p>
          <a:p>
            <a:pPr lvl="1"/>
            <a:r>
              <a:rPr lang="pt-BR" b="1" dirty="0" smtClean="0">
                <a:solidFill>
                  <a:srgbClr val="0070C0"/>
                </a:solidFill>
              </a:rPr>
              <a:t>Gerenciamento do fluxo informacional da Clínica médica (entradas, processamento e saídas);</a:t>
            </a:r>
          </a:p>
          <a:p>
            <a:pPr lvl="1"/>
            <a:r>
              <a:rPr lang="pt-BR" b="1" dirty="0" smtClean="0">
                <a:solidFill>
                  <a:srgbClr val="0070C0"/>
                </a:solidFill>
              </a:rPr>
              <a:t>Controlar acessos às informações da Clínica.</a:t>
            </a:r>
          </a:p>
          <a:p>
            <a:pPr lvl="1"/>
            <a:endParaRPr lang="pt-BR" b="1" dirty="0" smtClean="0">
              <a:solidFill>
                <a:srgbClr val="0070C0"/>
              </a:solidFill>
            </a:endParaRPr>
          </a:p>
          <a:p>
            <a:pPr lvl="1"/>
            <a:endParaRPr lang="pt-BR" b="1" dirty="0" smtClean="0">
              <a:solidFill>
                <a:srgbClr val="0070C0"/>
              </a:solidFill>
            </a:endParaRPr>
          </a:p>
          <a:p>
            <a:pPr lvl="1"/>
            <a:endParaRPr lang="pt-BR" dirty="0" smtClean="0"/>
          </a:p>
          <a:p>
            <a:pPr lvl="1"/>
            <a:endParaRPr lang="pt-BR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pt-BR" b="1" dirty="0" smtClean="0">
                <a:solidFill>
                  <a:srgbClr val="FF0000"/>
                </a:solidFill>
              </a:rPr>
              <a:t>Características:</a:t>
            </a:r>
          </a:p>
          <a:p>
            <a:pPr lvl="1"/>
            <a:r>
              <a:rPr lang="pt-BR" b="1" dirty="0" smtClean="0">
                <a:solidFill>
                  <a:srgbClr val="FF0000"/>
                </a:solidFill>
              </a:rPr>
              <a:t>Permitir cadastros e seus desdobramentos;</a:t>
            </a:r>
          </a:p>
          <a:p>
            <a:pPr lvl="1"/>
            <a:r>
              <a:rPr lang="pt-BR" b="1" dirty="0" smtClean="0">
                <a:solidFill>
                  <a:srgbClr val="FF0000"/>
                </a:solidFill>
              </a:rPr>
              <a:t>Permitir acesso a informações por perfis de usuários.</a:t>
            </a:r>
            <a:endParaRPr lang="pt-BR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100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 txBox="1">
            <a:spLocks/>
          </p:cNvSpPr>
          <p:nvPr/>
        </p:nvSpPr>
        <p:spPr>
          <a:xfrm>
            <a:off x="1107143" y="605616"/>
            <a:ext cx="9601196" cy="550831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b="1" dirty="0" smtClean="0">
                <a:solidFill>
                  <a:srgbClr val="FFC000"/>
                </a:solidFill>
              </a:rPr>
              <a:t>Requisitos Funcionais:</a:t>
            </a:r>
            <a:endParaRPr lang="pt-BR" dirty="0">
              <a:solidFill>
                <a:srgbClr val="FFC000"/>
              </a:solidFill>
            </a:endParaRPr>
          </a:p>
        </p:txBody>
      </p:sp>
      <p:sp>
        <p:nvSpPr>
          <p:cNvPr id="3" name="CaixaDeTexto 2"/>
          <p:cNvSpPr txBox="1"/>
          <p:nvPr/>
        </p:nvSpPr>
        <p:spPr>
          <a:xfrm>
            <a:off x="874058" y="1156447"/>
            <a:ext cx="10596283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/>
              <a:t>[RF01] – cadastrar usuários</a:t>
            </a:r>
            <a:endParaRPr lang="pt-BR" sz="2000" dirty="0"/>
          </a:p>
          <a:p>
            <a:r>
              <a:rPr lang="pt-BR" sz="2000" dirty="0" smtClean="0"/>
              <a:t>Descrição: O </a:t>
            </a:r>
            <a:r>
              <a:rPr lang="pt-BR" sz="2000" dirty="0"/>
              <a:t>sistema </a:t>
            </a:r>
            <a:r>
              <a:rPr lang="pt-BR" sz="2000" dirty="0" smtClean="0"/>
              <a:t>proverá </a:t>
            </a:r>
            <a:r>
              <a:rPr lang="pt-BR" sz="2000" dirty="0"/>
              <a:t>um cadastro de </a:t>
            </a:r>
            <a:r>
              <a:rPr lang="pt-BR" sz="2000" dirty="0" smtClean="0"/>
              <a:t>usuários</a:t>
            </a:r>
          </a:p>
          <a:p>
            <a:r>
              <a:rPr lang="pt-BR" sz="2000" dirty="0" smtClean="0"/>
              <a:t>Características:</a:t>
            </a:r>
            <a:r>
              <a:rPr lang="pt-BR" sz="2000" dirty="0"/>
              <a:t> </a:t>
            </a:r>
            <a:r>
              <a:rPr lang="pt-BR" sz="2000" dirty="0" smtClean="0"/>
              <a:t>As </a:t>
            </a:r>
            <a:r>
              <a:rPr lang="pt-BR" sz="2000" dirty="0"/>
              <a:t>funcionalidades </a:t>
            </a:r>
            <a:r>
              <a:rPr lang="pt-BR" sz="2000" dirty="0" smtClean="0"/>
              <a:t>de cada </a:t>
            </a:r>
            <a:r>
              <a:rPr lang="pt-BR" sz="2000" dirty="0"/>
              <a:t>usuário </a:t>
            </a:r>
            <a:r>
              <a:rPr lang="pt-BR" sz="2000" dirty="0" smtClean="0"/>
              <a:t>será configuráveis </a:t>
            </a:r>
            <a:r>
              <a:rPr lang="pt-BR" sz="2000" dirty="0"/>
              <a:t>no sistema</a:t>
            </a:r>
            <a:r>
              <a:rPr lang="pt-BR" sz="2000" dirty="0" smtClean="0"/>
              <a:t>.</a:t>
            </a:r>
          </a:p>
          <a:p>
            <a:endParaRPr lang="pt-BR" sz="2000" dirty="0" smtClean="0"/>
          </a:p>
          <a:p>
            <a:r>
              <a:rPr lang="pt-BR" sz="2000" b="1" dirty="0"/>
              <a:t>[RF02] – cadastrar médicos</a:t>
            </a:r>
            <a:endParaRPr lang="pt-BR" sz="2000" dirty="0"/>
          </a:p>
          <a:p>
            <a:r>
              <a:rPr lang="pt-BR" sz="2000" dirty="0"/>
              <a:t>Descrição </a:t>
            </a:r>
            <a:r>
              <a:rPr lang="pt-BR" sz="2000" dirty="0" smtClean="0"/>
              <a:t>O </a:t>
            </a:r>
            <a:r>
              <a:rPr lang="pt-BR" sz="2000" dirty="0"/>
              <a:t>sistema proverá </a:t>
            </a:r>
            <a:r>
              <a:rPr lang="pt-BR" sz="2000" dirty="0" smtClean="0"/>
              <a:t>um </a:t>
            </a:r>
            <a:r>
              <a:rPr lang="pt-BR" sz="2000" dirty="0"/>
              <a:t>cadastro de médicos </a:t>
            </a:r>
            <a:endParaRPr lang="pt-BR" sz="2000" dirty="0" smtClean="0"/>
          </a:p>
          <a:p>
            <a:r>
              <a:rPr lang="pt-BR" sz="2000" dirty="0" smtClean="0"/>
              <a:t>Características: Será permitido informar a especialidade </a:t>
            </a:r>
            <a:r>
              <a:rPr lang="pt-BR" sz="2000" dirty="0"/>
              <a:t>e a área da clínica </a:t>
            </a:r>
            <a:r>
              <a:rPr lang="pt-BR" sz="2000" dirty="0" smtClean="0"/>
              <a:t>onde cada médico </a:t>
            </a:r>
            <a:r>
              <a:rPr lang="pt-BR" sz="2000" dirty="0"/>
              <a:t>irá atuar</a:t>
            </a:r>
          </a:p>
          <a:p>
            <a:r>
              <a:rPr lang="pt-BR" sz="2000" dirty="0"/>
              <a:t> </a:t>
            </a:r>
          </a:p>
          <a:p>
            <a:r>
              <a:rPr lang="pt-BR" sz="2000" b="1" dirty="0"/>
              <a:t>[RF03] – cadastrar pacientes</a:t>
            </a:r>
            <a:endParaRPr lang="pt-BR" sz="2000" dirty="0"/>
          </a:p>
          <a:p>
            <a:r>
              <a:rPr lang="pt-BR" sz="2000" dirty="0"/>
              <a:t>Descrição </a:t>
            </a:r>
            <a:r>
              <a:rPr lang="pt-BR" sz="2000" dirty="0" smtClean="0"/>
              <a:t>O </a:t>
            </a:r>
            <a:r>
              <a:rPr lang="pt-BR" sz="2000" dirty="0"/>
              <a:t>sistema proverá </a:t>
            </a:r>
            <a:r>
              <a:rPr lang="pt-BR" sz="2000" dirty="0" smtClean="0"/>
              <a:t>um </a:t>
            </a:r>
            <a:r>
              <a:rPr lang="pt-BR" sz="2000" dirty="0"/>
              <a:t>cadastro de pacientes</a:t>
            </a:r>
            <a:r>
              <a:rPr lang="pt-BR" sz="2000" dirty="0" smtClean="0"/>
              <a:t>.</a:t>
            </a:r>
          </a:p>
          <a:p>
            <a:r>
              <a:rPr lang="pt-BR" sz="2000" dirty="0" smtClean="0"/>
              <a:t>Características: A Secretária da Clinica será responsável </a:t>
            </a:r>
            <a:r>
              <a:rPr lang="pt-BR" sz="2000" dirty="0" smtClean="0"/>
              <a:t>pela coleta dos dados do paciente via telefone.</a:t>
            </a:r>
            <a:endParaRPr lang="pt-BR" sz="2000" dirty="0"/>
          </a:p>
          <a:p>
            <a:r>
              <a:rPr lang="pt-BR" sz="2000" dirty="0"/>
              <a:t> </a:t>
            </a:r>
          </a:p>
          <a:p>
            <a:r>
              <a:rPr lang="pt-BR" sz="2000" b="1" dirty="0"/>
              <a:t>[RF04] – cadastrar agenda médica</a:t>
            </a:r>
            <a:endParaRPr lang="pt-BR" sz="2000" dirty="0"/>
          </a:p>
          <a:p>
            <a:r>
              <a:rPr lang="pt-BR" sz="2000" dirty="0"/>
              <a:t>Descrição </a:t>
            </a:r>
            <a:r>
              <a:rPr lang="pt-BR" sz="2000" dirty="0" smtClean="0"/>
              <a:t>O </a:t>
            </a:r>
            <a:r>
              <a:rPr lang="pt-BR" sz="2000" dirty="0"/>
              <a:t>sistema proverá </a:t>
            </a:r>
            <a:r>
              <a:rPr lang="pt-BR" sz="2000" dirty="0" smtClean="0"/>
              <a:t>um </a:t>
            </a:r>
            <a:r>
              <a:rPr lang="pt-BR" sz="2000" dirty="0"/>
              <a:t>cadastro da disponibilidade de cada médico </a:t>
            </a:r>
            <a:endParaRPr lang="pt-BR" sz="2000" dirty="0" smtClean="0"/>
          </a:p>
          <a:p>
            <a:r>
              <a:rPr lang="pt-BR" sz="2000" dirty="0" smtClean="0"/>
              <a:t>Características: O médico definirá no sistema os </a:t>
            </a:r>
            <a:r>
              <a:rPr lang="pt-BR" sz="2000" dirty="0"/>
              <a:t>dias e horários de </a:t>
            </a:r>
            <a:r>
              <a:rPr lang="pt-BR" sz="2000" dirty="0" smtClean="0"/>
              <a:t>atendimento. </a:t>
            </a:r>
            <a:r>
              <a:rPr lang="pt-BR" sz="2000" dirty="0"/>
              <a:t>A agenda deve ser cadastrada mensalmente.</a:t>
            </a:r>
          </a:p>
          <a:p>
            <a:endParaRPr lang="pt-BR" sz="2000" dirty="0"/>
          </a:p>
          <a:p>
            <a:r>
              <a:rPr lang="pt-BR" sz="2000" dirty="0"/>
              <a:t> </a:t>
            </a:r>
          </a:p>
          <a:p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3490538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 txBox="1">
            <a:spLocks/>
          </p:cNvSpPr>
          <p:nvPr/>
        </p:nvSpPr>
        <p:spPr>
          <a:xfrm>
            <a:off x="1107143" y="551828"/>
            <a:ext cx="9601196" cy="752538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b="1" dirty="0" smtClean="0">
                <a:solidFill>
                  <a:srgbClr val="FFC000"/>
                </a:solidFill>
              </a:rPr>
              <a:t>Requisitos Funcionais:</a:t>
            </a:r>
            <a:endParaRPr lang="pt-BR" dirty="0">
              <a:solidFill>
                <a:srgbClr val="FFC000"/>
              </a:solidFill>
            </a:endParaRPr>
          </a:p>
        </p:txBody>
      </p:sp>
      <p:sp>
        <p:nvSpPr>
          <p:cNvPr id="3" name="CaixaDeTexto 2"/>
          <p:cNvSpPr txBox="1"/>
          <p:nvPr/>
        </p:nvSpPr>
        <p:spPr>
          <a:xfrm>
            <a:off x="766481" y="1183342"/>
            <a:ext cx="10596283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 smtClean="0"/>
              <a:t>[</a:t>
            </a:r>
            <a:r>
              <a:rPr lang="pt-BR" sz="2000" b="1" dirty="0"/>
              <a:t>RF05] – marcar consulta</a:t>
            </a:r>
            <a:endParaRPr lang="pt-BR" sz="2000" dirty="0"/>
          </a:p>
          <a:p>
            <a:r>
              <a:rPr lang="pt-BR" sz="2000" dirty="0" smtClean="0"/>
              <a:t>Descrição: O </a:t>
            </a:r>
            <a:r>
              <a:rPr lang="pt-BR" sz="2000" dirty="0"/>
              <a:t>sistema </a:t>
            </a:r>
            <a:r>
              <a:rPr lang="pt-BR" sz="2000" dirty="0" smtClean="0"/>
              <a:t>permitirá que </a:t>
            </a:r>
            <a:r>
              <a:rPr lang="pt-BR" sz="2000" dirty="0"/>
              <a:t>uma consulta seja marcada. </a:t>
            </a:r>
            <a:endParaRPr lang="pt-BR" sz="2000" dirty="0" smtClean="0"/>
          </a:p>
          <a:p>
            <a:r>
              <a:rPr lang="pt-BR" sz="2000" dirty="0" smtClean="0"/>
              <a:t>Características: A </a:t>
            </a:r>
            <a:r>
              <a:rPr lang="pt-BR" sz="2000" dirty="0"/>
              <a:t>consulta será realizada por um médico de acordo com sua </a:t>
            </a:r>
            <a:r>
              <a:rPr lang="pt-BR" sz="2000" dirty="0" smtClean="0"/>
              <a:t>disponibilidade na Agenda.</a:t>
            </a:r>
            <a:endParaRPr lang="pt-BR" sz="2000" dirty="0"/>
          </a:p>
          <a:p>
            <a:r>
              <a:rPr lang="pt-BR" sz="2000" dirty="0"/>
              <a:t> </a:t>
            </a:r>
          </a:p>
          <a:p>
            <a:r>
              <a:rPr lang="pt-BR" sz="2000" b="1" dirty="0"/>
              <a:t>[RF06] – registrar consulta</a:t>
            </a:r>
            <a:endParaRPr lang="pt-BR" sz="2000" dirty="0"/>
          </a:p>
          <a:p>
            <a:r>
              <a:rPr lang="pt-BR" sz="2000" dirty="0" smtClean="0"/>
              <a:t>Descrição: O </a:t>
            </a:r>
            <a:r>
              <a:rPr lang="pt-BR" sz="2000" dirty="0"/>
              <a:t>sistema permitirá </a:t>
            </a:r>
            <a:r>
              <a:rPr lang="pt-BR" sz="2000" dirty="0" smtClean="0"/>
              <a:t>que </a:t>
            </a:r>
            <a:r>
              <a:rPr lang="pt-BR" sz="2000" dirty="0"/>
              <a:t>o médico registre informações referentes a cada consulta do paciente</a:t>
            </a:r>
            <a:r>
              <a:rPr lang="pt-BR" sz="2000" dirty="0" smtClean="0"/>
              <a:t>.</a:t>
            </a:r>
          </a:p>
          <a:p>
            <a:r>
              <a:rPr lang="pt-BR" sz="2000" dirty="0" smtClean="0"/>
              <a:t>Características:</a:t>
            </a:r>
            <a:r>
              <a:rPr lang="pt-BR" sz="2000" dirty="0"/>
              <a:t> Cada registro deverá estar vinculado à consulta </a:t>
            </a:r>
            <a:r>
              <a:rPr lang="pt-BR" sz="2000" dirty="0" smtClean="0"/>
              <a:t>realizada.</a:t>
            </a:r>
            <a:endParaRPr lang="pt-BR" sz="2000" dirty="0"/>
          </a:p>
          <a:p>
            <a:r>
              <a:rPr lang="pt-BR" sz="2000" dirty="0"/>
              <a:t> </a:t>
            </a:r>
          </a:p>
          <a:p>
            <a:r>
              <a:rPr lang="pt-BR" sz="2000" b="1" dirty="0"/>
              <a:t>[RF07] – gerar histórico de paciente</a:t>
            </a:r>
            <a:endParaRPr lang="pt-BR" sz="2000" dirty="0"/>
          </a:p>
          <a:p>
            <a:r>
              <a:rPr lang="pt-BR" sz="2000" dirty="0" smtClean="0"/>
              <a:t>Descrição: Cada </a:t>
            </a:r>
            <a:r>
              <a:rPr lang="pt-BR" sz="2000" dirty="0"/>
              <a:t>registro </a:t>
            </a:r>
            <a:r>
              <a:rPr lang="pt-BR" sz="2000" dirty="0" smtClean="0"/>
              <a:t>estará vinculado </a:t>
            </a:r>
            <a:r>
              <a:rPr lang="pt-BR" sz="2000" dirty="0"/>
              <a:t>à consulta </a:t>
            </a:r>
            <a:r>
              <a:rPr lang="pt-BR" sz="2000" dirty="0" smtClean="0"/>
              <a:t>realizada.</a:t>
            </a:r>
          </a:p>
          <a:p>
            <a:r>
              <a:rPr lang="pt-BR" sz="2000" dirty="0" smtClean="0"/>
              <a:t>Características:</a:t>
            </a:r>
            <a:r>
              <a:rPr lang="pt-BR" sz="2000" dirty="0"/>
              <a:t> </a:t>
            </a:r>
            <a:r>
              <a:rPr lang="pt-BR" sz="2000" dirty="0" smtClean="0"/>
              <a:t>Será possível </a:t>
            </a:r>
            <a:r>
              <a:rPr lang="pt-BR" sz="2000" dirty="0"/>
              <a:t>a criação de um histórico do paciente.</a:t>
            </a:r>
          </a:p>
          <a:p>
            <a:r>
              <a:rPr lang="pt-BR" sz="2000" dirty="0"/>
              <a:t> </a:t>
            </a:r>
          </a:p>
          <a:p>
            <a:r>
              <a:rPr lang="pt-BR" sz="2000" b="1" dirty="0"/>
              <a:t>[RF08] – gerar relatório de consultas</a:t>
            </a:r>
            <a:endParaRPr lang="pt-BR" sz="2000" dirty="0"/>
          </a:p>
          <a:p>
            <a:r>
              <a:rPr lang="pt-BR" sz="2000" dirty="0"/>
              <a:t>Descrição </a:t>
            </a:r>
            <a:r>
              <a:rPr lang="pt-BR" sz="2000" dirty="0" smtClean="0"/>
              <a:t>O </a:t>
            </a:r>
            <a:r>
              <a:rPr lang="pt-BR" sz="2000" dirty="0"/>
              <a:t>sistema permitirá </a:t>
            </a:r>
            <a:r>
              <a:rPr lang="pt-BR" sz="2000" dirty="0" smtClean="0"/>
              <a:t>gerar </a:t>
            </a:r>
            <a:r>
              <a:rPr lang="pt-BR" sz="2000" dirty="0"/>
              <a:t>um relatório de consultas realizadas por cada </a:t>
            </a:r>
            <a:r>
              <a:rPr lang="pt-BR" sz="2000" dirty="0" smtClean="0"/>
              <a:t>médico/mês</a:t>
            </a:r>
            <a:r>
              <a:rPr lang="pt-BR" sz="2000" dirty="0"/>
              <a:t>. </a:t>
            </a:r>
            <a:endParaRPr lang="pt-BR" sz="2000" dirty="0" smtClean="0"/>
          </a:p>
          <a:p>
            <a:pPr lvl="0"/>
            <a:r>
              <a:rPr lang="pt-BR" sz="2000" dirty="0" smtClean="0"/>
              <a:t>Características: Relatório acessível </a:t>
            </a:r>
            <a:r>
              <a:rPr lang="pt-BR" sz="2000" dirty="0"/>
              <a:t>a médicos e à secretária que o entregará impresso ao dono da clínica.</a:t>
            </a:r>
          </a:p>
          <a:p>
            <a:endParaRPr lang="pt-BR" sz="2000" dirty="0"/>
          </a:p>
          <a:p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2853819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 txBox="1">
            <a:spLocks/>
          </p:cNvSpPr>
          <p:nvPr/>
        </p:nvSpPr>
        <p:spPr>
          <a:xfrm>
            <a:off x="1107143" y="551828"/>
            <a:ext cx="9601196" cy="752538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b="1" dirty="0" smtClean="0">
                <a:solidFill>
                  <a:srgbClr val="00B050"/>
                </a:solidFill>
              </a:rPr>
              <a:t>Requisitos Não-Funcionais:</a:t>
            </a:r>
            <a:endParaRPr lang="pt-BR" dirty="0">
              <a:solidFill>
                <a:srgbClr val="00B050"/>
              </a:solidFill>
            </a:endParaRPr>
          </a:p>
        </p:txBody>
      </p:sp>
      <p:sp>
        <p:nvSpPr>
          <p:cNvPr id="3" name="CaixaDeTexto 2"/>
          <p:cNvSpPr txBox="1"/>
          <p:nvPr/>
        </p:nvSpPr>
        <p:spPr>
          <a:xfrm>
            <a:off x="766481" y="1183342"/>
            <a:ext cx="10596283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 smtClean="0"/>
              <a:t>[</a:t>
            </a:r>
            <a:r>
              <a:rPr lang="pt-BR" sz="2000" b="1" dirty="0"/>
              <a:t>[RNF01] – Controle de acesso do cadastro de usuários</a:t>
            </a:r>
            <a:endParaRPr lang="pt-BR" sz="2000" dirty="0"/>
          </a:p>
          <a:p>
            <a:r>
              <a:rPr lang="pt-BR" sz="2000" dirty="0"/>
              <a:t>O cadastro de usuários e suas permissões devem ser restritos ao administrador </a:t>
            </a:r>
            <a:r>
              <a:rPr lang="pt-BR" sz="2000" dirty="0" smtClean="0"/>
              <a:t>do </a:t>
            </a:r>
            <a:r>
              <a:rPr lang="pt-BR" sz="2000" dirty="0"/>
              <a:t>sistema (segurança)</a:t>
            </a:r>
          </a:p>
          <a:p>
            <a:r>
              <a:rPr lang="pt-BR" sz="2000" dirty="0"/>
              <a:t> </a:t>
            </a:r>
          </a:p>
          <a:p>
            <a:r>
              <a:rPr lang="pt-BR" sz="2000" b="1" dirty="0"/>
              <a:t>[RNF02] – Identificação de usuário</a:t>
            </a:r>
            <a:endParaRPr lang="pt-BR" sz="2000" dirty="0"/>
          </a:p>
          <a:p>
            <a:r>
              <a:rPr lang="pt-BR" sz="2000" dirty="0"/>
              <a:t>Os usuários deverão ser identificados por um código, nome e senha pessoal</a:t>
            </a:r>
          </a:p>
          <a:p>
            <a:r>
              <a:rPr lang="pt-BR" sz="2000" dirty="0"/>
              <a:t> </a:t>
            </a:r>
          </a:p>
          <a:p>
            <a:r>
              <a:rPr lang="pt-BR" sz="2000" b="1" dirty="0"/>
              <a:t>[RNF03] – Cadastro de áreas da clínica</a:t>
            </a:r>
            <a:endParaRPr lang="pt-BR" sz="2000" dirty="0"/>
          </a:p>
          <a:p>
            <a:r>
              <a:rPr lang="pt-BR" sz="2000" dirty="0"/>
              <a:t>O cadastro das áreas da clínica não devem ser efetuadas via interface do sistema, devendo ser </a:t>
            </a:r>
            <a:r>
              <a:rPr lang="pt-BR" sz="2000" dirty="0" smtClean="0"/>
              <a:t>migrada pelo sistema externo (Base de dados do Governo Federal)</a:t>
            </a:r>
            <a:endParaRPr lang="pt-BR" sz="2000" dirty="0"/>
          </a:p>
          <a:p>
            <a:r>
              <a:rPr lang="pt-BR" sz="2000" dirty="0"/>
              <a:t> </a:t>
            </a:r>
          </a:p>
          <a:p>
            <a:r>
              <a:rPr lang="pt-BR" sz="2000" b="1" dirty="0"/>
              <a:t>[RNF04] – Controle de acesso do cadastro de pacientes</a:t>
            </a:r>
            <a:endParaRPr lang="pt-BR" sz="2000" dirty="0"/>
          </a:p>
          <a:p>
            <a:r>
              <a:rPr lang="pt-BR" sz="2000" dirty="0"/>
              <a:t>O cadastro de pacientes deverá ser efetuado pela secretária da clínica.</a:t>
            </a:r>
          </a:p>
          <a:p>
            <a:r>
              <a:rPr lang="pt-BR" sz="2000" dirty="0"/>
              <a:t> </a:t>
            </a:r>
          </a:p>
          <a:p>
            <a:r>
              <a:rPr lang="pt-BR" sz="2000" b="1" dirty="0"/>
              <a:t>[RNF05] – Identificação de pacientes</a:t>
            </a:r>
            <a:endParaRPr lang="pt-BR" sz="2000" dirty="0"/>
          </a:p>
          <a:p>
            <a:r>
              <a:rPr lang="pt-BR" sz="2000" dirty="0"/>
              <a:t>Os pacientes deverão ser identificados por um código único.</a:t>
            </a:r>
          </a:p>
          <a:p>
            <a:endParaRPr lang="pt-BR" sz="2000" dirty="0"/>
          </a:p>
          <a:p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1951546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 txBox="1">
            <a:spLocks/>
          </p:cNvSpPr>
          <p:nvPr/>
        </p:nvSpPr>
        <p:spPr>
          <a:xfrm>
            <a:off x="1107143" y="551828"/>
            <a:ext cx="9601196" cy="752538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b="1" dirty="0" smtClean="0">
                <a:solidFill>
                  <a:srgbClr val="00B050"/>
                </a:solidFill>
              </a:rPr>
              <a:t>Requisitos Não-Funcionais:</a:t>
            </a:r>
            <a:endParaRPr lang="pt-BR" dirty="0">
              <a:solidFill>
                <a:srgbClr val="00B050"/>
              </a:solidFill>
            </a:endParaRPr>
          </a:p>
        </p:txBody>
      </p:sp>
      <p:sp>
        <p:nvSpPr>
          <p:cNvPr id="3" name="CaixaDeTexto 2"/>
          <p:cNvSpPr txBox="1"/>
          <p:nvPr/>
        </p:nvSpPr>
        <p:spPr>
          <a:xfrm>
            <a:off x="766481" y="1183342"/>
            <a:ext cx="10596283" cy="4985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/>
              <a:t>[RNF06] – Marcação de consultas</a:t>
            </a:r>
            <a:endParaRPr lang="pt-BR" sz="2000" dirty="0"/>
          </a:p>
          <a:p>
            <a:r>
              <a:rPr lang="pt-BR" sz="2000" dirty="0"/>
              <a:t>As consultas deverão ser marcadas pela secretária da clínica. </a:t>
            </a:r>
          </a:p>
          <a:p>
            <a:r>
              <a:rPr lang="pt-BR" sz="2000" dirty="0"/>
              <a:t> </a:t>
            </a:r>
          </a:p>
          <a:p>
            <a:r>
              <a:rPr lang="pt-BR" sz="2000" b="1" dirty="0"/>
              <a:t>[RNF07] – Controle de acesso das consultas</a:t>
            </a:r>
            <a:endParaRPr lang="pt-BR" sz="2000" dirty="0"/>
          </a:p>
          <a:p>
            <a:r>
              <a:rPr lang="pt-BR" sz="2000" dirty="0"/>
              <a:t>O registro das informações de cada consulta será de responsabilidade do médico que a realizou.</a:t>
            </a:r>
          </a:p>
          <a:p>
            <a:r>
              <a:rPr lang="pt-BR" sz="2000" dirty="0"/>
              <a:t> </a:t>
            </a:r>
          </a:p>
          <a:p>
            <a:r>
              <a:rPr lang="pt-BR" sz="2000" b="1" dirty="0"/>
              <a:t>[RNF08] – Controle de acesso do histórico dos pacientes</a:t>
            </a:r>
            <a:endParaRPr lang="pt-BR" sz="2000" dirty="0"/>
          </a:p>
          <a:p>
            <a:r>
              <a:rPr lang="pt-BR" sz="2000" dirty="0"/>
              <a:t>Somente o médico poderá consultar o histórico de consultas de cada paciente.</a:t>
            </a:r>
          </a:p>
          <a:p>
            <a:r>
              <a:rPr lang="pt-BR" sz="2000" dirty="0"/>
              <a:t> </a:t>
            </a:r>
          </a:p>
          <a:p>
            <a:r>
              <a:rPr lang="pt-BR" sz="2000" b="1" dirty="0"/>
              <a:t>[RNF09] – Controle de acesso do relatório das consultas</a:t>
            </a:r>
            <a:endParaRPr lang="pt-BR" sz="2000" dirty="0"/>
          </a:p>
          <a:p>
            <a:r>
              <a:rPr lang="pt-BR" sz="2000" dirty="0"/>
              <a:t>O relatório deve estar acessível somente aos </a:t>
            </a:r>
            <a:r>
              <a:rPr lang="pt-BR" sz="2000" dirty="0" smtClean="0"/>
              <a:t>médicos </a:t>
            </a:r>
            <a:r>
              <a:rPr lang="pt-BR" sz="2000" dirty="0"/>
              <a:t>e à secretária da clínica.</a:t>
            </a:r>
          </a:p>
          <a:p>
            <a:r>
              <a:rPr lang="pt-BR" sz="2000" dirty="0"/>
              <a:t> </a:t>
            </a:r>
          </a:p>
          <a:p>
            <a:r>
              <a:rPr lang="pt-BR" sz="2000" b="1" dirty="0"/>
              <a:t>[RNF10] – Facilidade de uso</a:t>
            </a:r>
            <a:endParaRPr lang="pt-BR" sz="2000" dirty="0"/>
          </a:p>
          <a:p>
            <a:r>
              <a:rPr lang="pt-BR" sz="2000" dirty="0"/>
              <a:t>O sistema deverá ter uma ajuda on-line em todas as telas e em todas as funções.</a:t>
            </a:r>
          </a:p>
          <a:p>
            <a:r>
              <a:rPr lang="pt-BR" sz="2000" dirty="0"/>
              <a:t> </a:t>
            </a:r>
          </a:p>
          <a:p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1324588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 txBox="1">
            <a:spLocks/>
          </p:cNvSpPr>
          <p:nvPr/>
        </p:nvSpPr>
        <p:spPr>
          <a:xfrm>
            <a:off x="1290918" y="699745"/>
            <a:ext cx="9601196" cy="752538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b="1" dirty="0" smtClean="0">
                <a:solidFill>
                  <a:srgbClr val="00B050"/>
                </a:solidFill>
              </a:rPr>
              <a:t>Requisitos Não-Funcionais:</a:t>
            </a:r>
            <a:endParaRPr lang="pt-BR" dirty="0">
              <a:solidFill>
                <a:srgbClr val="00B050"/>
              </a:solidFill>
            </a:endParaRPr>
          </a:p>
        </p:txBody>
      </p:sp>
      <p:sp>
        <p:nvSpPr>
          <p:cNvPr id="3" name="CaixaDeTexto 2"/>
          <p:cNvSpPr txBox="1"/>
          <p:nvPr/>
        </p:nvSpPr>
        <p:spPr>
          <a:xfrm>
            <a:off x="793375" y="1653988"/>
            <a:ext cx="1059628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/>
              <a:t>[RNF11] – Disponibilidade</a:t>
            </a:r>
            <a:endParaRPr lang="pt-BR" sz="2400" dirty="0"/>
          </a:p>
          <a:p>
            <a:r>
              <a:rPr lang="pt-BR" sz="2400" dirty="0"/>
              <a:t>O sistema deverá ser acessível via dispositivos móveis e estar disponível para consultas 24h por dia.</a:t>
            </a:r>
          </a:p>
          <a:p>
            <a:r>
              <a:rPr lang="pt-BR" sz="2400" dirty="0"/>
              <a:t> </a:t>
            </a:r>
          </a:p>
          <a:p>
            <a:r>
              <a:rPr lang="pt-BR" sz="2400" b="1" dirty="0"/>
              <a:t>[RNF12] – Janela única</a:t>
            </a:r>
            <a:endParaRPr lang="pt-BR" sz="2400" dirty="0"/>
          </a:p>
          <a:p>
            <a:r>
              <a:rPr lang="pt-BR" sz="2400" dirty="0"/>
              <a:t>Todas as funções de cadastro devem ser efetuadas em uma única janela.</a:t>
            </a:r>
          </a:p>
          <a:p>
            <a:r>
              <a:rPr lang="pt-BR" sz="2400" dirty="0"/>
              <a:t> </a:t>
            </a:r>
          </a:p>
          <a:p>
            <a:r>
              <a:rPr lang="pt-BR" sz="2400" b="1" dirty="0"/>
              <a:t>[RNF13] – Tempo de retorno</a:t>
            </a:r>
            <a:endParaRPr lang="pt-BR" sz="2400" dirty="0"/>
          </a:p>
          <a:p>
            <a:r>
              <a:rPr lang="pt-BR" sz="2400" dirty="0"/>
              <a:t>O tempo de retorno para consultas ao sistema não deve ser superior a 10 </a:t>
            </a:r>
            <a:r>
              <a:rPr lang="pt-BR" sz="2400" dirty="0" smtClean="0"/>
              <a:t>segundos.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663868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 txBox="1">
            <a:spLocks/>
          </p:cNvSpPr>
          <p:nvPr/>
        </p:nvSpPr>
        <p:spPr>
          <a:xfrm>
            <a:off x="1107143" y="551828"/>
            <a:ext cx="9601196" cy="752538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b="1" dirty="0" smtClean="0">
                <a:solidFill>
                  <a:srgbClr val="7030A0"/>
                </a:solidFill>
              </a:rPr>
              <a:t>Regras de negócio</a:t>
            </a:r>
            <a:endParaRPr lang="pt-BR" dirty="0">
              <a:solidFill>
                <a:srgbClr val="7030A0"/>
              </a:solidFill>
            </a:endParaRPr>
          </a:p>
        </p:txBody>
      </p:sp>
      <p:sp>
        <p:nvSpPr>
          <p:cNvPr id="3" name="CaixaDeTexto 2"/>
          <p:cNvSpPr txBox="1"/>
          <p:nvPr/>
        </p:nvSpPr>
        <p:spPr>
          <a:xfrm>
            <a:off x="766481" y="1304366"/>
            <a:ext cx="1059628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- Podem ser realizadas consultas particulares e por convênios.</a:t>
            </a:r>
          </a:p>
          <a:p>
            <a:r>
              <a:rPr lang="pt-BR" sz="2800" dirty="0"/>
              <a:t>- A diretoria deverá informar em qual área da clínica cada médico pode ser alocado.</a:t>
            </a:r>
          </a:p>
          <a:p>
            <a:r>
              <a:rPr lang="pt-BR" sz="2800" dirty="0"/>
              <a:t>- Os médicos só podem realizar consultas conforme sua especialidade cadastrada no sistema.</a:t>
            </a:r>
          </a:p>
          <a:p>
            <a:r>
              <a:rPr lang="pt-BR" sz="2800" dirty="0"/>
              <a:t>- Cada médico poderá agendar no máximo 4 consultas por hora.</a:t>
            </a:r>
          </a:p>
          <a:p>
            <a:r>
              <a:rPr lang="pt-BR" sz="2800" dirty="0"/>
              <a:t>- Todo médico deve ser entrevistado pelos diretores antes de sua contratação.</a:t>
            </a:r>
          </a:p>
          <a:p>
            <a:r>
              <a:rPr lang="pt-BR" sz="2800" dirty="0"/>
              <a:t>- Não poderão ser contratados médicos com experiência abaixo de 5 anos.</a:t>
            </a:r>
          </a:p>
        </p:txBody>
      </p:sp>
    </p:spTree>
    <p:extLst>
      <p:ext uri="{BB962C8B-B14F-4D97-AF65-F5344CB8AC3E}">
        <p14:creationId xmlns:p14="http://schemas.microsoft.com/office/powerpoint/2010/main" val="2604459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ânico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128</TotalTime>
  <Words>327</Words>
  <Application>Microsoft Office PowerPoint</Application>
  <PresentationFormat>Widescreen</PresentationFormat>
  <Paragraphs>93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1" baseType="lpstr">
      <vt:lpstr>Arial</vt:lpstr>
      <vt:lpstr>Garamond</vt:lpstr>
      <vt:lpstr>Orgânico</vt:lpstr>
      <vt:lpstr>Correção da atividade: Especificação de requisitos- Clínica Médica</vt:lpstr>
      <vt:lpstr>Descrição dos objetivos e principais características do sistema: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Correção da atividade: Especificação de requisitos- Clínica Médica</dc:title>
  <dc:creator>Avaliador</dc:creator>
  <cp:lastModifiedBy>Avaliador</cp:lastModifiedBy>
  <cp:revision>9</cp:revision>
  <dcterms:created xsi:type="dcterms:W3CDTF">2021-09-15T12:50:00Z</dcterms:created>
  <dcterms:modified xsi:type="dcterms:W3CDTF">2021-09-15T15:10:04Z</dcterms:modified>
</cp:coreProperties>
</file>