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7"/>
  </p:notesMasterIdLst>
  <p:handoutMasterIdLst>
    <p:handoutMasterId r:id="rId28"/>
  </p:handoutMasterIdLst>
  <p:sldIdLst>
    <p:sldId id="256" r:id="rId2"/>
    <p:sldId id="398" r:id="rId3"/>
    <p:sldId id="399" r:id="rId4"/>
    <p:sldId id="401" r:id="rId5"/>
    <p:sldId id="402" r:id="rId6"/>
    <p:sldId id="403" r:id="rId7"/>
    <p:sldId id="404" r:id="rId8"/>
    <p:sldId id="406" r:id="rId9"/>
    <p:sldId id="405" r:id="rId10"/>
    <p:sldId id="448" r:id="rId11"/>
    <p:sldId id="407" r:id="rId12"/>
    <p:sldId id="412" r:id="rId13"/>
    <p:sldId id="413" r:id="rId14"/>
    <p:sldId id="414" r:id="rId15"/>
    <p:sldId id="436" r:id="rId16"/>
    <p:sldId id="437" r:id="rId17"/>
    <p:sldId id="438" r:id="rId18"/>
    <p:sldId id="439" r:id="rId19"/>
    <p:sldId id="440" r:id="rId20"/>
    <p:sldId id="450" r:id="rId21"/>
    <p:sldId id="441" r:id="rId22"/>
    <p:sldId id="442" r:id="rId23"/>
    <p:sldId id="443" r:id="rId24"/>
    <p:sldId id="449" r:id="rId25"/>
    <p:sldId id="396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6" d="100"/>
          <a:sy n="106" d="100"/>
        </p:scale>
        <p:origin x="-336" y="14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866E4-1765-2F4A-A89A-80163E91F79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6759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3656E-706C-AB47-A545-30B3AC9444BA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044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7416C88-D1AB-8044-8074-E7A2A0E387C4}" type="slidenum">
              <a:rPr lang="en-US" sz="1200"/>
              <a:pPr eaLnBrk="1" hangingPunct="1"/>
              <a:t>2</a:t>
            </a:fld>
            <a:endParaRPr lang="en-US" sz="1200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4BC5ACA-E832-4443-99C1-F01505D89A98}" type="slidenum">
              <a:rPr lang="en-US" sz="1200"/>
              <a:pPr eaLnBrk="1" hangingPunct="1"/>
              <a:t>3</a:t>
            </a:fld>
            <a:endParaRPr lang="en-US" sz="12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0F66287-2327-0947-8E58-66FE875A7905}" type="slidenum">
              <a:rPr lang="en-US" sz="1200"/>
              <a:pPr eaLnBrk="1" hangingPunct="1"/>
              <a:t>4</a:t>
            </a:fld>
            <a:endParaRPr lang="en-US" sz="1200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88C0F47-959A-A141-8A5A-85257770044A}" type="slidenum">
              <a:rPr lang="en-US" sz="1200"/>
              <a:pPr eaLnBrk="1" hangingPunct="1"/>
              <a:t>5</a:t>
            </a:fld>
            <a:endParaRPr lang="en-US" sz="1200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102359D-849A-FA46-8AB2-CD01E4D4657F}" type="slidenum">
              <a:rPr lang="en-US" sz="1200"/>
              <a:pPr eaLnBrk="1" hangingPunct="1"/>
              <a:t>6</a:t>
            </a:fld>
            <a:endParaRPr lang="en-US" sz="120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6A7DAC0-2904-2543-B6A5-638FA9BDB05F}" type="slidenum">
              <a:rPr lang="en-US" sz="1200"/>
              <a:pPr eaLnBrk="1" hangingPunct="1"/>
              <a:t>7</a:t>
            </a:fld>
            <a:endParaRPr lang="en-US" sz="1200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CD53912-47C2-964D-95CE-897B22FAAA87}" type="slidenum">
              <a:rPr lang="en-US" sz="1200"/>
              <a:pPr eaLnBrk="1" hangingPunct="1"/>
              <a:t>8</a:t>
            </a:fld>
            <a:endParaRPr lang="en-US" sz="120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819DCA9-6835-B448-8F1B-7639C9CE0FF6}" type="slidenum">
              <a:rPr lang="en-US" sz="1200"/>
              <a:pPr eaLnBrk="1" hangingPunct="1"/>
              <a:t>9</a:t>
            </a:fld>
            <a:endParaRPr lang="en-US" sz="120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CD53912-47C2-964D-95CE-897B22FAAA87}" type="slidenum">
              <a:rPr lang="en-US" sz="1200"/>
              <a:pPr eaLnBrk="1" hangingPunct="1"/>
              <a:t>10</a:t>
            </a:fld>
            <a:endParaRPr lang="en-US" sz="120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A337F2B-FF65-5F4F-97E4-ACCEAF0F2979}" type="slidenum">
              <a:rPr lang="en-US" sz="1200"/>
              <a:pPr eaLnBrk="1" hangingPunct="1"/>
              <a:t>11</a:t>
            </a:fld>
            <a:endParaRPr lang="en-US" sz="1200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82E8D9F-81E9-CD45-96AF-4B266BBAB62D}" type="slidenum">
              <a:rPr lang="en-US" sz="1200"/>
              <a:pPr eaLnBrk="1" hangingPunct="1"/>
              <a:t>12</a:t>
            </a:fld>
            <a:endParaRPr lang="en-US" sz="1200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6BCBC15F-ED48-0C42-898D-D096AB61EBE7}" type="slidenum">
              <a:rPr lang="en-US" sz="1200"/>
              <a:pPr eaLnBrk="1" hangingPunct="1"/>
              <a:t>13</a:t>
            </a:fld>
            <a:endParaRPr lang="en-US" sz="1200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B1E5EBA-EE1F-7440-A7FE-D0B4649CCFA4}" type="slidenum">
              <a:rPr lang="en-US" sz="1200"/>
              <a:pPr eaLnBrk="1" hangingPunct="1"/>
              <a:t>14</a:t>
            </a:fld>
            <a:endParaRPr lang="en-US" sz="120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FAF327F-1EFE-AB45-B02A-4B651A7A33AC}" type="slidenum">
              <a:rPr lang="en-US" sz="1200"/>
              <a:pPr eaLnBrk="1" hangingPunct="1"/>
              <a:t>15</a:t>
            </a:fld>
            <a:endParaRPr lang="en-US" sz="1200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96D75AA-D2AE-1143-9810-C3C7B27BB181}" type="slidenum">
              <a:rPr lang="en-US" sz="1200"/>
              <a:pPr eaLnBrk="1" hangingPunct="1"/>
              <a:t>16</a:t>
            </a:fld>
            <a:endParaRPr lang="en-US" sz="1200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26B5B76-E8DE-8349-9E13-7F22DF9FE34C}" type="slidenum">
              <a:rPr lang="en-US" sz="1200"/>
              <a:pPr eaLnBrk="1" hangingPunct="1"/>
              <a:t>17</a:t>
            </a:fld>
            <a:endParaRPr lang="en-US" sz="1200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C3A625F-E011-7D41-A98D-A50ECAF12DFC}" type="slidenum">
              <a:rPr lang="en-US" sz="1200"/>
              <a:pPr eaLnBrk="1" hangingPunct="1"/>
              <a:t>18</a:t>
            </a:fld>
            <a:endParaRPr lang="en-US" sz="120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DA04923-5A93-2143-9898-68074224D300}" type="slidenum">
              <a:rPr lang="en-US" sz="1200"/>
              <a:pPr eaLnBrk="1" hangingPunct="1"/>
              <a:t>19</a:t>
            </a:fld>
            <a:endParaRPr lang="en-US" sz="120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DA04923-5A93-2143-9898-68074224D300}" type="slidenum">
              <a:rPr lang="en-US" sz="1200"/>
              <a:pPr eaLnBrk="1" hangingPunct="1"/>
              <a:t>20</a:t>
            </a:fld>
            <a:endParaRPr lang="en-US" sz="120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86EDF72-1081-6045-BFEF-E786248F49C8}" type="slidenum">
              <a:rPr lang="en-US" sz="1200"/>
              <a:pPr eaLnBrk="1" hangingPunct="1"/>
              <a:t>21</a:t>
            </a:fld>
            <a:endParaRPr lang="en-US" sz="1200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8180968-0C60-2F4F-81C1-04F23768AFB7}" type="slidenum">
              <a:rPr lang="en-US" sz="1200"/>
              <a:pPr eaLnBrk="1" hangingPunct="1"/>
              <a:t>22</a:t>
            </a:fld>
            <a:endParaRPr lang="en-US" sz="120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895C4A0-6D1D-E94B-9455-3BC99A7C5ABC}" type="slidenum">
              <a:rPr lang="en-US" sz="1200"/>
              <a:pPr eaLnBrk="1" hangingPunct="1"/>
              <a:t>23</a:t>
            </a:fld>
            <a:endParaRPr lang="en-US" sz="1200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dirty="0"/>
              <a:t>Nível de maturidade: Grau de melhoria de processo para um pré-determinado conjunto de processos no qual todos os objetivos dentro do conjunto são atendidos [ISO/IEC 15504 1, 2003] </a:t>
            </a:r>
          </a:p>
          <a:p>
            <a:pPr eaLnBrk="1" hangingPunct="1"/>
            <a:r>
              <a:rPr lang="pt-BR" dirty="0"/>
              <a:t>Capacidade do processo: Uma caracterização da habilidade do processo atingir os objetivos de negócio atuais ou futuros [ISO/IEC 15504 1, 2003]</a:t>
            </a:r>
          </a:p>
          <a:p>
            <a:pPr eaLnBrk="1" hangingPunct="1"/>
            <a:r>
              <a:rPr lang="pt-BR" dirty="0"/>
              <a:t>Processo: Um conjunto de atividades inter-relacionadas, relacionadas,</a:t>
            </a:r>
          </a:p>
          <a:p>
            <a:pPr eaLnBrk="1" hangingPunct="1"/>
            <a:r>
              <a:rPr lang="pt-BR" dirty="0"/>
              <a:t>que transforma entradas em saídas [ABNT, 1998]</a:t>
            </a:r>
          </a:p>
          <a:p>
            <a:pPr eaLnBrk="1" hangingPunct="1"/>
            <a:r>
              <a:rPr lang="pt-BR" dirty="0"/>
              <a:t>Atributo de processo : Uma característica mensurável da capacidade do processo aplicável a qualquer processo [ISO/IEC 15504 [ISO/IEC 15504-1, 2003] 1, 2003]</a:t>
            </a:r>
          </a:p>
          <a:p>
            <a:pPr eaLnBrk="1" hangingPunct="1"/>
            <a:r>
              <a:rPr lang="pt-BR" dirty="0"/>
              <a:t>Propósito do processo: O principal objetivo da execução do processo e os prováveis resultados obtidos com a efetiva implementação do mesmo. Convém que a</a:t>
            </a:r>
          </a:p>
          <a:p>
            <a:pPr eaLnBrk="1" hangingPunct="1"/>
            <a:r>
              <a:rPr lang="pt-BR" dirty="0"/>
              <a:t>implementação do processo forneça benefícios tangíveis aos envolvidos [ISO/IEC 12207:1995/</a:t>
            </a:r>
            <a:r>
              <a:rPr lang="pt-BR" dirty="0" err="1"/>
              <a:t>Amd</a:t>
            </a:r>
            <a:r>
              <a:rPr lang="pt-BR" dirty="0"/>
              <a:t> 1:2002] </a:t>
            </a:r>
          </a:p>
          <a:p>
            <a:pPr eaLnBrk="1" hangingPunct="1"/>
            <a:r>
              <a:rPr lang="pt-BR" dirty="0"/>
              <a:t>Resultado esperado do processo : Um resultado observável do sucesso do alcance do propósito do processo [ISO/IEC 12207:1995/</a:t>
            </a:r>
            <a:r>
              <a:rPr lang="pt-BR" dirty="0" err="1"/>
              <a:t>Amd</a:t>
            </a:r>
            <a:r>
              <a:rPr lang="pt-BR" dirty="0"/>
              <a:t> 1:2002]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3370502" y="-21511"/>
            <a:ext cx="486985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489805" y="-21511"/>
            <a:ext cx="4664491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1" y="2708476"/>
            <a:ext cx="4160520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6201" y="4421080"/>
            <a:ext cx="4156967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3489805" y="6088284"/>
            <a:ext cx="4666284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9636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8" y="1628775"/>
            <a:ext cx="8001000" cy="4391025"/>
          </a:xfrm>
        </p:spPr>
        <p:txBody>
          <a:bodyPr/>
          <a:lstStyle/>
          <a:p>
            <a:pPr lvl="0"/>
            <a:endParaRPr lang="pt-BR" noProof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Especialização em Gerência de Projetos de Software</a:t>
            </a:r>
          </a:p>
        </p:txBody>
      </p:sp>
    </p:spTree>
    <p:extLst>
      <p:ext uri="{BB962C8B-B14F-4D97-AF65-F5344CB8AC3E}">
        <p14:creationId xmlns:p14="http://schemas.microsoft.com/office/powerpoint/2010/main" val="241439967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90212" y="2505518"/>
            <a:ext cx="3983076" cy="2179694"/>
          </a:xfrm>
        </p:spPr>
        <p:txBody>
          <a:bodyPr>
            <a:normAutofit/>
          </a:bodyPr>
          <a:lstStyle/>
          <a:p>
            <a:r>
              <a:rPr lang="pt-BR" sz="3200"/>
              <a:t>MODELOS DE CAPACITAÇÃO</a:t>
            </a:r>
            <a:endParaRPr lang="en-US" sz="3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5021716"/>
            <a:ext cx="3309803" cy="624280"/>
          </a:xfrm>
        </p:spPr>
        <p:txBody>
          <a:bodyPr/>
          <a:lstStyle/>
          <a:p>
            <a:r>
              <a:rPr lang="en-US"/>
              <a:t>Maria Augusta Vieira Nelson</a:t>
            </a:r>
          </a:p>
        </p:txBody>
      </p:sp>
    </p:spTree>
    <p:extLst>
      <p:ext uri="{BB962C8B-B14F-4D97-AF65-F5344CB8AC3E}">
        <p14:creationId xmlns:p14="http://schemas.microsoft.com/office/powerpoint/2010/main" val="163286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490" y="815972"/>
            <a:ext cx="7024744" cy="1143000"/>
          </a:xfrm>
        </p:spPr>
        <p:txBody>
          <a:bodyPr/>
          <a:lstStyle/>
          <a:p>
            <a:pPr eaLnBrk="1" hangingPunct="1"/>
            <a:r>
              <a:rPr lang="pt-BR"/>
              <a:t>Modelos de capacitação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3492" y="2147242"/>
            <a:ext cx="7211906" cy="3508977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pt-BR" sz="2000">
                <a:latin typeface="Verdana" charset="0"/>
              </a:rPr>
              <a:t>CMMI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1800" i="1">
                <a:latin typeface="Verdana" charset="0"/>
              </a:rPr>
              <a:t>Capability Maturity Model Integration</a:t>
            </a:r>
          </a:p>
          <a:p>
            <a:pPr eaLnBrk="1" hangingPunct="1">
              <a:lnSpc>
                <a:spcPct val="90000"/>
              </a:lnSpc>
            </a:pPr>
            <a:r>
              <a:rPr lang="pt-BR" sz="2000">
                <a:latin typeface="Verdana" charset="0"/>
              </a:rPr>
              <a:t>mpsBr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1800">
                <a:latin typeface="Verdana" charset="0"/>
              </a:rPr>
              <a:t>Melhoria do Processo de Software Brasileiro</a:t>
            </a:r>
          </a:p>
          <a:p>
            <a:pPr eaLnBrk="1" hangingPunct="1">
              <a:lnSpc>
                <a:spcPct val="90000"/>
              </a:lnSpc>
            </a:pPr>
            <a:r>
              <a:rPr lang="pt-BR" sz="2000">
                <a:latin typeface="Verdana" charset="0"/>
              </a:rPr>
              <a:t>ISO-9000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1800" i="1">
                <a:latin typeface="Verdana" charset="0"/>
              </a:rPr>
              <a:t>International Organization for Standardization</a:t>
            </a:r>
          </a:p>
          <a:p>
            <a:pPr eaLnBrk="1" hangingPunct="1">
              <a:lnSpc>
                <a:spcPct val="90000"/>
              </a:lnSpc>
            </a:pPr>
            <a:r>
              <a:rPr lang="pt-BR" sz="2000">
                <a:latin typeface="Verdana" charset="0"/>
              </a:rPr>
              <a:t>ISO-/IEC-12207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1800" i="1">
                <a:latin typeface="Verdana" charset="0"/>
              </a:rPr>
              <a:t>International Electrotechnical Commission</a:t>
            </a:r>
          </a:p>
          <a:p>
            <a:pPr eaLnBrk="1" hangingPunct="1">
              <a:lnSpc>
                <a:spcPct val="90000"/>
              </a:lnSpc>
            </a:pPr>
            <a:r>
              <a:rPr lang="pt-BR" sz="2000">
                <a:latin typeface="Verdana" charset="0"/>
              </a:rPr>
              <a:t>ISO-15504 (Spice)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1800" i="1">
                <a:latin typeface="Verdana" charset="0"/>
              </a:rPr>
              <a:t>Software Process Improvement and Capability</a:t>
            </a:r>
            <a:br>
              <a:rPr lang="pt-BR" sz="1800" i="1">
                <a:latin typeface="Verdana" charset="0"/>
              </a:rPr>
            </a:br>
            <a:r>
              <a:rPr lang="pt-BR" sz="1800" i="1">
                <a:latin typeface="Verdana" charset="0"/>
              </a:rPr>
              <a:t>dEtermination</a:t>
            </a:r>
            <a:endParaRPr lang="pt-BR" sz="1800">
              <a:latin typeface="Verdana" charset="0"/>
            </a:endParaRPr>
          </a:p>
          <a:p>
            <a:pPr>
              <a:lnSpc>
                <a:spcPct val="90000"/>
              </a:lnSpc>
            </a:pPr>
            <a:r>
              <a:rPr lang="pt-BR" sz="2000">
                <a:latin typeface="Verdana" charset="0"/>
              </a:rPr>
              <a:t>ISO 9126 </a:t>
            </a:r>
          </a:p>
          <a:p>
            <a:pPr lvl="1">
              <a:lnSpc>
                <a:spcPct val="90000"/>
              </a:lnSpc>
            </a:pPr>
            <a:r>
              <a:rPr lang="pt-BR" sz="1800">
                <a:latin typeface="Verdana" charset="0"/>
              </a:rPr>
              <a:t>Define parâmetros para avaliar qualidade do produto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490" y="551357"/>
            <a:ext cx="7024744" cy="1143000"/>
          </a:xfrm>
        </p:spPr>
        <p:txBody>
          <a:bodyPr/>
          <a:lstStyle/>
          <a:p>
            <a:pPr eaLnBrk="1" hangingPunct="1"/>
            <a:r>
              <a:rPr lang="pt-BR"/>
              <a:t>ISO-IEC-12207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3490" y="1827213"/>
            <a:ext cx="7177108" cy="4267200"/>
          </a:xfrm>
        </p:spPr>
        <p:txBody>
          <a:bodyPr/>
          <a:lstStyle/>
          <a:p>
            <a:pPr eaLnBrk="1" hangingPunct="1"/>
            <a:r>
              <a:rPr lang="pt-BR">
                <a:latin typeface="Verdana" charset="0"/>
              </a:rPr>
              <a:t>Descreve os principais processos componentes do ciclo de vida do software e os relacionamentos entre eles</a:t>
            </a:r>
          </a:p>
          <a:p>
            <a:pPr eaLnBrk="1" hangingPunct="1"/>
            <a:endParaRPr lang="pt-BR">
              <a:latin typeface="Verdana" charset="0"/>
            </a:endParaRPr>
          </a:p>
          <a:p>
            <a:pPr eaLnBrk="1" hangingPunct="1"/>
            <a:endParaRPr lang="pt-BR">
              <a:latin typeface="Verdana" charset="0"/>
            </a:endParaRPr>
          </a:p>
          <a:p>
            <a:pPr eaLnBrk="1" hangingPunct="1"/>
            <a:endParaRPr lang="pt-BR">
              <a:latin typeface="Verdana" charset="0"/>
            </a:endParaRPr>
          </a:p>
          <a:p>
            <a:pPr eaLnBrk="1" hangingPunct="1"/>
            <a:r>
              <a:rPr lang="pt-BR">
                <a:latin typeface="Verdana" charset="0"/>
              </a:rPr>
              <a:t>Representa um guia para avaliação de maturidade dos processos</a:t>
            </a:r>
          </a:p>
          <a:p>
            <a:pPr eaLnBrk="1" hangingPunct="1"/>
            <a:r>
              <a:rPr lang="pt-BR">
                <a:latin typeface="Verdana" charset="0"/>
              </a:rPr>
              <a:t>Arquitetura contínua</a:t>
            </a:r>
            <a:endParaRPr lang="pt-BR" sz="2800">
              <a:latin typeface="Verdana" charset="0"/>
            </a:endParaRP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1034548" y="3120689"/>
            <a:ext cx="7457046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pt-BR" sz="4000">
                <a:solidFill>
                  <a:schemeClr val="bg2">
                    <a:lumMod val="50000"/>
                  </a:schemeClr>
                </a:solidFill>
                <a:latin typeface="+mj-lt"/>
              </a:rPr>
              <a:t>ISO-15504 (SPICE)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490" y="639562"/>
            <a:ext cx="7024744" cy="1143000"/>
          </a:xfrm>
        </p:spPr>
        <p:txBody>
          <a:bodyPr/>
          <a:lstStyle/>
          <a:p>
            <a:pPr eaLnBrk="1" hangingPunct="1"/>
            <a:r>
              <a:rPr lang="pt-BR"/>
              <a:t>CMMI</a:t>
            </a:r>
          </a:p>
        </p:txBody>
      </p:sp>
      <p:sp>
        <p:nvSpPr>
          <p:cNvPr id="2560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043492" y="1953191"/>
            <a:ext cx="7335384" cy="3508977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pt-BR">
                <a:latin typeface="Verdana" charset="0"/>
              </a:rPr>
              <a:t>Criação de modelo de maturidade, definido como CMM (</a:t>
            </a:r>
            <a:r>
              <a:rPr lang="pt-BR" i="1">
                <a:latin typeface="Verdana" charset="0"/>
              </a:rPr>
              <a:t>Capability Maturity Model</a:t>
            </a:r>
            <a:r>
              <a:rPr lang="pt-BR">
                <a:latin typeface="Verdana" charset="0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pt-BR">
                <a:latin typeface="Verdana" charset="0"/>
              </a:rPr>
              <a:t>final da década de 80.</a:t>
            </a:r>
          </a:p>
          <a:p>
            <a:pPr lvl="1" eaLnBrk="1" hangingPunct="1">
              <a:lnSpc>
                <a:spcPct val="90000"/>
              </a:lnSpc>
            </a:pPr>
            <a:r>
              <a:rPr lang="pt-BR">
                <a:latin typeface="Verdana" charset="0"/>
              </a:rPr>
              <a:t>pelo SEI (</a:t>
            </a:r>
            <a:r>
              <a:rPr lang="pt-BR" i="1">
                <a:latin typeface="Verdana" charset="0"/>
              </a:rPr>
              <a:t>Software Engineering Institute</a:t>
            </a:r>
            <a:r>
              <a:rPr lang="pt-BR">
                <a:latin typeface="Verdana" charset="0"/>
              </a:rPr>
              <a:t>) da Universidade de Carnegie Mellon, Pittsburgh</a:t>
            </a:r>
          </a:p>
          <a:p>
            <a:pPr eaLnBrk="1" hangingPunct="1">
              <a:lnSpc>
                <a:spcPct val="90000"/>
              </a:lnSpc>
            </a:pPr>
            <a:r>
              <a:rPr lang="pt-BR">
                <a:latin typeface="Verdana" charset="0"/>
              </a:rPr>
              <a:t>Departamento de defesa dos EUA patrocinou incentivo em melhoria da qualidade.</a:t>
            </a:r>
          </a:p>
          <a:p>
            <a:pPr eaLnBrk="1" hangingPunct="1">
              <a:lnSpc>
                <a:spcPct val="90000"/>
              </a:lnSpc>
            </a:pPr>
            <a:r>
              <a:rPr lang="pt-BR">
                <a:latin typeface="Verdana" charset="0"/>
              </a:rPr>
              <a:t>Qualidade total inspirou o movimento para melhoria do processo de software</a:t>
            </a:r>
          </a:p>
          <a:p>
            <a:pPr eaLnBrk="1" hangingPunct="1">
              <a:lnSpc>
                <a:spcPct val="90000"/>
              </a:lnSpc>
            </a:pPr>
            <a:r>
              <a:rPr lang="pt-BR">
                <a:latin typeface="Verdana" charset="0"/>
              </a:rPr>
              <a:t>CMMI: evolução do CMM incorporando e integrando também outros modelos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pt-BR">
              <a:latin typeface="Verdana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490" y="212494"/>
            <a:ext cx="7024744" cy="1143000"/>
          </a:xfrm>
        </p:spPr>
        <p:txBody>
          <a:bodyPr/>
          <a:lstStyle/>
          <a:p>
            <a:pPr eaLnBrk="1" hangingPunct="1"/>
            <a:r>
              <a:rPr lang="pt-BR"/>
              <a:t>CMMI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893" y="1484312"/>
            <a:ext cx="7741579" cy="4391025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pt-BR">
                <a:latin typeface="Verdana" charset="0"/>
              </a:rPr>
              <a:t>Modelo de capacitação de arquitetura em estágios e contínuo</a:t>
            </a:r>
          </a:p>
          <a:p>
            <a:pPr eaLnBrk="1" hangingPunct="1">
              <a:lnSpc>
                <a:spcPct val="90000"/>
              </a:lnSpc>
            </a:pPr>
            <a:r>
              <a:rPr lang="pt-BR">
                <a:latin typeface="Verdana" charset="0"/>
              </a:rPr>
              <a:t>As práticas que ele descreve são agrupadas em níveis de maturidade</a:t>
            </a:r>
          </a:p>
          <a:p>
            <a:pPr eaLnBrk="1" hangingPunct="1">
              <a:lnSpc>
                <a:spcPct val="90000"/>
              </a:lnSpc>
            </a:pPr>
            <a:r>
              <a:rPr lang="pt-BR">
                <a:latin typeface="Verdana" charset="0"/>
              </a:rPr>
              <a:t>Níveis foram definidos de acordo com os seguintes critérios</a:t>
            </a:r>
          </a:p>
          <a:p>
            <a:pPr lvl="1" eaLnBrk="1" hangingPunct="1">
              <a:lnSpc>
                <a:spcPct val="90000"/>
              </a:lnSpc>
            </a:pPr>
            <a:r>
              <a:rPr lang="pt-BR">
                <a:latin typeface="Verdana" charset="0"/>
              </a:rPr>
              <a:t>Representar fases históricas razoáveis na vida de organizações.</a:t>
            </a:r>
          </a:p>
          <a:p>
            <a:pPr lvl="1" eaLnBrk="1" hangingPunct="1">
              <a:lnSpc>
                <a:spcPct val="90000"/>
              </a:lnSpc>
            </a:pPr>
            <a:r>
              <a:rPr lang="pt-BR">
                <a:latin typeface="Verdana" charset="0"/>
              </a:rPr>
              <a:t>Promover degraus intermediários de maturidade, em seqüência razoável.</a:t>
            </a:r>
          </a:p>
          <a:p>
            <a:pPr lvl="1" eaLnBrk="1" hangingPunct="1">
              <a:lnSpc>
                <a:spcPct val="90000"/>
              </a:lnSpc>
            </a:pPr>
            <a:r>
              <a:rPr lang="pt-BR">
                <a:latin typeface="Verdana" charset="0"/>
              </a:rPr>
              <a:t>Sugerir medidas de progresso e objetivos intermediários.</a:t>
            </a:r>
          </a:p>
          <a:p>
            <a:pPr lvl="1" eaLnBrk="1" hangingPunct="1">
              <a:lnSpc>
                <a:spcPct val="90000"/>
              </a:lnSpc>
            </a:pPr>
            <a:r>
              <a:rPr lang="pt-BR">
                <a:latin typeface="Verdana" charset="0"/>
              </a:rPr>
              <a:t>Definir, para cada estágio, prioridades de melhoria.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CMMI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>
                <a:latin typeface="Verdana" charset="0"/>
              </a:rPr>
              <a:t>Arquitetura em estágios reconhece a dificuldade de uma organização em melhorar todos os seus processos simultaneamente</a:t>
            </a:r>
          </a:p>
          <a:p>
            <a:pPr eaLnBrk="1" hangingPunct="1">
              <a:lnSpc>
                <a:spcPct val="90000"/>
              </a:lnSpc>
            </a:pPr>
            <a:r>
              <a:rPr lang="pt-BR">
                <a:latin typeface="Verdana" charset="0"/>
              </a:rPr>
              <a:t>Oferece estados intermediários que possam ser atingidos em prazos curtos.</a:t>
            </a:r>
          </a:p>
          <a:p>
            <a:pPr eaLnBrk="1" hangingPunct="1">
              <a:lnSpc>
                <a:spcPct val="90000"/>
              </a:lnSpc>
            </a:pPr>
            <a:r>
              <a:rPr lang="pt-BR">
                <a:latin typeface="Verdana" charset="0"/>
              </a:rPr>
              <a:t>Resume o estado em um indicador, o nível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490" y="604280"/>
            <a:ext cx="7024744" cy="1143000"/>
          </a:xfrm>
        </p:spPr>
        <p:txBody>
          <a:bodyPr/>
          <a:lstStyle/>
          <a:p>
            <a:pPr eaLnBrk="1" hangingPunct="1"/>
            <a:r>
              <a:rPr lang="pt-BR"/>
              <a:t>Elementos do CMMI</a:t>
            </a:r>
          </a:p>
        </p:txBody>
      </p:sp>
      <p:pic>
        <p:nvPicPr>
          <p:cNvPr id="317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0113" y="2084388"/>
            <a:ext cx="7416800" cy="4152900"/>
          </a:xfr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445928"/>
            <a:ext cx="8001000" cy="963613"/>
          </a:xfrm>
        </p:spPr>
        <p:txBody>
          <a:bodyPr/>
          <a:lstStyle/>
          <a:p>
            <a:pPr eaLnBrk="1" hangingPunct="1"/>
            <a:r>
              <a:rPr lang="pt-BR"/>
              <a:t>Níveis de maturidade do CMMI</a:t>
            </a:r>
          </a:p>
        </p:txBody>
      </p:sp>
      <p:pic>
        <p:nvPicPr>
          <p:cNvPr id="3" name="Table Placeholder 2"/>
          <p:cNvPicPr>
            <a:picLocks noGrp="1" noChangeAspect="1"/>
          </p:cNvPicPr>
          <p:nvPr>
            <p:ph type="tbl" idx="1"/>
          </p:nvPr>
        </p:nvPicPr>
        <p:blipFill>
          <a:blip r:embed="rId3"/>
          <a:srcRect t="5593" b="5593"/>
          <a:stretch>
            <a:fillRect/>
          </a:stretch>
        </p:blipFill>
        <p:spPr/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Níveis de maturidade do CMMI</a:t>
            </a:r>
          </a:p>
        </p:txBody>
      </p:sp>
      <p:graphicFrame>
        <p:nvGraphicFramePr>
          <p:cNvPr id="1003562" name="Group 4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7337554"/>
              </p:ext>
            </p:extLst>
          </p:nvPr>
        </p:nvGraphicFramePr>
        <p:xfrm>
          <a:off x="627595" y="1486234"/>
          <a:ext cx="7857121" cy="4939587"/>
        </p:xfrm>
        <a:graphic>
          <a:graphicData uri="http://schemas.openxmlformats.org/drawingml/2006/table">
            <a:tbl>
              <a:tblPr/>
              <a:tblGrid>
                <a:gridCol w="399999"/>
                <a:gridCol w="1230293"/>
                <a:gridCol w="3104595"/>
                <a:gridCol w="3122234"/>
              </a:tblGrid>
              <a:tr h="376570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#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Nível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Característica da Organização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Característica dos Processos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3109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1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Inicial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charset="0"/>
                        <a:buNone/>
                        <a:tabLst>
                          <a:tab pos="160338" algn="l"/>
                        </a:tabLst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Não provê um ambiente estável.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Times New Roman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charset="0"/>
                        <a:buNone/>
                        <a:tabLst>
                          <a:tab pos="160338" algn="l"/>
                        </a:tabLst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Sucesso depende de esforços heróicos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Times New Roman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charset="0"/>
                        <a:buNone/>
                        <a:tabLst>
                          <a:tab pos="160338" algn="l"/>
                        </a:tabLst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Processos são abandonados em épocas de crise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Times New Roman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charset="0"/>
                        <a:buNone/>
                        <a:tabLst>
                          <a:tab pos="160338" algn="l"/>
                        </a:tabLst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Passado anterior nem sempre pode ser repetido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Ad hoc e caóticos.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1601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Gerenciado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Requisitos, processos, produtos de trabalho e serviços são gerenciados.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Ajuda a garantir que as práticas existentes são mantidas em períodos de crise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9250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Definido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Organização preparada para utilizar processos adaptados a partir de um conjunto padrão.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Ativos de processo, base para o nível 3, são estabelecidos, mantidos e evoluídos.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Times New Roman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Descritos com mais detalhes e mais rigorosamente.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445928"/>
            <a:ext cx="8001000" cy="963613"/>
          </a:xfrm>
        </p:spPr>
        <p:txBody>
          <a:bodyPr/>
          <a:lstStyle/>
          <a:p>
            <a:pPr eaLnBrk="1" hangingPunct="1"/>
            <a:r>
              <a:rPr lang="pt-BR"/>
              <a:t>Níveis de maturidade do CMMI</a:t>
            </a:r>
          </a:p>
        </p:txBody>
      </p:sp>
      <p:graphicFrame>
        <p:nvGraphicFramePr>
          <p:cNvPr id="1033278" name="Group 6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7331309"/>
              </p:ext>
            </p:extLst>
          </p:nvPr>
        </p:nvGraphicFramePr>
        <p:xfrm>
          <a:off x="725499" y="1752600"/>
          <a:ext cx="7706300" cy="4227752"/>
        </p:xfrm>
        <a:graphic>
          <a:graphicData uri="http://schemas.openxmlformats.org/drawingml/2006/table">
            <a:tbl>
              <a:tblPr/>
              <a:tblGrid>
                <a:gridCol w="392321"/>
                <a:gridCol w="1722672"/>
                <a:gridCol w="2743295"/>
                <a:gridCol w="2848012"/>
              </a:tblGrid>
              <a:tr h="377462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#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Nível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Característica da Organização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Característica dos Processos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3158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QuantitativamenteGerenciado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0338" algn="l"/>
                        </a:tabLst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Objetivos quantitativos são definidos para a qualidade do processo.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Desempenho dos processos previsíveis.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Times New Roman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Desempenho dos processos estudado através de controle estatístico.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27132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Em otimização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0338" algn="l"/>
                        </a:tabLst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Busca da melhoria de processos baseados nas causas comuns de variação dos processos, para as causas nem sempre podem ser levantadas pelo controle estatístico.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Processos são continuamente melhorados através de melhorias tecnológicas incrementais e inovativas.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Times New Roman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Times New Roman" charset="0"/>
                        </a:rPr>
                        <a:t>Tanto os processos definidos quanto os processos padrão são </a:t>
                      </a:r>
                      <a:endParaRPr kumimoji="0" lang="pt-BR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073590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490" y="568998"/>
            <a:ext cx="7024744" cy="1143000"/>
          </a:xfrm>
        </p:spPr>
        <p:txBody>
          <a:bodyPr/>
          <a:lstStyle/>
          <a:p>
            <a:pPr eaLnBrk="1" hangingPunct="1"/>
            <a:r>
              <a:rPr lang="pt-BR"/>
              <a:t>Áreas de processo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3492" y="2041396"/>
            <a:ext cx="6777317" cy="3508977"/>
          </a:xfrm>
        </p:spPr>
        <p:txBody>
          <a:bodyPr>
            <a:normAutofit fontScale="92500" lnSpcReduction="10000"/>
          </a:bodyPr>
          <a:lstStyle/>
          <a:p>
            <a:pPr algn="just" eaLnBrk="1" hangingPunct="1"/>
            <a:r>
              <a:rPr lang="pt-BR" sz="2000" dirty="0">
                <a:latin typeface="Verdana" charset="0"/>
              </a:rPr>
              <a:t>Conjunto de práticas relacionadas em uma área que, quando praticada coletivamente, satisfaz um conjunto de objetivos considerados importantes para melhorias significativas naquela área.</a:t>
            </a:r>
          </a:p>
          <a:p>
            <a:pPr algn="just" eaLnBrk="1" hangingPunct="1">
              <a:lnSpc>
                <a:spcPct val="80000"/>
              </a:lnSpc>
            </a:pPr>
            <a:r>
              <a:rPr lang="pt-BR" sz="2000" dirty="0">
                <a:latin typeface="Verdana" charset="0"/>
              </a:rPr>
              <a:t>Exemplos de áreas de processo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pt-BR" sz="1400" dirty="0">
                <a:latin typeface="Verdana" charset="0"/>
              </a:rPr>
              <a:t>Gerência de requisitos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pt-BR" sz="1400" dirty="0">
                <a:latin typeface="Verdana" charset="0"/>
              </a:rPr>
              <a:t>Planejamento de projeto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pt-BR" sz="1400" dirty="0">
                <a:latin typeface="Verdana" charset="0"/>
              </a:rPr>
              <a:t>Monitoração e controle de projeto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pt-BR" sz="1400" dirty="0">
                <a:latin typeface="Verdana" charset="0"/>
              </a:rPr>
              <a:t>Medição e análise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pt-BR" sz="1400" dirty="0">
                <a:latin typeface="Verdana" charset="0"/>
              </a:rPr>
              <a:t>Garantia da qualidade de processo e projeto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pt-BR" sz="1400" dirty="0">
                <a:latin typeface="Verdana" charset="0"/>
              </a:rPr>
              <a:t>Gestão de configuração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pt-BR" sz="1400" dirty="0">
                <a:latin typeface="Verdana" charset="0"/>
              </a:rPr>
              <a:t>Desenvolvimento de requisitos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pt-BR" sz="1400" dirty="0">
                <a:latin typeface="Verdana" charset="0"/>
              </a:rPr>
              <a:t>Verificação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pt-BR" sz="1400" dirty="0">
                <a:latin typeface="Verdana" charset="0"/>
              </a:rPr>
              <a:t>Validação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pt-BR" sz="1400" dirty="0">
                <a:latin typeface="Verdana" charset="0"/>
              </a:rPr>
              <a:t>Treinamento organizacional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pt-BR" sz="1400" dirty="0">
                <a:latin typeface="Verdana" charset="0"/>
              </a:rPr>
              <a:t>Gestão de riscos</a:t>
            </a:r>
            <a:endParaRPr lang="pt-BR" sz="1600" dirty="0">
              <a:latin typeface="Verdana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490" y="780690"/>
            <a:ext cx="7370666" cy="1143000"/>
          </a:xfrm>
        </p:spPr>
        <p:txBody>
          <a:bodyPr/>
          <a:lstStyle/>
          <a:p>
            <a:pPr eaLnBrk="1" hangingPunct="1"/>
            <a:r>
              <a:rPr lang="pt-BR"/>
              <a:t>Áreas de processo CMMI-SW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pt-BR">
                <a:latin typeface="Verdana" charset="0"/>
              </a:rPr>
              <a:t>Nível 2: Gerenciável</a:t>
            </a:r>
          </a:p>
          <a:p>
            <a:pPr lvl="1" eaLnBrk="1" hangingPunct="1"/>
            <a:r>
              <a:rPr lang="pt-BR">
                <a:latin typeface="Verdana" charset="0"/>
              </a:rPr>
              <a:t>Gerência de requisitos</a:t>
            </a:r>
          </a:p>
          <a:p>
            <a:pPr lvl="1" eaLnBrk="1" hangingPunct="1"/>
            <a:r>
              <a:rPr lang="pt-BR">
                <a:latin typeface="Verdana" charset="0"/>
              </a:rPr>
              <a:t>Planejamento de projeto</a:t>
            </a:r>
          </a:p>
          <a:p>
            <a:pPr lvl="1" eaLnBrk="1" hangingPunct="1"/>
            <a:r>
              <a:rPr lang="pt-BR">
                <a:latin typeface="Verdana" charset="0"/>
              </a:rPr>
              <a:t>Monitoração e controle de projeto</a:t>
            </a:r>
          </a:p>
          <a:p>
            <a:pPr lvl="1" eaLnBrk="1" hangingPunct="1"/>
            <a:r>
              <a:rPr lang="pt-BR">
                <a:latin typeface="Verdana" charset="0"/>
              </a:rPr>
              <a:t>Gerência de acordo de sub-contratação</a:t>
            </a:r>
          </a:p>
          <a:p>
            <a:pPr lvl="1" eaLnBrk="1" hangingPunct="1"/>
            <a:r>
              <a:rPr lang="pt-BR">
                <a:latin typeface="Verdana" charset="0"/>
              </a:rPr>
              <a:t>Medição e análise</a:t>
            </a:r>
          </a:p>
          <a:p>
            <a:pPr lvl="1" eaLnBrk="1" hangingPunct="1"/>
            <a:r>
              <a:rPr lang="pt-BR">
                <a:latin typeface="Verdana" charset="0"/>
              </a:rPr>
              <a:t>Garantia da qualidade de processo e projeto</a:t>
            </a:r>
          </a:p>
          <a:p>
            <a:pPr lvl="1" eaLnBrk="1" hangingPunct="1"/>
            <a:r>
              <a:rPr lang="pt-BR">
                <a:latin typeface="Verdana" charset="0"/>
              </a:rPr>
              <a:t>Gestão de configuração</a:t>
            </a:r>
          </a:p>
          <a:p>
            <a:pPr eaLnBrk="1" hangingPunct="1"/>
            <a:endParaRPr lang="pt-BR">
              <a:latin typeface="Verdana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849450" y="833613"/>
            <a:ext cx="7494144" cy="1143000"/>
          </a:xfrm>
        </p:spPr>
        <p:txBody>
          <a:bodyPr/>
          <a:lstStyle/>
          <a:p>
            <a:pPr eaLnBrk="1" hangingPunct="1"/>
            <a:r>
              <a:rPr lang="pt-BR"/>
              <a:t>Áreas de processo CMMI-SW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pt-BR" sz="2000">
                <a:latin typeface="Verdana" charset="0"/>
              </a:rPr>
              <a:t>Nível 3: Definido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1800">
                <a:latin typeface="Verdana" charset="0"/>
              </a:rPr>
              <a:t>Desenvolvimento de requisitos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1800">
                <a:latin typeface="Verdana" charset="0"/>
              </a:rPr>
              <a:t>Solução técnica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1800">
                <a:latin typeface="Verdana" charset="0"/>
              </a:rPr>
              <a:t>Integração de produto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1800">
                <a:latin typeface="Verdana" charset="0"/>
              </a:rPr>
              <a:t>Verificação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1800">
                <a:latin typeface="Verdana" charset="0"/>
              </a:rPr>
              <a:t>Validação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1800">
                <a:latin typeface="Verdana" charset="0"/>
              </a:rPr>
              <a:t>Foco no processo organizacional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1800">
                <a:latin typeface="Verdana" charset="0"/>
              </a:rPr>
              <a:t>Definição do processo organizacional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1800">
                <a:latin typeface="Verdana" charset="0"/>
              </a:rPr>
              <a:t>Treinamento organizacional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1800">
                <a:latin typeface="Verdana" charset="0"/>
              </a:rPr>
              <a:t>Gestão integrada de projeto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1800">
                <a:latin typeface="Verdana" charset="0"/>
              </a:rPr>
              <a:t>Gestão de riscos</a:t>
            </a:r>
          </a:p>
          <a:p>
            <a:pPr lvl="1" eaLnBrk="1" hangingPunct="1">
              <a:lnSpc>
                <a:spcPct val="90000"/>
              </a:lnSpc>
            </a:pPr>
            <a:r>
              <a:rPr lang="pt-BR" sz="1800">
                <a:latin typeface="Verdana" charset="0"/>
              </a:rPr>
              <a:t>Análise de decisão e resolução</a:t>
            </a:r>
          </a:p>
          <a:p>
            <a:pPr algn="just" eaLnBrk="1" hangingPunct="1">
              <a:lnSpc>
                <a:spcPct val="90000"/>
              </a:lnSpc>
              <a:buFont typeface="Symbol" charset="0"/>
              <a:buChar char=""/>
            </a:pPr>
            <a:endParaRPr lang="pt-BR" sz="2000">
              <a:latin typeface="Verdana" charset="0"/>
            </a:endParaRPr>
          </a:p>
          <a:p>
            <a:pPr eaLnBrk="1" hangingPunct="1">
              <a:lnSpc>
                <a:spcPct val="90000"/>
              </a:lnSpc>
            </a:pPr>
            <a:endParaRPr lang="pt-BR" sz="2000">
              <a:latin typeface="Verdana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867089" y="815972"/>
            <a:ext cx="7441225" cy="1143000"/>
          </a:xfrm>
        </p:spPr>
        <p:txBody>
          <a:bodyPr/>
          <a:lstStyle/>
          <a:p>
            <a:pPr eaLnBrk="1" hangingPunct="1"/>
            <a:r>
              <a:rPr lang="pt-BR"/>
              <a:t>Áreas de processo CMMI-SW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>
                <a:latin typeface="Verdana" charset="0"/>
              </a:rPr>
              <a:t>Nível 4: Quantitativamente Gerenciado</a:t>
            </a:r>
          </a:p>
          <a:p>
            <a:pPr lvl="1" eaLnBrk="1" hangingPunct="1"/>
            <a:r>
              <a:rPr lang="pt-BR">
                <a:latin typeface="Verdana" charset="0"/>
              </a:rPr>
              <a:t>Desempenho do processo organizacional</a:t>
            </a:r>
          </a:p>
          <a:p>
            <a:pPr lvl="1" eaLnBrk="1" hangingPunct="1"/>
            <a:r>
              <a:rPr lang="pt-BR">
                <a:latin typeface="Verdana" charset="0"/>
              </a:rPr>
              <a:t>Gestão quantitativa de projeto</a:t>
            </a:r>
          </a:p>
          <a:p>
            <a:pPr eaLnBrk="1" hangingPunct="1"/>
            <a:r>
              <a:rPr lang="pt-BR">
                <a:latin typeface="Verdana" charset="0"/>
              </a:rPr>
              <a:t>Nível 5: Em otimização</a:t>
            </a:r>
          </a:p>
          <a:p>
            <a:pPr lvl="1" eaLnBrk="1" hangingPunct="1"/>
            <a:r>
              <a:rPr lang="pt-BR">
                <a:latin typeface="Verdana" charset="0"/>
              </a:rPr>
              <a:t>Inovação organizacional e implantação</a:t>
            </a:r>
          </a:p>
          <a:p>
            <a:pPr lvl="1" eaLnBrk="1" hangingPunct="1"/>
            <a:r>
              <a:rPr lang="pt-BR">
                <a:latin typeface="Verdana" charset="0"/>
              </a:rPr>
              <a:t>Análise causal e resolução</a:t>
            </a:r>
          </a:p>
          <a:p>
            <a:pPr lvl="1" eaLnBrk="1" hangingPunct="1"/>
            <a:endParaRPr lang="pt-BR">
              <a:latin typeface="Verdana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490" y="456164"/>
            <a:ext cx="7024744" cy="1143000"/>
          </a:xfrm>
        </p:spPr>
        <p:txBody>
          <a:bodyPr/>
          <a:lstStyle/>
          <a:p>
            <a:pPr eaLnBrk="1" hangingPunct="1"/>
            <a:r>
              <a:rPr lang="pt-BR"/>
              <a:t>MPS.BR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66571"/>
            <a:ext cx="8001000" cy="4608512"/>
          </a:xfrm>
        </p:spPr>
        <p:txBody>
          <a:bodyPr/>
          <a:lstStyle/>
          <a:p>
            <a:pPr eaLnBrk="1" hangingPunct="1"/>
            <a:r>
              <a:rPr lang="pt-BR" sz="2000">
                <a:latin typeface="Verdana" charset="0"/>
              </a:rPr>
              <a:t>Iniciativa nacional que visa atender as melhorias de engenharia de software dentro do contexto das empresas brasileiras.</a:t>
            </a:r>
          </a:p>
          <a:p>
            <a:pPr lvl="1" eaLnBrk="1" hangingPunct="1"/>
            <a:r>
              <a:rPr lang="pt-BR" sz="1800">
                <a:latin typeface="Verdana" charset="0"/>
              </a:rPr>
              <a:t>SOFTEX – Sociedade para a promoção da excelência do software brasileiro (coordenadora do mpsBR)</a:t>
            </a:r>
          </a:p>
          <a:p>
            <a:pPr eaLnBrk="1" hangingPunct="1"/>
            <a:r>
              <a:rPr lang="pt-BR" sz="2000">
                <a:latin typeface="Verdana" charset="0"/>
              </a:rPr>
              <a:t>Constatação nacional que qualidade é fator crítico para software no Brasil</a:t>
            </a:r>
          </a:p>
          <a:p>
            <a:pPr eaLnBrk="1" hangingPunct="1"/>
            <a:r>
              <a:rPr lang="pt-BR" sz="2000">
                <a:latin typeface="Verdana" charset="0"/>
              </a:rPr>
              <a:t>Até 2003 o Brasil tinha 30 empresas capacitadas em CMM (24 no nível 2)</a:t>
            </a:r>
          </a:p>
          <a:p>
            <a:pPr eaLnBrk="1" hangingPunct="1"/>
            <a:r>
              <a:rPr lang="pt-BR" sz="2000">
                <a:latin typeface="Verdana" charset="0"/>
              </a:rPr>
              <a:t>Dois tipos de empresas</a:t>
            </a:r>
          </a:p>
          <a:p>
            <a:pPr lvl="1" eaLnBrk="1" hangingPunct="1"/>
            <a:r>
              <a:rPr lang="pt-BR" sz="1800">
                <a:latin typeface="Verdana" charset="0"/>
              </a:rPr>
              <a:t>Empresas que exportam software e grandes empresas</a:t>
            </a:r>
          </a:p>
          <a:p>
            <a:pPr lvl="1" eaLnBrk="1" hangingPunct="1"/>
            <a:r>
              <a:rPr lang="pt-BR" sz="1800">
                <a:latin typeface="Verdana" charset="0"/>
              </a:rPr>
              <a:t>Pequenas e médias empresas que precisam atuar nos seus processos de qualidade            (</a:t>
            </a:r>
            <a:r>
              <a:rPr lang="pt-BR" sz="1800" b="1">
                <a:latin typeface="Verdana" charset="0"/>
              </a:rPr>
              <a:t>Foco do mpsBr)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Objetivo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pt-BR" dirty="0">
                <a:latin typeface="Verdana" charset="0"/>
              </a:rPr>
              <a:t>“Definir um modelo de melhoria e avaliação de processo de software, preferencialmente para micro, pequenas e médias empresas, de forma a atender as suas necessidades de negócio e a ser reconhecido nacional e internacionalmente como um modelo aplicável à indústria de software”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490" y="551357"/>
            <a:ext cx="7024744" cy="701165"/>
          </a:xfrm>
        </p:spPr>
        <p:txBody>
          <a:bodyPr/>
          <a:lstStyle/>
          <a:p>
            <a:pPr eaLnBrk="1" hangingPunct="1"/>
            <a:r>
              <a:rPr lang="pt-BR"/>
              <a:t>Componentes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3490" y="1535842"/>
            <a:ext cx="7229546" cy="4401131"/>
          </a:xfrm>
        </p:spPr>
        <p:txBody>
          <a:bodyPr>
            <a:normAutofit fontScale="92500"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pt-BR" sz="2000" b="1" dirty="0">
                <a:latin typeface="Verdana" charset="0"/>
              </a:rPr>
              <a:t>Guia geral (de software e de serviços)</a:t>
            </a:r>
            <a:r>
              <a:rPr lang="pt-BR" sz="2000" dirty="0">
                <a:latin typeface="Verdana" charset="0"/>
              </a:rPr>
              <a:t>: contém a descrição geral do </a:t>
            </a:r>
            <a:r>
              <a:rPr lang="pt-BR" sz="2000" dirty="0" err="1">
                <a:latin typeface="Verdana" charset="0"/>
              </a:rPr>
              <a:t>mpsBR</a:t>
            </a:r>
            <a:r>
              <a:rPr lang="pt-BR" sz="2000" dirty="0">
                <a:latin typeface="Verdana" charset="0"/>
              </a:rPr>
              <a:t> e detalha o modelo de referência, seus componentes e as definições comuns necessárias para seu entendimento e aplicação.</a:t>
            </a:r>
          </a:p>
          <a:p>
            <a:pPr algn="just" eaLnBrk="1" hangingPunct="1">
              <a:lnSpc>
                <a:spcPct val="90000"/>
              </a:lnSpc>
            </a:pPr>
            <a:r>
              <a:rPr lang="pt-BR" sz="2000" b="1" dirty="0">
                <a:latin typeface="Verdana" charset="0"/>
              </a:rPr>
              <a:t>Guia de aquisição</a:t>
            </a:r>
            <a:r>
              <a:rPr lang="pt-BR" sz="2000" dirty="0">
                <a:latin typeface="Verdana" charset="0"/>
              </a:rPr>
              <a:t>: recomendações para a condução de compras de software e serviços correlatos.</a:t>
            </a:r>
          </a:p>
          <a:p>
            <a:pPr algn="just">
              <a:lnSpc>
                <a:spcPct val="90000"/>
              </a:lnSpc>
            </a:pPr>
            <a:r>
              <a:rPr lang="pt-BR" sz="2000" b="1" dirty="0">
                <a:latin typeface="Verdana" charset="0"/>
              </a:rPr>
              <a:t>Guia de implementação (de software e de serviços)</a:t>
            </a:r>
            <a:r>
              <a:rPr lang="pt-BR" sz="2000" dirty="0">
                <a:latin typeface="Verdana" charset="0"/>
              </a:rPr>
              <a:t>: contém a descrição do processo de implementação, os requisitos para o implementador.</a:t>
            </a:r>
          </a:p>
          <a:p>
            <a:pPr algn="just" eaLnBrk="1" hangingPunct="1">
              <a:lnSpc>
                <a:spcPct val="90000"/>
              </a:lnSpc>
            </a:pPr>
            <a:r>
              <a:rPr lang="pt-BR" sz="2000" b="1" dirty="0">
                <a:latin typeface="Verdana" charset="0"/>
              </a:rPr>
              <a:t>Guia de avaliação</a:t>
            </a:r>
            <a:r>
              <a:rPr lang="pt-BR" sz="2000" dirty="0">
                <a:latin typeface="Verdana" charset="0"/>
              </a:rPr>
              <a:t>: contém a descrição do processo de avaliação, os requisitos para o avaliador, os requisitos para a avaliação, o método e os formulários para avaliação.</a:t>
            </a:r>
          </a:p>
          <a:p>
            <a:pPr algn="just" eaLnBrk="1" hangingPunct="1">
              <a:lnSpc>
                <a:spcPct val="90000"/>
              </a:lnSpc>
            </a:pPr>
            <a:r>
              <a:rPr lang="pt-BR" sz="2000" b="1" dirty="0">
                <a:latin typeface="Verdana" charset="0"/>
              </a:rPr>
              <a:t>Guia de gestão de pessoas</a:t>
            </a:r>
            <a:endParaRPr lang="pt-BR" sz="2000" dirty="0">
              <a:latin typeface="Verdana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pt-BR" sz="2000" dirty="0">
              <a:latin typeface="Verdana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Origens do MPS.BR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>
                <a:latin typeface="Verdana" charset="0"/>
              </a:rPr>
              <a:t>ISO/IEC 12207</a:t>
            </a:r>
          </a:p>
          <a:p>
            <a:pPr eaLnBrk="1" hangingPunct="1"/>
            <a:r>
              <a:rPr lang="pt-BR">
                <a:latin typeface="Verdana" charset="0"/>
              </a:rPr>
              <a:t>ISO/IEC 15504</a:t>
            </a:r>
          </a:p>
          <a:p>
            <a:pPr eaLnBrk="1" hangingPunct="1"/>
            <a:r>
              <a:rPr lang="pt-BR">
                <a:latin typeface="Verdana" charset="0"/>
              </a:rPr>
              <a:t>cobre o conteúdo do CMMI</a:t>
            </a:r>
          </a:p>
          <a:p>
            <a:pPr eaLnBrk="1" hangingPunct="1"/>
            <a:r>
              <a:rPr lang="pt-BR">
                <a:latin typeface="Verdana" charset="0"/>
              </a:rPr>
              <a:t>Na prática, se inspirou fortemente no CMMI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708329" y="480793"/>
            <a:ext cx="8182099" cy="1143000"/>
          </a:xfrm>
        </p:spPr>
        <p:txBody>
          <a:bodyPr/>
          <a:lstStyle/>
          <a:p>
            <a:pPr eaLnBrk="1" hangingPunct="1"/>
            <a:r>
              <a:rPr lang="pt-BR"/>
              <a:t>Componentes do MPS.BR 2004</a:t>
            </a:r>
          </a:p>
        </p:txBody>
      </p:sp>
      <p:pic>
        <p:nvPicPr>
          <p:cNvPr id="10547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97" t="36044" r="17203" b="21294"/>
          <a:stretch>
            <a:fillRect/>
          </a:stretch>
        </p:blipFill>
        <p:spPr>
          <a:xfrm>
            <a:off x="162624" y="1806059"/>
            <a:ext cx="8893175" cy="4243127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708329" y="480793"/>
            <a:ext cx="8058621" cy="1143000"/>
          </a:xfrm>
        </p:spPr>
        <p:txBody>
          <a:bodyPr/>
          <a:lstStyle/>
          <a:p>
            <a:pPr eaLnBrk="1" hangingPunct="1"/>
            <a:r>
              <a:rPr lang="pt-BR"/>
              <a:t>Componentes do MPS.BR  2016</a:t>
            </a:r>
          </a:p>
        </p:txBody>
      </p:sp>
      <p:pic>
        <p:nvPicPr>
          <p:cNvPr id="3" name="Content Placeholder 2" descr="Screen Shot 2016-11-11 at 19.52.27.png"/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259" r="-11259"/>
          <a:stretch>
            <a:fillRect/>
          </a:stretch>
        </p:blipFill>
        <p:spPr>
          <a:xfrm>
            <a:off x="-225953" y="1623793"/>
            <a:ext cx="9369953" cy="4851322"/>
          </a:xfrm>
        </p:spPr>
      </p:pic>
    </p:spTree>
    <p:extLst>
      <p:ext uri="{BB962C8B-B14F-4D97-AF65-F5344CB8AC3E}">
        <p14:creationId xmlns:p14="http://schemas.microsoft.com/office/powerpoint/2010/main" val="2755756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Níveis MPS.BR</a:t>
            </a:r>
          </a:p>
        </p:txBody>
      </p:sp>
      <p:graphicFrame>
        <p:nvGraphicFramePr>
          <p:cNvPr id="1027153" name="Group 8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624246"/>
              </p:ext>
            </p:extLst>
          </p:nvPr>
        </p:nvGraphicFramePr>
        <p:xfrm>
          <a:off x="566738" y="1557332"/>
          <a:ext cx="8001000" cy="4694227"/>
        </p:xfrm>
        <a:graphic>
          <a:graphicData uri="http://schemas.openxmlformats.org/drawingml/2006/table">
            <a:tbl>
              <a:tblPr/>
              <a:tblGrid>
                <a:gridCol w="747712"/>
                <a:gridCol w="2897188"/>
                <a:gridCol w="792162"/>
                <a:gridCol w="3563938"/>
              </a:tblGrid>
              <a:tr h="51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Nível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Processo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Nível CMMI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Área de processo CMMI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Inovação e implantação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Inovação organizacional e implantação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Análise e resolução de Causas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5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Análise causal e resolução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Desempenho do processo organizacional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Desempenho do processo organizacional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Gerência quantitativa do projeto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4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Gestão quantitativa de projeto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Análise de decisão e resolução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Análise de decisão e resolução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Gerência de riscos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Gestão de riscos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Desenvolvimento de requisitos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Desenvolvimento de requisitos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Solução técnica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Solução técnica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Integração de produto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Integração de produto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Instalação de produto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Integração de produto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Liberação de produto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Integração de produto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Verificação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Verificação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Validação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Validação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Níveis MPS.BR</a:t>
            </a:r>
          </a:p>
        </p:txBody>
      </p:sp>
      <p:graphicFrame>
        <p:nvGraphicFramePr>
          <p:cNvPr id="1028099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8398532"/>
              </p:ext>
            </p:extLst>
          </p:nvPr>
        </p:nvGraphicFramePr>
        <p:xfrm>
          <a:off x="574675" y="1593829"/>
          <a:ext cx="8001000" cy="4419600"/>
        </p:xfrm>
        <a:graphic>
          <a:graphicData uri="http://schemas.openxmlformats.org/drawingml/2006/table">
            <a:tbl>
              <a:tblPr/>
              <a:tblGrid>
                <a:gridCol w="747712"/>
                <a:gridCol w="2752725"/>
                <a:gridCol w="1081088"/>
                <a:gridCol w="3419475"/>
              </a:tblGrid>
              <a:tr h="518160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Nível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Processo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Nível CMMI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Área de processo CMMI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E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Treinamento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Treinamento organizacional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E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Avaliação e melhoria do processo organizacional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Foco no processo organizacional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E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Definição do processo Organizacional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Definição do processo organizacional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E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Adaptação do processo para gerência de projeto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3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Gestão integrada de projeto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F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Medição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Medição e análise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F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Gerência de configuração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Gestão de configuração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F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Aquisição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Gerência de acordo de sub-contratação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F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Garantia da qualidade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Garantia da qualidade de processo e projeto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G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Gerência de requisitos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Gestão de requisitos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G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Gerência de projeto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2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Planejamento de projeto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  <a:p>
                      <a:pPr marL="469900" marR="0" lvl="0" indent="-469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Monitoração e controle de projeto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490" y="851253"/>
            <a:ext cx="7024744" cy="859940"/>
          </a:xfrm>
        </p:spPr>
        <p:txBody>
          <a:bodyPr/>
          <a:lstStyle/>
          <a:p>
            <a:pPr eaLnBrk="1" hangingPunct="1"/>
            <a:r>
              <a:rPr lang="pt-BR"/>
              <a:t>Estrutura</a:t>
            </a:r>
          </a:p>
        </p:txBody>
      </p:sp>
      <p:pic>
        <p:nvPicPr>
          <p:cNvPr id="111619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6" t="25128" r="15733" b="29877"/>
          <a:stretch>
            <a:fillRect/>
          </a:stretch>
        </p:blipFill>
        <p:spPr>
          <a:xfrm>
            <a:off x="613654" y="1754666"/>
            <a:ext cx="7848600" cy="4679950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-24774" r="-24774"/>
          <a:stretch>
            <a:fillRect/>
          </a:stretch>
        </p:blipFill>
        <p:spPr>
          <a:xfrm>
            <a:off x="-776152" y="778625"/>
            <a:ext cx="11042477" cy="5716531"/>
          </a:xfrm>
        </p:spPr>
      </p:pic>
    </p:spTree>
    <p:extLst>
      <p:ext uri="{BB962C8B-B14F-4D97-AF65-F5344CB8AC3E}">
        <p14:creationId xmlns:p14="http://schemas.microsoft.com/office/powerpoint/2010/main" val="355222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Bibliografia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Pressman, Roger S. Engenharia de Software. 7a ed. Rio de Janeiro: McGraw Hill. 2011.</a:t>
            </a:r>
          </a:p>
          <a:p>
            <a:pPr lvl="1"/>
            <a:r>
              <a:rPr lang="pt-BR"/>
              <a:t>Capítulo 21</a:t>
            </a:r>
          </a:p>
          <a:p>
            <a:r>
              <a:rPr lang="pt-BR"/>
              <a:t>Sommerville</a:t>
            </a:r>
          </a:p>
          <a:p>
            <a:pPr lvl="1"/>
            <a:r>
              <a:rPr lang="pt-BR"/>
              <a:t>Capítulo 26</a:t>
            </a:r>
          </a:p>
          <a:p>
            <a:r>
              <a:rPr lang="pt-BR"/>
              <a:t>Site da Softex</a:t>
            </a:r>
          </a:p>
          <a:p>
            <a:pPr lvl="1"/>
            <a:r>
              <a:rPr lang="pt-BR"/>
              <a:t>http://www.softex.br/mpsbr/</a:t>
            </a:r>
          </a:p>
          <a:p>
            <a:pPr marL="365760" lvl="1" indent="0">
              <a:buNone/>
            </a:pPr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Austin.thmx</Template>
  <TotalTime>44416</TotalTime>
  <Words>1353</Words>
  <Application>Microsoft Office PowerPoint</Application>
  <PresentationFormat>Apresentação na tela (4:3)</PresentationFormat>
  <Paragraphs>287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6" baseType="lpstr">
      <vt:lpstr>Austin</vt:lpstr>
      <vt:lpstr>MODELOS DE CAPACITAÇÃO</vt:lpstr>
      <vt:lpstr>Modelos de capacitação</vt:lpstr>
      <vt:lpstr>ISO-IEC-12207</vt:lpstr>
      <vt:lpstr>CMMI</vt:lpstr>
      <vt:lpstr>CMMI</vt:lpstr>
      <vt:lpstr>CMMI</vt:lpstr>
      <vt:lpstr>Elementos do CMMI</vt:lpstr>
      <vt:lpstr>Níveis de maturidade do CMMI</vt:lpstr>
      <vt:lpstr>Níveis de maturidade do CMMI</vt:lpstr>
      <vt:lpstr>Níveis de maturidade do CMMI</vt:lpstr>
      <vt:lpstr>Áreas de processo</vt:lpstr>
      <vt:lpstr>Áreas de processo CMMI-SW</vt:lpstr>
      <vt:lpstr>Áreas de processo CMMI-SW</vt:lpstr>
      <vt:lpstr>Áreas de processo CMMI-SW</vt:lpstr>
      <vt:lpstr>MPS.BR</vt:lpstr>
      <vt:lpstr>Objetivo</vt:lpstr>
      <vt:lpstr>Componentes</vt:lpstr>
      <vt:lpstr>Origens do MPS.BR</vt:lpstr>
      <vt:lpstr>Componentes do MPS.BR 2004</vt:lpstr>
      <vt:lpstr>Componentes do MPS.BR  2016</vt:lpstr>
      <vt:lpstr>Níveis MPS.BR</vt:lpstr>
      <vt:lpstr>Níveis MPS.BR</vt:lpstr>
      <vt:lpstr>Estrutura</vt:lpstr>
      <vt:lpstr>Apresentação do PowerPoint</vt:lpstr>
      <vt:lpstr>Bibliografia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Engenharia de Software</dc:title>
  <dc:creator>Anonymous Reviewer</dc:creator>
  <cp:lastModifiedBy>Hp</cp:lastModifiedBy>
  <cp:revision>216</cp:revision>
  <cp:lastPrinted>2016-05-19T18:51:06Z</cp:lastPrinted>
  <dcterms:created xsi:type="dcterms:W3CDTF">2016-02-04T13:02:28Z</dcterms:created>
  <dcterms:modified xsi:type="dcterms:W3CDTF">2021-11-24T12:27:36Z</dcterms:modified>
</cp:coreProperties>
</file>