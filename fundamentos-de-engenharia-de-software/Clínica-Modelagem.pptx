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10"/>
  </p:notesMasterIdLst>
  <p:handoutMasterIdLst>
    <p:handoutMasterId r:id="rId11"/>
  </p:handoutMasterIdLst>
  <p:sldIdLst>
    <p:sldId id="256" r:id="rId2"/>
    <p:sldId id="259" r:id="rId3"/>
    <p:sldId id="258" r:id="rId4"/>
    <p:sldId id="257" r:id="rId5"/>
    <p:sldId id="266" r:id="rId6"/>
    <p:sldId id="265" r:id="rId7"/>
    <p:sldId id="260" r:id="rId8"/>
    <p:sldId id="264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21E4AEA4-8DFA-4A89-87EB-49C32662AFE0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6681" autoAdjust="0"/>
    <p:restoredTop sz="94660"/>
  </p:normalViewPr>
  <p:slideViewPr>
    <p:cSldViewPr>
      <p:cViewPr varScale="1">
        <p:scale>
          <a:sx n="104" d="100"/>
          <a:sy n="104" d="100"/>
        </p:scale>
        <p:origin x="120" y="258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88" d="100"/>
          <a:sy n="88" d="100"/>
        </p:scale>
        <p:origin x="3072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pt-BR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8D8E50C2-1CE0-4F3C-A6E7-CA9983214929}" type="datetime1">
              <a:rPr lang="pt-BR" smtClean="0"/>
              <a:t>03/10/2021</a:t>
            </a:fld>
            <a:endParaRPr lang="pt-BR" dirty="0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pt-BR" dirty="0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9E861E8E-D392-497B-BB21-122DD7C27CF3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20835309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pt-BR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731D3E08-CF38-4889-B304-D78E4DAD96A1}" type="datetime1">
              <a:rPr lang="pt-BR" smtClean="0"/>
              <a:t>03/10/2021</a:t>
            </a:fld>
            <a:endParaRPr lang="pt-BR" dirty="0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pt-BR" dirty="0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 dirty="0"/>
              <a:t>Editar estilos de texto Mestre</a:t>
            </a:r>
          </a:p>
          <a:p>
            <a:pPr lvl="1" rtl="0"/>
            <a:r>
              <a:rPr lang="pt-BR" dirty="0"/>
              <a:t>Segundo nível</a:t>
            </a:r>
          </a:p>
          <a:p>
            <a:pPr lvl="2" rtl="0"/>
            <a:r>
              <a:rPr lang="pt-BR" dirty="0"/>
              <a:t>Terceiro nível</a:t>
            </a:r>
          </a:p>
          <a:p>
            <a:pPr lvl="3" rtl="0"/>
            <a:r>
              <a:rPr lang="pt-BR" dirty="0"/>
              <a:t>Quarto nível</a:t>
            </a:r>
          </a:p>
          <a:p>
            <a:pPr lvl="4" rtl="0"/>
            <a:r>
              <a:rPr lang="pt-BR" dirty="0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pt-BR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9555D449-B875-4B8D-8E66-224D27E54C9A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349979990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9555D449-B875-4B8D-8E66-224D27E54C9A}" type="slidenum">
              <a:rPr lang="pt-BR" smtClean="0"/>
              <a:t>1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23885356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9555D449-B875-4B8D-8E66-224D27E54C9A}" type="slidenum">
              <a:rPr lang="pt-BR" smtClean="0"/>
              <a:t>2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5304658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9555D449-B875-4B8D-8E66-224D27E54C9A}" type="slidenum">
              <a:rPr lang="pt-BR" smtClean="0"/>
              <a:t>3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262048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9555D449-B875-4B8D-8E66-224D27E54C9A}" type="slidenum">
              <a:rPr lang="pt-BR" smtClean="0"/>
              <a:t>4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5598889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9555D449-B875-4B8D-8E66-224D27E54C9A}" type="slidenum">
              <a:rPr lang="pt-BR" smtClean="0"/>
              <a:t>5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03333427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9555D449-B875-4B8D-8E66-224D27E54C9A}" type="slidenum">
              <a:rPr lang="pt-BR" smtClean="0"/>
              <a:t>6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82066525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9555D449-B875-4B8D-8E66-224D27E54C9A}" type="slidenum">
              <a:rPr lang="pt-BR" smtClean="0"/>
              <a:t>7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91099094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9555D449-B875-4B8D-8E66-224D27E54C9A}" type="slidenum">
              <a:rPr lang="pt-BR" smtClean="0"/>
              <a:t>8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7124706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9848" y="1298448"/>
            <a:ext cx="7315200" cy="3255264"/>
          </a:xfrm>
        </p:spPr>
        <p:txBody>
          <a:bodyPr anchor="b">
            <a:normAutofit/>
          </a:bodyPr>
          <a:lstStyle>
            <a:lvl1pPr algn="l">
              <a:defRPr sz="5900" spc="-100" baseline="0">
                <a:solidFill>
                  <a:srgbClr val="FFFFFF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15" y="4670246"/>
            <a:ext cx="7315200" cy="914400"/>
          </a:xfrm>
        </p:spPr>
        <p:txBody>
          <a:bodyPr anchor="t">
            <a:normAutofit/>
          </a:bodyPr>
          <a:lstStyle>
            <a:lvl1pPr marL="0" indent="0" algn="l">
              <a:buNone/>
              <a:defRPr sz="2200" cap="none" spc="0" baseline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10/3/2021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60180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E00A4D40-3DE8-4EFA-9164-F4E268E9BEEE}" type="datetime1">
              <a:rPr lang="pt-BR" smtClean="0"/>
              <a:t>03/10/2021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E31375A4-56A4-47D6-9801-1991572033F7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7864019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67912" y="1298448"/>
            <a:ext cx="7315200" cy="3255264"/>
          </a:xfrm>
        </p:spPr>
        <p:txBody>
          <a:bodyPr anchor="b">
            <a:normAutofit/>
          </a:bodyPr>
          <a:lstStyle>
            <a:lvl1pPr>
              <a:defRPr sz="5900" b="0" spc="-1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86200" y="4672584"/>
            <a:ext cx="7315200" cy="914400"/>
          </a:xfrm>
        </p:spPr>
        <p:txBody>
          <a:bodyPr anchor="t">
            <a:normAutofit/>
          </a:bodyPr>
          <a:lstStyle>
            <a:lvl1pPr marL="0" indent="0">
              <a:buNone/>
              <a:defRPr sz="2200" cap="none" spc="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10/3/2021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88494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67912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818120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5135DF4C-E7D3-48B1-9E56-BE0A5A02CA2F}" type="datetime1">
              <a:rPr lang="pt-BR" smtClean="0"/>
              <a:t>03/10/2021</a:t>
            </a:fld>
            <a:endParaRPr lang="pt-BR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pt-BR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E31375A4-56A4-47D6-9801-1991572033F7}" type="slidenum">
              <a:rPr lang="pt-BR" smtClean="0"/>
              <a:pPr rtl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103947919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7912" y="1023586"/>
            <a:ext cx="3474720" cy="8077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7912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818463" y="1023586"/>
            <a:ext cx="3474720" cy="813171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818463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47591FEB-8904-40BC-AA2B-3E42FBDCE77D}" type="datetime1">
              <a:rPr lang="pt-BR" smtClean="0"/>
              <a:t>03/10/2021</a:t>
            </a:fld>
            <a:endParaRPr lang="pt-BR" dirty="0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pt-BR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E31375A4-56A4-47D6-9801-1991572033F7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049199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D5CE7CE3-F7B9-486D-A6A1-BA5AED982C04}" type="datetime1">
              <a:rPr lang="pt-BR" smtClean="0"/>
              <a:t>03/10/2021</a:t>
            </a:fld>
            <a:endParaRPr lang="pt-BR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pt-BR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E31375A4-56A4-47D6-9801-1991572033F7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8252730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5135DF4C-E7D3-48B1-9E56-BE0A5A02CA2F}" type="datetime1">
              <a:rPr lang="pt-BR" smtClean="0"/>
              <a:t>03/10/2021</a:t>
            </a:fld>
            <a:endParaRPr lang="pt-B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pt-BR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E31375A4-56A4-47D6-9801-1991572033F7}" type="slidenum">
              <a:rPr lang="pt-BR" smtClean="0"/>
              <a:pPr rtl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539905227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912" y="868680"/>
            <a:ext cx="731520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4176"/>
            <a:ext cx="2834640" cy="2321990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10/3/2021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08644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570644" y="767419"/>
            <a:ext cx="8115230" cy="5330952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3008"/>
            <a:ext cx="2834640" cy="2322576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10/3/2021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3499101" y="6356350"/>
            <a:ext cx="5911517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68918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2B95B1F9-604F-4CF7-87B7-0079681CB724}" type="datetime1">
              <a:rPr lang="pt-BR" smtClean="0"/>
              <a:t>03/10/2021</a:t>
            </a:fld>
            <a:endParaRPr lang="pt-BR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pt-BR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E31375A4-56A4-47D6-9801-1991572033F7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011858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81000" y="990600"/>
            <a:ext cx="2819400" cy="4953000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67912" y="868680"/>
            <a:ext cx="7315200" cy="5120640"/>
          </a:xfrm>
        </p:spPr>
        <p:txBody>
          <a:bodyPr vert="eaVert" anchor="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32C0EB1E-546A-458E-88BA-3CE205201793}" type="datetime1">
              <a:rPr lang="pt-BR" smtClean="0"/>
              <a:t>03/10/2021</a:t>
            </a:fld>
            <a:endParaRPr lang="pt-BR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pt-BR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E31375A4-56A4-47D6-9801-1991572033F7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1136902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758952"/>
            <a:ext cx="3443590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8" name="Rectangle 37"/>
          <p:cNvSpPr/>
          <p:nvPr/>
        </p:nvSpPr>
        <p:spPr>
          <a:xfrm>
            <a:off x="11815864" y="758952"/>
            <a:ext cx="384048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9268" y="864108"/>
            <a:ext cx="7315200" cy="5120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62465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rtl="0"/>
            <a:fld id="{5135DF4C-E7D3-48B1-9E56-BE0A5A02CA2F}" type="datetime1">
              <a:rPr lang="pt-BR" smtClean="0"/>
              <a:t>03/10/2021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69268" y="6356350"/>
            <a:ext cx="5911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rtl="0"/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34135" y="6356350"/>
            <a:ext cx="15309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/>
                </a:solidFill>
              </a:defRPr>
            </a:lvl1pPr>
          </a:lstStyle>
          <a:p>
            <a:pPr rtl="0"/>
            <a:fld id="{E31375A4-56A4-47D6-9801-1991572033F7}" type="slidenum">
              <a:rPr lang="pt-BR" smtClean="0"/>
              <a:pPr rtl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5975867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spc="-60" baseline="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/>
        </a:buClr>
        <a:buFont typeface="Wingdings 2" pitchFamily="18" charset="2"/>
        <a:buChar char="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 rtlCol="0"/>
          <a:lstStyle/>
          <a:p>
            <a:pPr rtl="0"/>
            <a:r>
              <a:rPr lang="pt-BR" dirty="0"/>
              <a:t>Clínica-Modelagem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 rtlCol="0">
            <a:normAutofit fontScale="70000" lnSpcReduction="20000"/>
          </a:bodyPr>
          <a:lstStyle/>
          <a:p>
            <a:pPr rtl="0"/>
            <a:r>
              <a:rPr lang="pt-BR" dirty="0"/>
              <a:t>Fundamentos de Engenharia de Software</a:t>
            </a:r>
          </a:p>
          <a:p>
            <a:pPr rtl="0"/>
            <a:r>
              <a:rPr lang="pt-BR" dirty="0"/>
              <a:t>Guilherme Guerra, Marco Willy, Marlene Moraes, </a:t>
            </a:r>
            <a:r>
              <a:rPr lang="pt-BR" dirty="0" err="1"/>
              <a:t>Matteus</a:t>
            </a:r>
            <a:r>
              <a:rPr lang="pt-BR" dirty="0"/>
              <a:t> Cantoni, Samuel Santos</a:t>
            </a:r>
          </a:p>
          <a:p>
            <a:pPr rtl="0"/>
            <a:r>
              <a:rPr lang="pt-BR" dirty="0"/>
              <a:t>Docente: Simone Silva</a:t>
            </a:r>
          </a:p>
        </p:txBody>
      </p:sp>
    </p:spTree>
    <p:extLst>
      <p:ext uri="{BB962C8B-B14F-4D97-AF65-F5344CB8AC3E}">
        <p14:creationId xmlns:p14="http://schemas.microsoft.com/office/powerpoint/2010/main" val="4351416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BR" dirty="0"/>
              <a:t>Apresentação</a:t>
            </a:r>
          </a:p>
        </p:txBody>
      </p:sp>
      <p:sp>
        <p:nvSpPr>
          <p:cNvPr id="5" name="Espaço Reservado para Conteúdo 4">
            <a:extLst>
              <a:ext uri="{FF2B5EF4-FFF2-40B4-BE49-F238E27FC236}">
                <a16:creationId xmlns:a16="http://schemas.microsoft.com/office/drawing/2014/main" id="{252DABB0-643F-4E8D-9F25-11D34EF680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867912" y="868680"/>
            <a:ext cx="7556680" cy="5120640"/>
          </a:xfrm>
        </p:spPr>
        <p:txBody>
          <a:bodyPr/>
          <a:lstStyle/>
          <a:p>
            <a:r>
              <a:rPr lang="pt-BR" dirty="0"/>
              <a:t>Marcação da consulta de um paciente</a:t>
            </a:r>
          </a:p>
          <a:p>
            <a:endParaRPr lang="pt-BR" dirty="0"/>
          </a:p>
          <a:p>
            <a:r>
              <a:rPr lang="pt-BR" dirty="0"/>
              <a:t> Objetivo do sistema</a:t>
            </a:r>
          </a:p>
          <a:p>
            <a:endParaRPr lang="pt-BR" dirty="0"/>
          </a:p>
          <a:p>
            <a:r>
              <a:rPr lang="pt-BR" dirty="0"/>
              <a:t> Justificativa da escolha</a:t>
            </a:r>
          </a:p>
          <a:p>
            <a:endParaRPr lang="pt-BR" dirty="0"/>
          </a:p>
          <a:p>
            <a:r>
              <a:rPr lang="pt-BR" dirty="0"/>
              <a:t> Descrição do modelo de ciclo de vida adotado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9488263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BR" dirty="0"/>
              <a:t>Marcação da consulta de um paciente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7773F476-2BAA-4FEA-86FB-7444E8AA31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pt-BR" dirty="0"/>
              <a:t>O software é um sistema de gerenciamento de clínica médica, visando no agendamento de consulta dos usuários cadastrados.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pt-BR" dirty="0"/>
              <a:t>Os usuários, obrigatoriamente, devem possuir um login para realizar um agendamento.</a:t>
            </a:r>
          </a:p>
        </p:txBody>
      </p:sp>
    </p:spTree>
    <p:extLst>
      <p:ext uri="{BB962C8B-B14F-4D97-AF65-F5344CB8AC3E}">
        <p14:creationId xmlns:p14="http://schemas.microsoft.com/office/powerpoint/2010/main" val="19286208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rtl="0"/>
            <a:r>
              <a:rPr lang="pt-BR" sz="3200" dirty="0"/>
              <a:t>Objetivo do Sistema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pPr rtl="0"/>
            <a:r>
              <a:rPr lang="pt-BR" dirty="0">
                <a:effectLst/>
                <a:ea typeface="Calibri" panose="020F0502020204030204" pitchFamily="34" charset="0"/>
              </a:rPr>
              <a:t>Efetuar o agendamento da consulta do paciente;</a:t>
            </a:r>
          </a:p>
          <a:p>
            <a:pPr marL="0" indent="0">
              <a:buNone/>
            </a:pPr>
            <a:endParaRPr lang="pt-BR" dirty="0"/>
          </a:p>
          <a:p>
            <a:r>
              <a:rPr lang="pt-BR" dirty="0"/>
              <a:t>Obter dados atualizados;</a:t>
            </a:r>
          </a:p>
          <a:p>
            <a:pPr marL="0" indent="0">
              <a:buNone/>
            </a:pPr>
            <a:endParaRPr lang="pt-BR" dirty="0"/>
          </a:p>
          <a:p>
            <a:r>
              <a:rPr lang="pt-BR" dirty="0"/>
              <a:t>Inserção, caso não possua cadastro;</a:t>
            </a:r>
          </a:p>
          <a:p>
            <a:endParaRPr lang="pt-BR" dirty="0"/>
          </a:p>
          <a:p>
            <a:r>
              <a:rPr lang="pt-BR" dirty="0"/>
              <a:t>Detalhamento da consulta (horário e dia do agendamento).</a:t>
            </a:r>
          </a:p>
        </p:txBody>
      </p:sp>
    </p:spTree>
    <p:extLst>
      <p:ext uri="{BB962C8B-B14F-4D97-AF65-F5344CB8AC3E}">
        <p14:creationId xmlns:p14="http://schemas.microsoft.com/office/powerpoint/2010/main" val="17729694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BR" dirty="0"/>
              <a:t>Justificativa da escolha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2CA95A4-3B8D-450F-AD61-B94E2FC44F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719736" y="764704"/>
            <a:ext cx="7573104" cy="5256584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pt-BR" dirty="0"/>
              <a:t>O software foi planejado, de maneira geral, com o </a:t>
            </a:r>
            <a:r>
              <a:rPr lang="pt-BR" b="1" dirty="0"/>
              <a:t>ciclo de vida espiral</a:t>
            </a:r>
            <a:r>
              <a:rPr lang="pt-BR" dirty="0"/>
              <a:t>, pois seguimos o desenvolvimento de funcionalidades específicas com prazo e documentação bem definidas, e várias equipes atuando no projeto, com a garantia das funcionalidades de riscos sem erros.</a:t>
            </a:r>
          </a:p>
          <a:p>
            <a:pPr marL="0" indent="0">
              <a:buNone/>
            </a:pPr>
            <a:endParaRPr lang="pt-BR" dirty="0"/>
          </a:p>
          <a:p>
            <a:pPr marL="0" indent="0" algn="just">
              <a:lnSpc>
                <a:spcPct val="150000"/>
              </a:lnSpc>
              <a:buNone/>
            </a:pPr>
            <a:r>
              <a:rPr lang="pt-BR" dirty="0"/>
              <a:t>Em vista disso, escolhemos a Metodologia SCRUM, pois será realizado reuniões diárias, semanais para o compreensão das dores do projeto, encontrar possíveis soluções para entrega dentro do prazo da Sprint. </a:t>
            </a:r>
          </a:p>
        </p:txBody>
      </p:sp>
    </p:spTree>
    <p:extLst>
      <p:ext uri="{BB962C8B-B14F-4D97-AF65-F5344CB8AC3E}">
        <p14:creationId xmlns:p14="http://schemas.microsoft.com/office/powerpoint/2010/main" val="29814178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rtl="0"/>
            <a:r>
              <a:rPr lang="pt-BR" sz="3200" dirty="0"/>
              <a:t> Descrição do modelo de ciclo de vida adotado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pPr marL="0" indent="0" rtl="0">
              <a:buNone/>
            </a:pPr>
            <a:r>
              <a:rPr lang="pt-BR" sz="2800" b="1" dirty="0"/>
              <a:t>Ciclo de vida espiral</a:t>
            </a:r>
            <a:br>
              <a:rPr lang="pt-BR" sz="2800" b="1" dirty="0"/>
            </a:br>
            <a:endParaRPr lang="pt-BR" sz="2800" b="1" dirty="0"/>
          </a:p>
          <a:p>
            <a:r>
              <a:rPr lang="pt-BR" dirty="0"/>
              <a:t>Determinação dos objetivos, alternativas e restrições;</a:t>
            </a:r>
          </a:p>
          <a:p>
            <a:endParaRPr lang="pt-BR" dirty="0"/>
          </a:p>
          <a:p>
            <a:r>
              <a:rPr lang="pt-BR" dirty="0"/>
              <a:t>Avaliação das alternativas, identificação e resolução dos riscos;</a:t>
            </a:r>
          </a:p>
          <a:p>
            <a:endParaRPr lang="pt-BR" dirty="0"/>
          </a:p>
          <a:p>
            <a:r>
              <a:rPr lang="pt-BR" dirty="0"/>
              <a:t>Desenvolvimento e verificação do produto para o nível seguinte;</a:t>
            </a:r>
          </a:p>
          <a:p>
            <a:pPr marL="0" indent="0">
              <a:buNone/>
            </a:pPr>
            <a:endParaRPr lang="pt-BR" dirty="0"/>
          </a:p>
          <a:p>
            <a:r>
              <a:rPr lang="pt-BR" dirty="0"/>
              <a:t>Planejamento das etapas seguintes.</a:t>
            </a:r>
          </a:p>
        </p:txBody>
      </p:sp>
    </p:spTree>
    <p:extLst>
      <p:ext uri="{BB962C8B-B14F-4D97-AF65-F5344CB8AC3E}">
        <p14:creationId xmlns:p14="http://schemas.microsoft.com/office/powerpoint/2010/main" val="24975092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BR" dirty="0"/>
              <a:t>Fluxograma</a:t>
            </a:r>
          </a:p>
        </p:txBody>
      </p:sp>
      <p:pic>
        <p:nvPicPr>
          <p:cNvPr id="12" name="Espaço Reservado para Conteúdo 11">
            <a:extLst>
              <a:ext uri="{FF2B5EF4-FFF2-40B4-BE49-F238E27FC236}">
                <a16:creationId xmlns:a16="http://schemas.microsoft.com/office/drawing/2014/main" id="{BE3F6A0C-C184-4E0E-A85E-FD651972700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5879976" y="169656"/>
            <a:ext cx="3456384" cy="6518688"/>
          </a:xfrm>
        </p:spPr>
      </p:pic>
    </p:spTree>
    <p:extLst>
      <p:ext uri="{BB962C8B-B14F-4D97-AF65-F5344CB8AC3E}">
        <p14:creationId xmlns:p14="http://schemas.microsoft.com/office/powerpoint/2010/main" val="27386277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AC205CD-4140-43C8-82EF-AC8F75FAB76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Obrigado!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DDF2870-0BC8-4F05-96BC-E6D0EF083E3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/>
              <a:t>Engenharia de Software – PUC Minas</a:t>
            </a:r>
          </a:p>
          <a:p>
            <a:r>
              <a:rPr lang="pt-BR" dirty="0"/>
              <a:t>2021/2</a:t>
            </a:r>
          </a:p>
        </p:txBody>
      </p:sp>
    </p:spTree>
    <p:extLst>
      <p:ext uri="{BB962C8B-B14F-4D97-AF65-F5344CB8AC3E}">
        <p14:creationId xmlns:p14="http://schemas.microsoft.com/office/powerpoint/2010/main" val="1001865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Quadro">
  <a:themeElements>
    <a:clrScheme name="Quadro">
      <a:dk1>
        <a:srgbClr val="000000"/>
      </a:dk1>
      <a:lt1>
        <a:srgbClr val="FFFFFF"/>
      </a:lt1>
      <a:dk2>
        <a:srgbClr val="545454"/>
      </a:dk2>
      <a:lt2>
        <a:srgbClr val="BFBFBF"/>
      </a:lt2>
      <a:accent1>
        <a:srgbClr val="40BAD2"/>
      </a:accent1>
      <a:accent2>
        <a:srgbClr val="FAB900"/>
      </a:accent2>
      <a:accent3>
        <a:srgbClr val="90BB23"/>
      </a:accent3>
      <a:accent4>
        <a:srgbClr val="EE7008"/>
      </a:accent4>
      <a:accent5>
        <a:srgbClr val="1AB39F"/>
      </a:accent5>
      <a:accent6>
        <a:srgbClr val="D5393D"/>
      </a:accent6>
      <a:hlink>
        <a:srgbClr val="90BB23"/>
      </a:hlink>
      <a:folHlink>
        <a:srgbClr val="EE7008"/>
      </a:folHlink>
    </a:clrScheme>
    <a:fontScheme name="Quadro">
      <a:maj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Quadro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20000"/>
                <a:lumMod val="102000"/>
              </a:schemeClr>
            </a:gs>
            <a:gs pos="48000">
              <a:schemeClr val="phClr">
                <a:tint val="98000"/>
                <a:shade val="90000"/>
                <a:satMod val="110000"/>
                <a:lumMod val="103000"/>
              </a:schemeClr>
            </a:gs>
            <a:gs pos="100000">
              <a:schemeClr val="phClr">
                <a:tint val="98000"/>
                <a:shade val="8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ame" id="{F226E7A2-7162-461C-9490-D27D9DC04E43}" vid="{629A0216-3BBD-45C0-B63F-2683BEA18F60}"/>
    </a:ext>
  </a:extLst>
</a:theme>
</file>

<file path=ppt/theme/theme2.xml><?xml version="1.0" encoding="utf-8"?>
<a:theme xmlns:a="http://schemas.openxmlformats.org/drawingml/2006/main" name="Tema do Office">
  <a:themeElements>
    <a:clrScheme name="MedicalHealth">
      <a:dk1>
        <a:sysClr val="windowText" lastClr="000000"/>
      </a:dk1>
      <a:lt1>
        <a:sysClr val="window" lastClr="FFFFFF"/>
      </a:lt1>
      <a:dk2>
        <a:srgbClr val="656367"/>
      </a:dk2>
      <a:lt2>
        <a:srgbClr val="F2F2F2"/>
      </a:lt2>
      <a:accent1>
        <a:srgbClr val="B82D2F"/>
      </a:accent1>
      <a:accent2>
        <a:srgbClr val="333333"/>
      </a:accent2>
      <a:accent3>
        <a:srgbClr val="2B4A63"/>
      </a:accent3>
      <a:accent4>
        <a:srgbClr val="445E45"/>
      </a:accent4>
      <a:accent5>
        <a:srgbClr val="5A3A64"/>
      </a:accent5>
      <a:accent6>
        <a:srgbClr val="DB8526"/>
      </a:accent6>
      <a:hlink>
        <a:srgbClr val="164E6E"/>
      </a:hlink>
      <a:folHlink>
        <a:srgbClr val="667F6D"/>
      </a:folHlink>
    </a:clrScheme>
    <a:fontScheme name="Franklin Gothic Medium">
      <a:majorFont>
        <a:latin typeface="Franklin Gothic Medium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Medium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MedicalHealth">
      <a:dk1>
        <a:sysClr val="windowText" lastClr="000000"/>
      </a:dk1>
      <a:lt1>
        <a:sysClr val="window" lastClr="FFFFFF"/>
      </a:lt1>
      <a:dk2>
        <a:srgbClr val="656367"/>
      </a:dk2>
      <a:lt2>
        <a:srgbClr val="F2F2F2"/>
      </a:lt2>
      <a:accent1>
        <a:srgbClr val="B82D2F"/>
      </a:accent1>
      <a:accent2>
        <a:srgbClr val="333333"/>
      </a:accent2>
      <a:accent3>
        <a:srgbClr val="2B4A63"/>
      </a:accent3>
      <a:accent4>
        <a:srgbClr val="445E45"/>
      </a:accent4>
      <a:accent5>
        <a:srgbClr val="5A3A64"/>
      </a:accent5>
      <a:accent6>
        <a:srgbClr val="DB8526"/>
      </a:accent6>
      <a:hlink>
        <a:srgbClr val="164E6E"/>
      </a:hlink>
      <a:folHlink>
        <a:srgbClr val="667F6D"/>
      </a:folHlink>
    </a:clrScheme>
    <a:fontScheme name="Franklin Gothic Medium">
      <a:majorFont>
        <a:latin typeface="Franklin Gothic Medium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Medium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Quadro</Template>
  <TotalTime>240</TotalTime>
  <Words>270</Words>
  <Application>Microsoft Office PowerPoint</Application>
  <PresentationFormat>Widescreen</PresentationFormat>
  <Paragraphs>48</Paragraphs>
  <Slides>8</Slides>
  <Notes>8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8</vt:i4>
      </vt:variant>
    </vt:vector>
  </HeadingPairs>
  <TitlesOfParts>
    <vt:vector size="12" baseType="lpstr">
      <vt:lpstr>Corbel</vt:lpstr>
      <vt:lpstr>Franklin Gothic Medium</vt:lpstr>
      <vt:lpstr>Wingdings 2</vt:lpstr>
      <vt:lpstr>Quadro</vt:lpstr>
      <vt:lpstr>Clínica-Modelagem</vt:lpstr>
      <vt:lpstr>Apresentação</vt:lpstr>
      <vt:lpstr>Marcação da consulta de um paciente</vt:lpstr>
      <vt:lpstr>Objetivo do Sistema</vt:lpstr>
      <vt:lpstr>Justificativa da escolha</vt:lpstr>
      <vt:lpstr> Descrição do modelo de ciclo de vida adotado</vt:lpstr>
      <vt:lpstr>Fluxograma</vt:lpstr>
      <vt:lpstr>Obrigado!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Clínica-Modelagem</dc:title>
  <dc:creator>Marlene Vasconcelos Moraes De Oliveira</dc:creator>
  <cp:lastModifiedBy>Marlene Vasconcelos Moraes De Oliveira</cp:lastModifiedBy>
  <cp:revision>7</cp:revision>
  <dcterms:created xsi:type="dcterms:W3CDTF">2021-10-03T18:11:27Z</dcterms:created>
  <dcterms:modified xsi:type="dcterms:W3CDTF">2021-10-03T22:18:54Z</dcterms:modified>
</cp:coreProperties>
</file>