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notesMasterIdLst>
    <p:notesMasterId r:id="rId44"/>
  </p:notesMasterIdLst>
  <p:handoutMasterIdLst>
    <p:handoutMasterId r:id="rId45"/>
  </p:handoutMasterIdLst>
  <p:sldIdLst>
    <p:sldId id="256" r:id="rId2"/>
    <p:sldId id="400" r:id="rId3"/>
    <p:sldId id="401" r:id="rId4"/>
    <p:sldId id="402" r:id="rId5"/>
    <p:sldId id="403" r:id="rId6"/>
    <p:sldId id="404" r:id="rId7"/>
    <p:sldId id="405" r:id="rId8"/>
    <p:sldId id="406" r:id="rId9"/>
    <p:sldId id="428" r:id="rId10"/>
    <p:sldId id="429" r:id="rId11"/>
    <p:sldId id="430" r:id="rId12"/>
    <p:sldId id="407" r:id="rId13"/>
    <p:sldId id="408" r:id="rId14"/>
    <p:sldId id="409" r:id="rId15"/>
    <p:sldId id="410" r:id="rId16"/>
    <p:sldId id="411" r:id="rId17"/>
    <p:sldId id="412" r:id="rId18"/>
    <p:sldId id="413" r:id="rId19"/>
    <p:sldId id="414" r:id="rId20"/>
    <p:sldId id="415" r:id="rId21"/>
    <p:sldId id="416" r:id="rId22"/>
    <p:sldId id="417" r:id="rId23"/>
    <p:sldId id="418" r:id="rId24"/>
    <p:sldId id="419" r:id="rId25"/>
    <p:sldId id="420" r:id="rId26"/>
    <p:sldId id="421" r:id="rId27"/>
    <p:sldId id="422" r:id="rId28"/>
    <p:sldId id="423" r:id="rId29"/>
    <p:sldId id="424" r:id="rId30"/>
    <p:sldId id="431" r:id="rId31"/>
    <p:sldId id="425" r:id="rId32"/>
    <p:sldId id="432" r:id="rId33"/>
    <p:sldId id="433" r:id="rId34"/>
    <p:sldId id="434" r:id="rId35"/>
    <p:sldId id="435" r:id="rId36"/>
    <p:sldId id="436" r:id="rId37"/>
    <p:sldId id="437" r:id="rId38"/>
    <p:sldId id="438" r:id="rId39"/>
    <p:sldId id="440" r:id="rId40"/>
    <p:sldId id="441" r:id="rId41"/>
    <p:sldId id="439" r:id="rId42"/>
    <p:sldId id="426"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2" d="100"/>
          <a:sy n="72" d="100"/>
        </p:scale>
        <p:origin x="-1326"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46866E4-1765-2F4A-A89A-80163E91F790}" type="slidenum">
              <a:t>‹nº›</a:t>
            </a:fld>
            <a:endParaRPr lang="en-US"/>
          </a:p>
        </p:txBody>
      </p:sp>
    </p:spTree>
    <p:extLst>
      <p:ext uri="{BB962C8B-B14F-4D97-AF65-F5344CB8AC3E}">
        <p14:creationId xmlns:p14="http://schemas.microsoft.com/office/powerpoint/2010/main" val="811967599"/>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053656E-706C-AB47-A545-30B3AC9444BA}" type="slidenum">
              <a:t>‹nº›</a:t>
            </a:fld>
            <a:endParaRPr lang="en-US"/>
          </a:p>
        </p:txBody>
      </p:sp>
    </p:spTree>
    <p:extLst>
      <p:ext uri="{BB962C8B-B14F-4D97-AF65-F5344CB8AC3E}">
        <p14:creationId xmlns:p14="http://schemas.microsoft.com/office/powerpoint/2010/main" val="173030440"/>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6146" name="Rectangle 2"/>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txBody>
          <a:bodyPr/>
          <a:lstStyle/>
          <a:p>
            <a:pPr marL="39688">
              <a:spcBef>
                <a:spcPts val="450"/>
              </a:spcBef>
            </a:pPr>
            <a:r>
              <a:rPr lang="en-US" dirty="0">
                <a:solidFill>
                  <a:srgbClr val="000000"/>
                </a:solidFill>
                <a:cs typeface="Times New Roman" charset="0"/>
                <a:sym typeface="Times New Roman" charset="0"/>
              </a:rPr>
              <a:t>A </a:t>
            </a:r>
            <a:r>
              <a:rPr lang="en-US" dirty="0" err="1">
                <a:solidFill>
                  <a:srgbClr val="000000"/>
                </a:solidFill>
                <a:cs typeface="Times New Roman" charset="0"/>
                <a:sym typeface="Times New Roman" charset="0"/>
              </a:rPr>
              <a:t>engenharia</a:t>
            </a:r>
            <a:r>
              <a:rPr lang="en-US" dirty="0">
                <a:solidFill>
                  <a:srgbClr val="000000"/>
                </a:solidFill>
                <a:cs typeface="Times New Roman" charset="0"/>
                <a:sym typeface="Times New Roman" charset="0"/>
              </a:rPr>
              <a:t> de software </a:t>
            </a:r>
            <a:r>
              <a:rPr lang="en-US" dirty="0" err="1">
                <a:solidFill>
                  <a:srgbClr val="000000"/>
                </a:solidFill>
                <a:cs typeface="Times New Roman" charset="0"/>
                <a:sym typeface="Times New Roman" charset="0"/>
              </a:rPr>
              <a:t>foi</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durante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muitos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anos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uma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disciplina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ou</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especialização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dentro</a:t>
            </a:r>
            <a:r>
              <a:rPr lang="en-US" dirty="0">
                <a:solidFill>
                  <a:srgbClr val="000000"/>
                </a:solidFill>
                <a:cs typeface="Times New Roman" charset="0"/>
                <a:sym typeface="Times New Roman" charset="0"/>
              </a:rPr>
              <a:t> da </a:t>
            </a:r>
            <a:r>
              <a:rPr lang="en-US" dirty="0" err="1">
                <a:solidFill>
                  <a:srgbClr val="000000"/>
                </a:solidFill>
                <a:cs typeface="Times New Roman" charset="0"/>
                <a:sym typeface="Times New Roman" charset="0"/>
              </a:rPr>
              <a:t>ciência</a:t>
            </a:r>
            <a:r>
              <a:rPr lang="en-US" dirty="0">
                <a:solidFill>
                  <a:srgbClr val="000000"/>
                </a:solidFill>
                <a:cs typeface="Times New Roman" charset="0"/>
                <a:sym typeface="Times New Roman" charset="0"/>
              </a:rPr>
              <a:t> da </a:t>
            </a:r>
            <a:r>
              <a:rPr lang="en-US" dirty="0" err="1">
                <a:solidFill>
                  <a:srgbClr val="000000"/>
                </a:solidFill>
                <a:cs typeface="Times New Roman" charset="0"/>
                <a:sym typeface="Times New Roman" charset="0"/>
              </a:rPr>
              <a:t>computação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Grupos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acadêmicos</a:t>
            </a:r>
            <a:r>
              <a:rPr lang="en-US" dirty="0">
                <a:solidFill>
                  <a:srgbClr val="000000"/>
                </a:solidFill>
                <a:cs typeface="Times New Roman" charset="0"/>
                <a:sym typeface="Times New Roman" charset="0"/>
              </a:rPr>
              <a:t> de </a:t>
            </a:r>
            <a:r>
              <a:rPr lang="en-US" dirty="0" err="1">
                <a:solidFill>
                  <a:srgbClr val="000000"/>
                </a:solidFill>
                <a:cs typeface="Times New Roman" charset="0"/>
                <a:sym typeface="Times New Roman" charset="0"/>
              </a:rPr>
              <a:t>engenharia</a:t>
            </a:r>
            <a:r>
              <a:rPr lang="en-US" dirty="0">
                <a:solidFill>
                  <a:srgbClr val="000000"/>
                </a:solidFill>
                <a:cs typeface="Times New Roman" charset="0"/>
                <a:sym typeface="Times New Roman" charset="0"/>
              </a:rPr>
              <a:t> de software </a:t>
            </a:r>
            <a:r>
              <a:rPr lang="en-US" dirty="0" err="1">
                <a:solidFill>
                  <a:srgbClr val="000000"/>
                </a:solidFill>
                <a:cs typeface="Times New Roman" charset="0"/>
                <a:sym typeface="Times New Roman" charset="0"/>
              </a:rPr>
              <a:t>fazem</a:t>
            </a:r>
            <a:r>
              <a:rPr lang="en-US" dirty="0">
                <a:solidFill>
                  <a:srgbClr val="000000"/>
                </a:solidFill>
                <a:cs typeface="Times New Roman" charset="0"/>
                <a:sym typeface="Times New Roman" charset="0"/>
              </a:rPr>
              <a:t> parte de </a:t>
            </a:r>
            <a:r>
              <a:rPr lang="en-US" dirty="0" err="1">
                <a:solidFill>
                  <a:srgbClr val="000000"/>
                </a:solidFill>
                <a:cs typeface="Times New Roman" charset="0"/>
                <a:sym typeface="Times New Roman" charset="0"/>
              </a:rPr>
              <a:t>departamentos</a:t>
            </a:r>
            <a:r>
              <a:rPr lang="en-US" dirty="0">
                <a:solidFill>
                  <a:srgbClr val="000000"/>
                </a:solidFill>
                <a:cs typeface="Times New Roman" charset="0"/>
                <a:sym typeface="Times New Roman" charset="0"/>
              </a:rPr>
              <a:t> de </a:t>
            </a:r>
            <a:r>
              <a:rPr lang="en-US" dirty="0" err="1">
                <a:solidFill>
                  <a:srgbClr val="000000"/>
                </a:solidFill>
                <a:cs typeface="Times New Roman" charset="0"/>
                <a:sym typeface="Times New Roman" charset="0"/>
              </a:rPr>
              <a:t>ciência</a:t>
            </a:r>
            <a:r>
              <a:rPr lang="en-US" dirty="0">
                <a:solidFill>
                  <a:srgbClr val="000000"/>
                </a:solidFill>
                <a:cs typeface="Times New Roman" charset="0"/>
                <a:sym typeface="Times New Roman" charset="0"/>
              </a:rPr>
              <a:t> da </a:t>
            </a:r>
            <a:r>
              <a:rPr lang="en-US" dirty="0" err="1">
                <a:solidFill>
                  <a:srgbClr val="000000"/>
                </a:solidFill>
                <a:cs typeface="Times New Roman" charset="0"/>
                <a:sym typeface="Times New Roman" charset="0"/>
              </a:rPr>
              <a:t>computação</a:t>
            </a:r>
            <a:r>
              <a:rPr lang="en-US" dirty="0">
                <a:solidFill>
                  <a:srgbClr val="000000"/>
                </a:solidFill>
                <a:cs typeface="Times New Roman" charset="0"/>
                <a:sym typeface="Times New Roman" charset="0"/>
              </a:rPr>
              <a:t>, e </a:t>
            </a:r>
            <a:r>
              <a:rPr lang="en-US" dirty="0" err="1">
                <a:solidFill>
                  <a:srgbClr val="000000"/>
                </a:solidFill>
                <a:cs typeface="Times New Roman" charset="0"/>
                <a:sym typeface="Times New Roman" charset="0"/>
              </a:rPr>
              <a:t>disciplinas</a:t>
            </a:r>
            <a:r>
              <a:rPr lang="en-US" dirty="0">
                <a:solidFill>
                  <a:srgbClr val="000000"/>
                </a:solidFill>
                <a:cs typeface="Times New Roman" charset="0"/>
                <a:sym typeface="Times New Roman" charset="0"/>
              </a:rPr>
              <a:t> de ES </a:t>
            </a:r>
            <a:r>
              <a:rPr lang="en-US" dirty="0" err="1">
                <a:solidFill>
                  <a:srgbClr val="000000"/>
                </a:solidFill>
                <a:cs typeface="Times New Roman" charset="0"/>
                <a:sym typeface="Times New Roman" charset="0"/>
              </a:rPr>
              <a:t>fazem</a:t>
            </a:r>
            <a:r>
              <a:rPr lang="en-US" dirty="0">
                <a:solidFill>
                  <a:srgbClr val="000000"/>
                </a:solidFill>
                <a:cs typeface="Times New Roman" charset="0"/>
                <a:sym typeface="Times New Roman" charset="0"/>
              </a:rPr>
              <a:t> parte das grades </a:t>
            </a:r>
            <a:r>
              <a:rPr lang="en-US" dirty="0" err="1">
                <a:solidFill>
                  <a:srgbClr val="000000"/>
                </a:solidFill>
                <a:cs typeface="Times New Roman" charset="0"/>
                <a:sym typeface="Times New Roman" charset="0"/>
              </a:rPr>
              <a:t>curriculares</a:t>
            </a:r>
            <a:r>
              <a:rPr lang="en-US" dirty="0">
                <a:solidFill>
                  <a:srgbClr val="000000"/>
                </a:solidFill>
                <a:cs typeface="Times New Roman" charset="0"/>
                <a:sym typeface="Times New Roman" charset="0"/>
              </a:rPr>
              <a:t> de </a:t>
            </a:r>
            <a:r>
              <a:rPr lang="en-US" dirty="0" err="1">
                <a:solidFill>
                  <a:srgbClr val="000000"/>
                </a:solidFill>
                <a:cs typeface="Times New Roman" charset="0"/>
                <a:sym typeface="Times New Roman" charset="0"/>
              </a:rPr>
              <a:t>cursos</a:t>
            </a:r>
            <a:r>
              <a:rPr lang="en-US" dirty="0">
                <a:solidFill>
                  <a:srgbClr val="000000"/>
                </a:solidFill>
                <a:cs typeface="Times New Roman" charset="0"/>
                <a:sym typeface="Times New Roman" charset="0"/>
              </a:rPr>
              <a:t> de </a:t>
            </a:r>
            <a:r>
              <a:rPr lang="en-US" dirty="0" err="1">
                <a:solidFill>
                  <a:srgbClr val="000000"/>
                </a:solidFill>
                <a:cs typeface="Times New Roman" charset="0"/>
                <a:sym typeface="Times New Roman" charset="0"/>
              </a:rPr>
              <a:t>computação</a:t>
            </a:r>
            <a:r>
              <a:rPr lang="en-US" dirty="0">
                <a:solidFill>
                  <a:srgbClr val="000000"/>
                </a:solidFill>
                <a:cs typeface="Times New Roman" charset="0"/>
                <a:sym typeface="Times New Roman" charset="0"/>
              </a:rPr>
              <a:t>.</a:t>
            </a:r>
          </a:p>
          <a:p>
            <a:pPr marL="39688">
              <a:spcBef>
                <a:spcPts val="450"/>
              </a:spcBef>
            </a:pPr>
            <a:endParaRPr lang="en-US" sz="2200" dirty="0">
              <a:latin typeface="Lucida Grande" charset="0"/>
              <a:cs typeface="Lucida Grande" charset="0"/>
              <a:sym typeface="Lucida Grande" charset="0"/>
            </a:endParaRPr>
          </a:p>
          <a:p>
            <a:pPr marL="39688">
              <a:spcBef>
                <a:spcPts val="450"/>
              </a:spcBef>
            </a:pPr>
            <a:r>
              <a:rPr lang="en-US" dirty="0" err="1">
                <a:solidFill>
                  <a:srgbClr val="000000"/>
                </a:solidFill>
                <a:cs typeface="Times New Roman" charset="0"/>
                <a:sym typeface="Times New Roman" charset="0"/>
              </a:rPr>
              <a:t>Apesar</a:t>
            </a:r>
            <a:r>
              <a:rPr lang="en-US" dirty="0">
                <a:solidFill>
                  <a:srgbClr val="000000"/>
                </a:solidFill>
                <a:cs typeface="Times New Roman" charset="0"/>
                <a:sym typeface="Times New Roman" charset="0"/>
              </a:rPr>
              <a:t> do </a:t>
            </a:r>
            <a:r>
              <a:rPr lang="en-US" dirty="0" err="1">
                <a:solidFill>
                  <a:srgbClr val="000000"/>
                </a:solidFill>
                <a:cs typeface="Times New Roman" charset="0"/>
                <a:sym typeface="Times New Roman" charset="0"/>
              </a:rPr>
              <a:t>rótulo</a:t>
            </a:r>
            <a:r>
              <a:rPr lang="en-US" dirty="0">
                <a:solidFill>
                  <a:srgbClr val="000000"/>
                </a:solidFill>
                <a:cs typeface="Times New Roman" charset="0"/>
                <a:sym typeface="Times New Roman" charset="0"/>
              </a:rPr>
              <a:t> </a:t>
            </a:r>
            <a:r>
              <a:rPr lang="en-US" i="1" dirty="0" err="1">
                <a:solidFill>
                  <a:srgbClr val="000000"/>
                </a:solidFill>
                <a:cs typeface="Times New Roman" charset="0"/>
                <a:sym typeface="Times New Roman" charset="0"/>
              </a:rPr>
              <a:t>ciência</a:t>
            </a:r>
            <a:r>
              <a:rPr lang="en-US" dirty="0">
                <a:solidFill>
                  <a:srgbClr val="000000"/>
                </a:solidFill>
                <a:cs typeface="Times New Roman" charset="0"/>
                <a:sym typeface="Times New Roman" charset="0"/>
              </a:rPr>
              <a:t>, a </a:t>
            </a:r>
            <a:r>
              <a:rPr lang="en-US" dirty="0" err="1">
                <a:solidFill>
                  <a:srgbClr val="000000"/>
                </a:solidFill>
                <a:cs typeface="Times New Roman" charset="0"/>
                <a:sym typeface="Times New Roman" charset="0"/>
              </a:rPr>
              <a:t>maior</a:t>
            </a:r>
            <a:r>
              <a:rPr lang="en-US" dirty="0">
                <a:solidFill>
                  <a:srgbClr val="000000"/>
                </a:solidFill>
                <a:cs typeface="Times New Roman" charset="0"/>
                <a:sym typeface="Times New Roman" charset="0"/>
              </a:rPr>
              <a:t> parte das </a:t>
            </a:r>
            <a:r>
              <a:rPr lang="en-US" dirty="0" err="1">
                <a:solidFill>
                  <a:srgbClr val="000000"/>
                </a:solidFill>
                <a:cs typeface="Times New Roman" charset="0"/>
                <a:sym typeface="Times New Roman" charset="0"/>
              </a:rPr>
              <a:t>pessoas</a:t>
            </a:r>
            <a:r>
              <a:rPr lang="en-US" dirty="0">
                <a:solidFill>
                  <a:srgbClr val="000000"/>
                </a:solidFill>
                <a:cs typeface="Times New Roman" charset="0"/>
                <a:sym typeface="Times New Roman" charset="0"/>
              </a:rPr>
              <a:t> com </a:t>
            </a:r>
            <a:r>
              <a:rPr lang="en-US" dirty="0" err="1">
                <a:solidFill>
                  <a:srgbClr val="000000"/>
                </a:solidFill>
                <a:cs typeface="Times New Roman" charset="0"/>
                <a:sym typeface="Times New Roman" charset="0"/>
              </a:rPr>
              <a:t>formação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em</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ciência</a:t>
            </a:r>
            <a:r>
              <a:rPr lang="en-US" dirty="0">
                <a:solidFill>
                  <a:srgbClr val="000000"/>
                </a:solidFill>
                <a:cs typeface="Times New Roman" charset="0"/>
                <a:sym typeface="Times New Roman" charset="0"/>
              </a:rPr>
              <a:t> da </a:t>
            </a:r>
            <a:r>
              <a:rPr lang="en-US" dirty="0" err="1">
                <a:solidFill>
                  <a:srgbClr val="000000"/>
                </a:solidFill>
                <a:cs typeface="Times New Roman" charset="0"/>
                <a:sym typeface="Times New Roman" charset="0"/>
              </a:rPr>
              <a:t>computação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exerce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atividades</a:t>
            </a:r>
            <a:r>
              <a:rPr lang="en-US" dirty="0">
                <a:solidFill>
                  <a:srgbClr val="000000"/>
                </a:solidFill>
                <a:cs typeface="Times New Roman" charset="0"/>
                <a:sym typeface="Times New Roman" charset="0"/>
              </a:rPr>
              <a:t> de </a:t>
            </a:r>
            <a:r>
              <a:rPr lang="en-US" dirty="0" err="1">
                <a:solidFill>
                  <a:srgbClr val="000000"/>
                </a:solidFill>
                <a:cs typeface="Times New Roman" charset="0"/>
                <a:sym typeface="Times New Roman" charset="0"/>
              </a:rPr>
              <a:t>construção</a:t>
            </a:r>
            <a:r>
              <a:rPr lang="en-US" dirty="0">
                <a:solidFill>
                  <a:srgbClr val="000000"/>
                </a:solidFill>
                <a:cs typeface="Times New Roman" charset="0"/>
                <a:sym typeface="Times New Roman" charset="0"/>
              </a:rPr>
              <a:t> de software e </a:t>
            </a:r>
            <a:r>
              <a:rPr lang="en-US" dirty="0" err="1">
                <a:solidFill>
                  <a:srgbClr val="000000"/>
                </a:solidFill>
                <a:cs typeface="Times New Roman" charset="0"/>
                <a:sym typeface="Times New Roman" charset="0"/>
              </a:rPr>
              <a:t>não</a:t>
            </a:r>
            <a:r>
              <a:rPr lang="en-US" dirty="0">
                <a:solidFill>
                  <a:srgbClr val="000000"/>
                </a:solidFill>
                <a:cs typeface="Times New Roman" charset="0"/>
                <a:sym typeface="Times New Roman" charset="0"/>
              </a:rPr>
              <a:t> de </a:t>
            </a:r>
            <a:r>
              <a:rPr lang="en-US" dirty="0" err="1">
                <a:solidFill>
                  <a:srgbClr val="000000"/>
                </a:solidFill>
                <a:cs typeface="Times New Roman" charset="0"/>
                <a:sym typeface="Times New Roman" charset="0"/>
              </a:rPr>
              <a:t>pesquisa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científica</a:t>
            </a:r>
            <a:r>
              <a:rPr lang="en-US" dirty="0">
                <a:solidFill>
                  <a:srgbClr val="000000"/>
                </a:solidFill>
                <a:cs typeface="Times New Roman" charset="0"/>
                <a:sym typeface="Times New Roman" charset="0"/>
              </a:rPr>
              <a:t>, o </a:t>
            </a:r>
            <a:r>
              <a:rPr lang="en-US" dirty="0" err="1">
                <a:solidFill>
                  <a:srgbClr val="000000"/>
                </a:solidFill>
                <a:cs typeface="Times New Roman" charset="0"/>
                <a:sym typeface="Times New Roman" charset="0"/>
              </a:rPr>
              <a:t>que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caracteriza</a:t>
            </a:r>
            <a:r>
              <a:rPr lang="en-US" dirty="0">
                <a:solidFill>
                  <a:srgbClr val="000000"/>
                </a:solidFill>
                <a:cs typeface="Times New Roman" charset="0"/>
                <a:sym typeface="Times New Roman" charset="0"/>
              </a:rPr>
              <a:t> as </a:t>
            </a:r>
            <a:r>
              <a:rPr lang="en-US" dirty="0" err="1">
                <a:solidFill>
                  <a:srgbClr val="000000"/>
                </a:solidFill>
                <a:cs typeface="Times New Roman" charset="0"/>
                <a:sym typeface="Times New Roman" charset="0"/>
              </a:rPr>
              <a:t>disciplinas</a:t>
            </a:r>
            <a:r>
              <a:rPr lang="en-US" dirty="0">
                <a:solidFill>
                  <a:srgbClr val="000000"/>
                </a:solidFill>
                <a:cs typeface="Times New Roman" charset="0"/>
                <a:sym typeface="Times New Roman" charset="0"/>
              </a:rPr>
              <a:t> de </a:t>
            </a:r>
            <a:r>
              <a:rPr lang="en-US" dirty="0" err="1">
                <a:solidFill>
                  <a:srgbClr val="000000"/>
                </a:solidFill>
                <a:cs typeface="Times New Roman" charset="0"/>
                <a:sym typeface="Times New Roman" charset="0"/>
              </a:rPr>
              <a:t>engenharia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Os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melhores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profissionais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envolvidos</a:t>
            </a:r>
            <a:r>
              <a:rPr lang="en-US" dirty="0">
                <a:solidFill>
                  <a:srgbClr val="000000"/>
                </a:solidFill>
                <a:cs typeface="Times New Roman" charset="0"/>
                <a:sym typeface="Times New Roman" charset="0"/>
              </a:rPr>
              <a:t> com a </a:t>
            </a:r>
            <a:r>
              <a:rPr lang="en-US" dirty="0" err="1">
                <a:solidFill>
                  <a:srgbClr val="000000"/>
                </a:solidFill>
                <a:cs typeface="Times New Roman" charset="0"/>
                <a:sym typeface="Times New Roman" charset="0"/>
              </a:rPr>
              <a:t>construção</a:t>
            </a:r>
            <a:r>
              <a:rPr lang="en-US" dirty="0">
                <a:solidFill>
                  <a:srgbClr val="000000"/>
                </a:solidFill>
                <a:cs typeface="Times New Roman" charset="0"/>
                <a:sym typeface="Times New Roman" charset="0"/>
              </a:rPr>
              <a:t> de software </a:t>
            </a:r>
            <a:r>
              <a:rPr lang="en-US" dirty="0" err="1">
                <a:solidFill>
                  <a:srgbClr val="000000"/>
                </a:solidFill>
                <a:cs typeface="Times New Roman" charset="0"/>
                <a:sym typeface="Times New Roman" charset="0"/>
              </a:rPr>
              <a:t>têm</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formação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em</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ciência</a:t>
            </a:r>
            <a:r>
              <a:rPr lang="en-US" dirty="0">
                <a:solidFill>
                  <a:srgbClr val="000000"/>
                </a:solidFill>
                <a:cs typeface="Times New Roman" charset="0"/>
                <a:sym typeface="Times New Roman" charset="0"/>
              </a:rPr>
              <a:t> da </a:t>
            </a:r>
            <a:r>
              <a:rPr lang="en-US" dirty="0" err="1">
                <a:solidFill>
                  <a:srgbClr val="000000"/>
                </a:solidFill>
                <a:cs typeface="Times New Roman" charset="0"/>
                <a:sym typeface="Times New Roman" charset="0"/>
              </a:rPr>
              <a:t>computação</a:t>
            </a:r>
            <a:r>
              <a:rPr lang="en-US" dirty="0">
                <a:solidFill>
                  <a:srgbClr val="000000"/>
                </a:solidFill>
                <a:cs typeface="Times New Roman" charset="0"/>
                <a:sym typeface="Times New Roman" charset="0"/>
              </a:rPr>
              <a:t>.</a:t>
            </a:r>
          </a:p>
        </p:txBody>
      </p:sp>
      <p:sp>
        <p:nvSpPr>
          <p:cNvPr id="2" name="Date Placeholder 1"/>
          <p:cNvSpPr>
            <a:spLocks noGrp="1"/>
          </p:cNvSpPr>
          <p:nvPr>
            <p:ph type="dt" idx="10"/>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8194" name="Rectangle 2"/>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txBody>
          <a:bodyPr/>
          <a:lstStyle/>
          <a:p>
            <a:pPr marL="39688">
              <a:spcBef>
                <a:spcPts val="450"/>
              </a:spcBef>
            </a:pPr>
            <a:r>
              <a:rPr lang="en-US" dirty="0">
                <a:solidFill>
                  <a:srgbClr val="000000"/>
                </a:solidFill>
                <a:cs typeface="Times New Roman" charset="0"/>
                <a:sym typeface="Times New Roman" charset="0"/>
              </a:rPr>
              <a:t>O </a:t>
            </a:r>
            <a:r>
              <a:rPr lang="en-US" dirty="0" err="1">
                <a:solidFill>
                  <a:srgbClr val="000000"/>
                </a:solidFill>
                <a:cs typeface="Times New Roman" charset="0"/>
                <a:sym typeface="Times New Roman" charset="0"/>
              </a:rPr>
              <a:t>desenvolvimento</a:t>
            </a:r>
            <a:r>
              <a:rPr lang="en-US" dirty="0">
                <a:solidFill>
                  <a:srgbClr val="000000"/>
                </a:solidFill>
                <a:cs typeface="Times New Roman" charset="0"/>
                <a:sym typeface="Times New Roman" charset="0"/>
              </a:rPr>
              <a:t> de software tem um forte </a:t>
            </a:r>
            <a:r>
              <a:rPr lang="en-US" dirty="0" err="1">
                <a:solidFill>
                  <a:srgbClr val="000000"/>
                </a:solidFill>
                <a:cs typeface="Times New Roman" charset="0"/>
                <a:sym typeface="Times New Roman" charset="0"/>
              </a:rPr>
              <a:t>componente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criativo</a:t>
            </a:r>
            <a:r>
              <a:rPr lang="en-US" dirty="0">
                <a:solidFill>
                  <a:srgbClr val="000000"/>
                </a:solidFill>
                <a:cs typeface="Times New Roman" charset="0"/>
                <a:sym typeface="Times New Roman" charset="0"/>
              </a:rPr>
              <a:t> e é, </a:t>
            </a:r>
            <a:r>
              <a:rPr lang="en-US" dirty="0" err="1">
                <a:solidFill>
                  <a:srgbClr val="000000"/>
                </a:solidFill>
                <a:cs typeface="Times New Roman" charset="0"/>
                <a:sym typeface="Times New Roman" charset="0"/>
              </a:rPr>
              <a:t>muitas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vezes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uma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atividade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livre</a:t>
            </a:r>
            <a:r>
              <a:rPr lang="en-US" dirty="0">
                <a:solidFill>
                  <a:srgbClr val="000000"/>
                </a:solidFill>
                <a:cs typeface="Times New Roman" charset="0"/>
                <a:sym typeface="Times New Roman" charset="0"/>
              </a:rPr>
              <a:t> e </a:t>
            </a:r>
            <a:r>
              <a:rPr lang="en-US" dirty="0" err="1">
                <a:solidFill>
                  <a:srgbClr val="000000"/>
                </a:solidFill>
                <a:cs typeface="Times New Roman" charset="0"/>
                <a:sym typeface="Times New Roman" charset="0"/>
              </a:rPr>
              <a:t>desestruturada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como</a:t>
            </a:r>
            <a:r>
              <a:rPr lang="en-US" dirty="0">
                <a:solidFill>
                  <a:srgbClr val="000000"/>
                </a:solidFill>
                <a:cs typeface="Times New Roman" charset="0"/>
                <a:sym typeface="Times New Roman" charset="0"/>
              </a:rPr>
              <a:t> a </a:t>
            </a:r>
            <a:r>
              <a:rPr lang="en-US" dirty="0" err="1">
                <a:solidFill>
                  <a:srgbClr val="000000"/>
                </a:solidFill>
                <a:cs typeface="Times New Roman" charset="0"/>
                <a:sym typeface="Times New Roman" charset="0"/>
              </a:rPr>
              <a:t>produção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artística</a:t>
            </a:r>
            <a:r>
              <a:rPr lang="en-US" dirty="0">
                <a:solidFill>
                  <a:srgbClr val="000000"/>
                </a:solidFill>
                <a:cs typeface="Times New Roman" charset="0"/>
                <a:sym typeface="Times New Roman" charset="0"/>
              </a:rPr>
              <a:t>. O software </a:t>
            </a:r>
            <a:r>
              <a:rPr lang="en-US" dirty="0" err="1">
                <a:solidFill>
                  <a:srgbClr val="000000"/>
                </a:solidFill>
                <a:cs typeface="Times New Roman" charset="0"/>
                <a:sym typeface="Times New Roman" charset="0"/>
              </a:rPr>
              <a:t>também</a:t>
            </a:r>
            <a:r>
              <a:rPr lang="en-US" dirty="0">
                <a:solidFill>
                  <a:srgbClr val="000000"/>
                </a:solidFill>
                <a:cs typeface="Times New Roman" charset="0"/>
                <a:sym typeface="Times New Roman" charset="0"/>
              </a:rPr>
              <a:t> tem um forte </a:t>
            </a:r>
            <a:r>
              <a:rPr lang="en-US" dirty="0" err="1">
                <a:solidFill>
                  <a:srgbClr val="000000"/>
                </a:solidFill>
                <a:cs typeface="Times New Roman" charset="0"/>
                <a:sym typeface="Times New Roman" charset="0"/>
              </a:rPr>
              <a:t>componente</a:t>
            </a:r>
            <a:r>
              <a:rPr lang="en-US" dirty="0">
                <a:solidFill>
                  <a:srgbClr val="000000"/>
                </a:solidFill>
                <a:cs typeface="Times New Roman" charset="0"/>
                <a:sym typeface="Times New Roman" charset="0"/>
              </a:rPr>
              <a:t> visual e </a:t>
            </a:r>
            <a:r>
              <a:rPr lang="en-US" dirty="0" err="1">
                <a:solidFill>
                  <a:srgbClr val="000000"/>
                </a:solidFill>
                <a:cs typeface="Times New Roman" charset="0"/>
                <a:sym typeface="Times New Roman" charset="0"/>
              </a:rPr>
              <a:t>estético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Por</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isso</a:t>
            </a:r>
            <a:r>
              <a:rPr lang="en-US" dirty="0">
                <a:solidFill>
                  <a:srgbClr val="000000"/>
                </a:solidFill>
                <a:cs typeface="Times New Roman" charset="0"/>
                <a:sym typeface="Times New Roman" charset="0"/>
              </a:rPr>
              <a:t>, é </a:t>
            </a:r>
            <a:r>
              <a:rPr lang="en-US" dirty="0" err="1">
                <a:solidFill>
                  <a:srgbClr val="000000"/>
                </a:solidFill>
                <a:cs typeface="Times New Roman" charset="0"/>
                <a:sym typeface="Times New Roman" charset="0"/>
              </a:rPr>
              <a:t>comum</a:t>
            </a:r>
            <a:r>
              <a:rPr lang="en-US" dirty="0">
                <a:solidFill>
                  <a:srgbClr val="000000"/>
                </a:solidFill>
                <a:cs typeface="Times New Roman" charset="0"/>
                <a:sym typeface="Times New Roman" charset="0"/>
              </a:rPr>
              <a:t> se </a:t>
            </a:r>
            <a:r>
              <a:rPr lang="en-US" dirty="0" err="1">
                <a:solidFill>
                  <a:srgbClr val="000000"/>
                </a:solidFill>
                <a:cs typeface="Times New Roman" charset="0"/>
                <a:sym typeface="Times New Roman" charset="0"/>
              </a:rPr>
              <a:t>ouvir</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falar</a:t>
            </a:r>
            <a:r>
              <a:rPr lang="en-US" dirty="0">
                <a:solidFill>
                  <a:srgbClr val="000000"/>
                </a:solidFill>
                <a:cs typeface="Times New Roman" charset="0"/>
                <a:sym typeface="Times New Roman" charset="0"/>
              </a:rPr>
              <a:t> no </a:t>
            </a:r>
            <a:r>
              <a:rPr lang="en-US" dirty="0" err="1">
                <a:solidFill>
                  <a:srgbClr val="000000"/>
                </a:solidFill>
                <a:cs typeface="Times New Roman" charset="0"/>
                <a:sym typeface="Times New Roman" charset="0"/>
              </a:rPr>
              <a:t>desenvolvimento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como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uma</a:t>
            </a:r>
            <a:r>
              <a:rPr lang="en-US" dirty="0">
                <a:solidFill>
                  <a:srgbClr val="000000"/>
                </a:solidFill>
                <a:cs typeface="Times New Roman" charset="0"/>
                <a:sym typeface="Times New Roman" charset="0"/>
              </a:rPr>
              <a:t> arte </a:t>
            </a:r>
            <a:r>
              <a:rPr lang="en-US" dirty="0" err="1">
                <a:solidFill>
                  <a:srgbClr val="000000"/>
                </a:solidFill>
                <a:cs typeface="Times New Roman" charset="0"/>
                <a:sym typeface="Times New Roman" charset="0"/>
              </a:rPr>
              <a:t>aliada</a:t>
            </a:r>
            <a:r>
              <a:rPr lang="en-US" dirty="0">
                <a:solidFill>
                  <a:srgbClr val="000000"/>
                </a:solidFill>
                <a:cs typeface="Times New Roman" charset="0"/>
                <a:sym typeface="Times New Roman" charset="0"/>
              </a:rPr>
              <a:t> à </a:t>
            </a:r>
            <a:r>
              <a:rPr lang="en-US" dirty="0" err="1">
                <a:solidFill>
                  <a:srgbClr val="000000"/>
                </a:solidFill>
                <a:cs typeface="Times New Roman" charset="0"/>
                <a:sym typeface="Times New Roman" charset="0"/>
              </a:rPr>
              <a:t>tecnologia</a:t>
            </a:r>
            <a:r>
              <a:rPr lang="en-US" dirty="0">
                <a:solidFill>
                  <a:srgbClr val="000000"/>
                </a:solidFill>
                <a:cs typeface="Times New Roman" charset="0"/>
                <a:sym typeface="Times New Roman" charset="0"/>
              </a:rPr>
              <a:t>.</a:t>
            </a:r>
          </a:p>
          <a:p>
            <a:pPr marL="39688">
              <a:spcBef>
                <a:spcPts val="450"/>
              </a:spcBef>
            </a:pPr>
            <a:endParaRPr lang="en-US" sz="2200" dirty="0">
              <a:latin typeface="Lucida Grande" charset="0"/>
              <a:cs typeface="Lucida Grande" charset="0"/>
              <a:sym typeface="Lucida Grande" charset="0"/>
            </a:endParaRPr>
          </a:p>
          <a:p>
            <a:pPr marL="39688">
              <a:spcBef>
                <a:spcPts val="450"/>
              </a:spcBef>
            </a:pPr>
            <a:r>
              <a:rPr lang="en-US" dirty="0">
                <a:solidFill>
                  <a:srgbClr val="000000"/>
                </a:solidFill>
                <a:cs typeface="Times New Roman" charset="0"/>
                <a:sym typeface="Times New Roman" charset="0"/>
              </a:rPr>
              <a:t>De </a:t>
            </a:r>
            <a:r>
              <a:rPr lang="en-US" dirty="0" err="1">
                <a:solidFill>
                  <a:srgbClr val="000000"/>
                </a:solidFill>
                <a:cs typeface="Times New Roman" charset="0"/>
                <a:sym typeface="Times New Roman" charset="0"/>
              </a:rPr>
              <a:t>fato</a:t>
            </a:r>
            <a:r>
              <a:rPr lang="en-US" dirty="0">
                <a:solidFill>
                  <a:srgbClr val="000000"/>
                </a:solidFill>
                <a:cs typeface="Times New Roman" charset="0"/>
                <a:sym typeface="Times New Roman" charset="0"/>
              </a:rPr>
              <a:t>, o software tem um </a:t>
            </a:r>
            <a:r>
              <a:rPr lang="en-US" dirty="0" err="1">
                <a:solidFill>
                  <a:srgbClr val="000000"/>
                </a:solidFill>
                <a:cs typeface="Times New Roman" charset="0"/>
                <a:sym typeface="Times New Roman" charset="0"/>
              </a:rPr>
              <a:t>componente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artístico</a:t>
            </a:r>
            <a:r>
              <a:rPr lang="en-US" dirty="0">
                <a:solidFill>
                  <a:srgbClr val="000000"/>
                </a:solidFill>
                <a:cs typeface="Times New Roman" charset="0"/>
                <a:sym typeface="Times New Roman" charset="0"/>
              </a:rPr>
              <a:t>, mas </a:t>
            </a:r>
            <a:r>
              <a:rPr lang="en-US" dirty="0" err="1">
                <a:solidFill>
                  <a:srgbClr val="000000"/>
                </a:solidFill>
                <a:cs typeface="Times New Roman" charset="0"/>
                <a:sym typeface="Times New Roman" charset="0"/>
              </a:rPr>
              <a:t>esse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componente</a:t>
            </a:r>
            <a:r>
              <a:rPr lang="en-US" dirty="0">
                <a:solidFill>
                  <a:srgbClr val="000000"/>
                </a:solidFill>
                <a:cs typeface="Times New Roman" charset="0"/>
                <a:sym typeface="Times New Roman" charset="0"/>
              </a:rPr>
              <a:t> é </a:t>
            </a:r>
            <a:r>
              <a:rPr lang="en-US" dirty="0" err="1">
                <a:solidFill>
                  <a:srgbClr val="000000"/>
                </a:solidFill>
                <a:cs typeface="Times New Roman" charset="0"/>
                <a:sym typeface="Times New Roman" charset="0"/>
              </a:rPr>
              <a:t>distinto</a:t>
            </a:r>
            <a:r>
              <a:rPr lang="en-US" dirty="0">
                <a:solidFill>
                  <a:srgbClr val="000000"/>
                </a:solidFill>
                <a:cs typeface="Times New Roman" charset="0"/>
                <a:sym typeface="Times New Roman" charset="0"/>
              </a:rPr>
              <a:t> do </a:t>
            </a:r>
            <a:r>
              <a:rPr lang="en-US" dirty="0" err="1">
                <a:solidFill>
                  <a:srgbClr val="000000"/>
                </a:solidFill>
                <a:cs typeface="Times New Roman" charset="0"/>
                <a:sym typeface="Times New Roman" charset="0"/>
              </a:rPr>
              <a:t>componente</a:t>
            </a:r>
            <a:r>
              <a:rPr lang="en-US" dirty="0">
                <a:solidFill>
                  <a:srgbClr val="000000"/>
                </a:solidFill>
                <a:cs typeface="Times New Roman" charset="0"/>
                <a:sym typeface="Times New Roman" charset="0"/>
              </a:rPr>
              <a:t> de </a:t>
            </a:r>
            <a:r>
              <a:rPr lang="en-US" dirty="0" err="1">
                <a:solidFill>
                  <a:srgbClr val="000000"/>
                </a:solidFill>
                <a:cs typeface="Times New Roman" charset="0"/>
                <a:sym typeface="Times New Roman" charset="0"/>
              </a:rPr>
              <a:t>engenharia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envolvido</a:t>
            </a:r>
            <a:r>
              <a:rPr lang="en-US" dirty="0">
                <a:solidFill>
                  <a:srgbClr val="000000"/>
                </a:solidFill>
                <a:cs typeface="Times New Roman" charset="0"/>
                <a:sym typeface="Times New Roman" charset="0"/>
              </a:rPr>
              <a:t> no </a:t>
            </a:r>
            <a:r>
              <a:rPr lang="en-US" dirty="0" err="1">
                <a:solidFill>
                  <a:srgbClr val="000000"/>
                </a:solidFill>
                <a:cs typeface="Times New Roman" charset="0"/>
                <a:sym typeface="Times New Roman" charset="0"/>
              </a:rPr>
              <a:t>seu</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desenvolvimento</a:t>
            </a:r>
            <a:r>
              <a:rPr lang="en-US" dirty="0">
                <a:solidFill>
                  <a:srgbClr val="000000"/>
                </a:solidFill>
                <a:cs typeface="Times New Roman" charset="0"/>
                <a:sym typeface="Times New Roman" charset="0"/>
              </a:rPr>
              <a:t>. As </a:t>
            </a:r>
            <a:r>
              <a:rPr lang="en-US" dirty="0" err="1">
                <a:solidFill>
                  <a:srgbClr val="000000"/>
                </a:solidFill>
                <a:cs typeface="Times New Roman" charset="0"/>
                <a:sym typeface="Times New Roman" charset="0"/>
              </a:rPr>
              <a:t>duas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edificãções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acima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são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obras</a:t>
            </a:r>
            <a:r>
              <a:rPr lang="en-US" dirty="0">
                <a:solidFill>
                  <a:srgbClr val="000000"/>
                </a:solidFill>
                <a:cs typeface="Times New Roman" charset="0"/>
                <a:sym typeface="Times New Roman" charset="0"/>
              </a:rPr>
              <a:t> de arte e </a:t>
            </a:r>
            <a:r>
              <a:rPr lang="en-US" dirty="0" err="1">
                <a:solidFill>
                  <a:srgbClr val="000000"/>
                </a:solidFill>
                <a:cs typeface="Times New Roman" charset="0"/>
                <a:sym typeface="Times New Roman" charset="0"/>
              </a:rPr>
              <a:t>engenharia</a:t>
            </a:r>
            <a:r>
              <a:rPr lang="en-US" dirty="0">
                <a:solidFill>
                  <a:srgbClr val="000000"/>
                </a:solidFill>
                <a:cs typeface="Times New Roman" charset="0"/>
                <a:sym typeface="Times New Roman" charset="0"/>
              </a:rPr>
              <a:t>. No </a:t>
            </a:r>
            <a:r>
              <a:rPr lang="en-US" dirty="0" err="1">
                <a:solidFill>
                  <a:srgbClr val="000000"/>
                </a:solidFill>
                <a:cs typeface="Times New Roman" charset="0"/>
                <a:sym typeface="Times New Roman" charset="0"/>
              </a:rPr>
              <a:t>entanto</a:t>
            </a:r>
            <a:r>
              <a:rPr lang="en-US" dirty="0">
                <a:solidFill>
                  <a:srgbClr val="000000"/>
                </a:solidFill>
                <a:cs typeface="Times New Roman" charset="0"/>
                <a:sym typeface="Times New Roman" charset="0"/>
              </a:rPr>
              <a:t>, é </a:t>
            </a:r>
            <a:r>
              <a:rPr lang="en-US" dirty="0" err="1">
                <a:solidFill>
                  <a:srgbClr val="000000"/>
                </a:solidFill>
                <a:cs typeface="Times New Roman" charset="0"/>
                <a:sym typeface="Times New Roman" charset="0"/>
              </a:rPr>
              <a:t>preciso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ter</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em</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mente</a:t>
            </a:r>
            <a:r>
              <a:rPr lang="en-US" dirty="0">
                <a:solidFill>
                  <a:srgbClr val="000000"/>
                </a:solidFill>
                <a:cs typeface="Times New Roman" charset="0"/>
                <a:sym typeface="Times New Roman" charset="0"/>
              </a:rPr>
              <a:t> o peso das </a:t>
            </a:r>
            <a:r>
              <a:rPr lang="en-US" dirty="0" err="1">
                <a:solidFill>
                  <a:srgbClr val="000000"/>
                </a:solidFill>
                <a:cs typeface="Times New Roman" charset="0"/>
                <a:sym typeface="Times New Roman" charset="0"/>
              </a:rPr>
              <a:t>duas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atividades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nas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suas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construções</a:t>
            </a:r>
            <a:r>
              <a:rPr lang="en-US" dirty="0">
                <a:solidFill>
                  <a:srgbClr val="000000"/>
                </a:solidFill>
                <a:cs typeface="Times New Roman" charset="0"/>
                <a:sym typeface="Times New Roman" charset="0"/>
              </a:rPr>
              <a:t>. O </a:t>
            </a:r>
            <a:r>
              <a:rPr lang="en-US" dirty="0" err="1">
                <a:solidFill>
                  <a:srgbClr val="000000"/>
                </a:solidFill>
                <a:cs typeface="Times New Roman" charset="0"/>
                <a:sym typeface="Times New Roman" charset="0"/>
              </a:rPr>
              <a:t>componente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artístico</a:t>
            </a:r>
            <a:r>
              <a:rPr lang="en-US" dirty="0">
                <a:solidFill>
                  <a:srgbClr val="000000"/>
                </a:solidFill>
                <a:cs typeface="Times New Roman" charset="0"/>
                <a:sym typeface="Times New Roman" charset="0"/>
              </a:rPr>
              <a:t> é </a:t>
            </a:r>
            <a:r>
              <a:rPr lang="en-US" dirty="0" err="1">
                <a:solidFill>
                  <a:srgbClr val="000000"/>
                </a:solidFill>
                <a:cs typeface="Times New Roman" charset="0"/>
                <a:sym typeface="Times New Roman" charset="0"/>
              </a:rPr>
              <a:t>importante</a:t>
            </a:r>
            <a:r>
              <a:rPr lang="en-US" dirty="0">
                <a:solidFill>
                  <a:srgbClr val="000000"/>
                </a:solidFill>
                <a:cs typeface="Times New Roman" charset="0"/>
                <a:sym typeface="Times New Roman" charset="0"/>
              </a:rPr>
              <a:t>, mas o </a:t>
            </a:r>
            <a:r>
              <a:rPr lang="en-US" dirty="0" err="1">
                <a:solidFill>
                  <a:srgbClr val="000000"/>
                </a:solidFill>
                <a:cs typeface="Times New Roman" charset="0"/>
                <a:sym typeface="Times New Roman" charset="0"/>
              </a:rPr>
              <a:t>componente</a:t>
            </a:r>
            <a:r>
              <a:rPr lang="en-US" dirty="0">
                <a:solidFill>
                  <a:srgbClr val="000000"/>
                </a:solidFill>
                <a:cs typeface="Times New Roman" charset="0"/>
                <a:sym typeface="Times New Roman" charset="0"/>
              </a:rPr>
              <a:t> de </a:t>
            </a:r>
            <a:r>
              <a:rPr lang="en-US" dirty="0" err="1">
                <a:solidFill>
                  <a:srgbClr val="000000"/>
                </a:solidFill>
                <a:cs typeface="Times New Roman" charset="0"/>
                <a:sym typeface="Times New Roman" charset="0"/>
              </a:rPr>
              <a:t>engenharia</a:t>
            </a:r>
            <a:r>
              <a:rPr lang="en-US" dirty="0">
                <a:solidFill>
                  <a:srgbClr val="000000"/>
                </a:solidFill>
                <a:cs typeface="Times New Roman" charset="0"/>
                <a:sym typeface="Times New Roman" charset="0"/>
              </a:rPr>
              <a:t> é fundamental </a:t>
            </a:r>
            <a:r>
              <a:rPr lang="en-US" dirty="0" err="1">
                <a:solidFill>
                  <a:srgbClr val="000000"/>
                </a:solidFill>
                <a:cs typeface="Times New Roman" charset="0"/>
                <a:sym typeface="Times New Roman" charset="0"/>
              </a:rPr>
              <a:t>para</a:t>
            </a:r>
            <a:r>
              <a:rPr lang="en-US" dirty="0">
                <a:solidFill>
                  <a:srgbClr val="000000"/>
                </a:solidFill>
                <a:cs typeface="Times New Roman" charset="0"/>
                <a:sym typeface="Times New Roman" charset="0"/>
              </a:rPr>
              <a:t> a </a:t>
            </a:r>
            <a:r>
              <a:rPr lang="en-US" dirty="0" err="1">
                <a:solidFill>
                  <a:srgbClr val="000000"/>
                </a:solidFill>
                <a:cs typeface="Times New Roman" charset="0"/>
                <a:sym typeface="Times New Roman" charset="0"/>
              </a:rPr>
              <a:t>existência</a:t>
            </a:r>
            <a:r>
              <a:rPr lang="en-US" dirty="0">
                <a:solidFill>
                  <a:srgbClr val="000000"/>
                </a:solidFill>
                <a:cs typeface="Times New Roman" charset="0"/>
                <a:sym typeface="Times New Roman" charset="0"/>
              </a:rPr>
              <a:t> das </a:t>
            </a:r>
            <a:r>
              <a:rPr lang="en-US" dirty="0" err="1">
                <a:solidFill>
                  <a:srgbClr val="000000"/>
                </a:solidFill>
                <a:cs typeface="Times New Roman" charset="0"/>
                <a:sym typeface="Times New Roman" charset="0"/>
              </a:rPr>
              <a:t>edificações</a:t>
            </a:r>
            <a:r>
              <a:rPr lang="en-US" dirty="0">
                <a:solidFill>
                  <a:srgbClr val="000000"/>
                </a:solidFill>
                <a:cs typeface="Times New Roman" charset="0"/>
                <a:sym typeface="Times New Roman" charset="0"/>
              </a:rPr>
              <a:t>. A </a:t>
            </a:r>
            <a:r>
              <a:rPr lang="en-US" dirty="0" err="1">
                <a:solidFill>
                  <a:srgbClr val="000000"/>
                </a:solidFill>
                <a:cs typeface="Times New Roman" charset="0"/>
                <a:sym typeface="Times New Roman" charset="0"/>
              </a:rPr>
              <a:t>engenharia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disponível</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dita</a:t>
            </a:r>
            <a:r>
              <a:rPr lang="en-US" dirty="0">
                <a:solidFill>
                  <a:srgbClr val="000000"/>
                </a:solidFill>
                <a:cs typeface="Times New Roman" charset="0"/>
                <a:sym typeface="Times New Roman" charset="0"/>
              </a:rPr>
              <a:t> as </a:t>
            </a:r>
            <a:r>
              <a:rPr lang="en-US" dirty="0" err="1">
                <a:solidFill>
                  <a:srgbClr val="000000"/>
                </a:solidFill>
                <a:cs typeface="Times New Roman" charset="0"/>
                <a:sym typeface="Times New Roman" charset="0"/>
              </a:rPr>
              <a:t>restrições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para</a:t>
            </a:r>
            <a:r>
              <a:rPr lang="en-US" dirty="0">
                <a:solidFill>
                  <a:srgbClr val="000000"/>
                </a:solidFill>
                <a:cs typeface="Times New Roman" charset="0"/>
                <a:sym typeface="Times New Roman" charset="0"/>
              </a:rPr>
              <a:t> a </a:t>
            </a:r>
            <a:r>
              <a:rPr lang="en-US" dirty="0" err="1">
                <a:solidFill>
                  <a:srgbClr val="000000"/>
                </a:solidFill>
                <a:cs typeface="Times New Roman" charset="0"/>
                <a:sym typeface="Times New Roman" charset="0"/>
              </a:rPr>
              <a:t>expressão</a:t>
            </a:r>
            <a:r>
              <a:rPr lang="en-US" dirty="0">
                <a:solidFill>
                  <a:srgbClr val="000000"/>
                </a:solidFill>
                <a:cs typeface="Times New Roman" charset="0"/>
                <a:sym typeface="Times New Roman" charset="0"/>
              </a:rPr>
              <a:t> do </a:t>
            </a:r>
            <a:r>
              <a:rPr lang="en-US" dirty="0" err="1">
                <a:solidFill>
                  <a:srgbClr val="000000"/>
                </a:solidFill>
                <a:cs typeface="Times New Roman" charset="0"/>
                <a:sym typeface="Times New Roman" charset="0"/>
              </a:rPr>
              <a:t>artista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Hoje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seria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possível</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construir</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uma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catedral</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como</a:t>
            </a:r>
            <a:r>
              <a:rPr lang="en-US" dirty="0">
                <a:solidFill>
                  <a:srgbClr val="000000"/>
                </a:solidFill>
                <a:cs typeface="Times New Roman" charset="0"/>
                <a:sym typeface="Times New Roman" charset="0"/>
              </a:rPr>
              <a:t> a de Paris, mas no </a:t>
            </a:r>
            <a:r>
              <a:rPr lang="en-US" dirty="0" err="1">
                <a:solidFill>
                  <a:srgbClr val="000000"/>
                </a:solidFill>
                <a:cs typeface="Times New Roman" charset="0"/>
                <a:sym typeface="Times New Roman" charset="0"/>
              </a:rPr>
              <a:t>século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treze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seria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impossível</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construir</a:t>
            </a:r>
            <a:r>
              <a:rPr lang="en-US" dirty="0">
                <a:solidFill>
                  <a:srgbClr val="000000"/>
                </a:solidFill>
                <a:cs typeface="Times New Roman" charset="0"/>
                <a:sym typeface="Times New Roman" charset="0"/>
              </a:rPr>
              <a:t> a casa da </a:t>
            </a:r>
            <a:r>
              <a:rPr lang="en-US" dirty="0" err="1">
                <a:solidFill>
                  <a:srgbClr val="000000"/>
                </a:solidFill>
                <a:cs typeface="Times New Roman" charset="0"/>
                <a:sym typeface="Times New Roman" charset="0"/>
              </a:rPr>
              <a:t>ópera</a:t>
            </a:r>
            <a:r>
              <a:rPr lang="en-US" dirty="0">
                <a:solidFill>
                  <a:srgbClr val="000000"/>
                </a:solidFill>
                <a:cs typeface="Times New Roman" charset="0"/>
                <a:sym typeface="Times New Roman" charset="0"/>
              </a:rPr>
              <a:t> de Sidney.</a:t>
            </a:r>
          </a:p>
          <a:p>
            <a:pPr marL="39688">
              <a:spcBef>
                <a:spcPts val="450"/>
              </a:spcBef>
            </a:pPr>
            <a:endParaRPr lang="en-US" sz="2200" dirty="0">
              <a:latin typeface="Lucida Grande" charset="0"/>
              <a:cs typeface="Lucida Grande" charset="0"/>
              <a:sym typeface="Lucida Grande" charset="0"/>
            </a:endParaRPr>
          </a:p>
          <a:p>
            <a:pPr marL="39688">
              <a:spcBef>
                <a:spcPts val="450"/>
              </a:spcBef>
            </a:pPr>
            <a:r>
              <a:rPr lang="en-US" dirty="0" err="1">
                <a:solidFill>
                  <a:srgbClr val="000000"/>
                </a:solidFill>
                <a:cs typeface="Times New Roman" charset="0"/>
                <a:sym typeface="Times New Roman" charset="0"/>
              </a:rPr>
              <a:t>Assim</a:t>
            </a:r>
            <a:r>
              <a:rPr lang="en-US" dirty="0">
                <a:solidFill>
                  <a:srgbClr val="000000"/>
                </a:solidFill>
                <a:cs typeface="Times New Roman" charset="0"/>
                <a:sym typeface="Times New Roman" charset="0"/>
              </a:rPr>
              <a:t>, a </a:t>
            </a:r>
            <a:r>
              <a:rPr lang="en-US" dirty="0" err="1">
                <a:solidFill>
                  <a:srgbClr val="000000"/>
                </a:solidFill>
                <a:cs typeface="Times New Roman" charset="0"/>
                <a:sym typeface="Times New Roman" charset="0"/>
              </a:rPr>
              <a:t>engenharia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não</a:t>
            </a:r>
            <a:r>
              <a:rPr lang="en-US" dirty="0">
                <a:solidFill>
                  <a:srgbClr val="000000"/>
                </a:solidFill>
                <a:cs typeface="Times New Roman" charset="0"/>
                <a:sym typeface="Times New Roman" charset="0"/>
              </a:rPr>
              <a:t> </a:t>
            </a:r>
            <a:r>
              <a:rPr lang="en-US" i="1" dirty="0">
                <a:solidFill>
                  <a:srgbClr val="000000"/>
                </a:solidFill>
                <a:cs typeface="Times New Roman" charset="0"/>
                <a:sym typeface="Times New Roman" charset="0"/>
              </a:rPr>
              <a:t>é</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uma</a:t>
            </a:r>
            <a:r>
              <a:rPr lang="en-US" dirty="0">
                <a:solidFill>
                  <a:srgbClr val="000000"/>
                </a:solidFill>
                <a:cs typeface="Times New Roman" charset="0"/>
                <a:sym typeface="Times New Roman" charset="0"/>
              </a:rPr>
              <a:t> arte, mas </a:t>
            </a:r>
            <a:r>
              <a:rPr lang="en-US" i="1" dirty="0" err="1">
                <a:solidFill>
                  <a:srgbClr val="000000"/>
                </a:solidFill>
                <a:cs typeface="Times New Roman" charset="0"/>
                <a:sym typeface="Times New Roman" charset="0"/>
              </a:rPr>
              <a:t>possibilita</a:t>
            </a:r>
            <a:r>
              <a:rPr lang="en-US" dirty="0">
                <a:solidFill>
                  <a:srgbClr val="000000"/>
                </a:solidFill>
                <a:cs typeface="Times New Roman" charset="0"/>
                <a:sym typeface="Times New Roman" charset="0"/>
              </a:rPr>
              <a:t> a </a:t>
            </a:r>
            <a:r>
              <a:rPr lang="en-US" dirty="0" err="1">
                <a:solidFill>
                  <a:srgbClr val="000000"/>
                </a:solidFill>
                <a:cs typeface="Times New Roman" charset="0"/>
                <a:sym typeface="Times New Roman" charset="0"/>
              </a:rPr>
              <a:t>expressão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artística</a:t>
            </a:r>
            <a:r>
              <a:rPr lang="en-US" dirty="0">
                <a:solidFill>
                  <a:srgbClr val="000000"/>
                </a:solidFill>
                <a:cs typeface="Times New Roman" charset="0"/>
                <a:sym typeface="Times New Roman" charset="0"/>
              </a:rPr>
              <a:t>.</a:t>
            </a:r>
          </a:p>
          <a:p>
            <a:pPr marL="39688">
              <a:spcBef>
                <a:spcPts val="450"/>
              </a:spcBef>
            </a:pPr>
            <a:endParaRPr lang="en-US" dirty="0">
              <a:solidFill>
                <a:srgbClr val="000000"/>
              </a:solidFill>
              <a:cs typeface="Times New Roman" charset="0"/>
              <a:sym typeface="Times New Roman" charset="0"/>
            </a:endParaRPr>
          </a:p>
          <a:p>
            <a:pPr marL="39688">
              <a:spcBef>
                <a:spcPts val="450"/>
              </a:spcBef>
            </a:pPr>
            <a:r>
              <a:rPr lang="en-US" dirty="0">
                <a:cs typeface="Times New Roman" charset="0"/>
                <a:sym typeface="Times New Roman" charset="0"/>
              </a:rPr>
              <a:t>Sydney Opera House must be one of the most </a:t>
            </a:r>
            <a:r>
              <a:rPr lang="en-US" dirty="0" err="1">
                <a:cs typeface="Times New Roman" charset="0"/>
                <a:sym typeface="Times New Roman" charset="0"/>
              </a:rPr>
              <a:t>recognisable</a:t>
            </a:r>
            <a:r>
              <a:rPr lang="en-US" dirty="0">
                <a:cs typeface="Times New Roman" charset="0"/>
                <a:sym typeface="Times New Roman" charset="0"/>
              </a:rPr>
              <a:t> images of the modern world - up there with the Eiffel Tower and the Empire State Building - and one of the most </a:t>
            </a:r>
            <a:r>
              <a:rPr lang="en-US" dirty="0" err="1">
                <a:cs typeface="Times New Roman" charset="0"/>
                <a:sym typeface="Times New Roman" charset="0"/>
              </a:rPr>
              <a:t>photographed.Not</a:t>
            </a:r>
            <a:r>
              <a:rPr lang="en-US" dirty="0">
                <a:cs typeface="Times New Roman" charset="0"/>
                <a:sym typeface="Times New Roman" charset="0"/>
              </a:rPr>
              <a:t> only is it </a:t>
            </a:r>
            <a:r>
              <a:rPr lang="en-US" dirty="0" err="1">
                <a:cs typeface="Times New Roman" charset="0"/>
                <a:sym typeface="Times New Roman" charset="0"/>
              </a:rPr>
              <a:t>recognisable</a:t>
            </a:r>
            <a:r>
              <a:rPr lang="en-US" dirty="0">
                <a:cs typeface="Times New Roman" charset="0"/>
                <a:sym typeface="Times New Roman" charset="0"/>
              </a:rPr>
              <a:t>, it has come to represent '</a:t>
            </a:r>
            <a:r>
              <a:rPr lang="en-US" dirty="0" err="1">
                <a:cs typeface="Times New Roman" charset="0"/>
                <a:sym typeface="Times New Roman" charset="0"/>
              </a:rPr>
              <a:t>Australia'.Although</a:t>
            </a:r>
            <a:r>
              <a:rPr lang="en-US" dirty="0">
                <a:cs typeface="Times New Roman" charset="0"/>
                <a:sym typeface="Times New Roman" charset="0"/>
              </a:rPr>
              <a:t> only having been open since 1973, it is as representative of Australia as the pyramids are of Egypt and the </a:t>
            </a:r>
            <a:r>
              <a:rPr lang="en-US" dirty="0" err="1">
                <a:cs typeface="Times New Roman" charset="0"/>
                <a:sym typeface="Times New Roman" charset="0"/>
              </a:rPr>
              <a:t>Colosseum</a:t>
            </a:r>
            <a:r>
              <a:rPr lang="en-US" dirty="0">
                <a:cs typeface="Times New Roman" charset="0"/>
                <a:sym typeface="Times New Roman" charset="0"/>
              </a:rPr>
              <a:t> of </a:t>
            </a:r>
            <a:r>
              <a:rPr lang="en-US" dirty="0" err="1">
                <a:cs typeface="Times New Roman" charset="0"/>
                <a:sym typeface="Times New Roman" charset="0"/>
              </a:rPr>
              <a:t>Rome.The</a:t>
            </a:r>
            <a:r>
              <a:rPr lang="en-US" dirty="0">
                <a:cs typeface="Times New Roman" charset="0"/>
                <a:sym typeface="Times New Roman" charset="0"/>
              </a:rPr>
              <a:t> Opera House is situated on Bennelong Point, which reaches out into the </a:t>
            </a:r>
            <a:r>
              <a:rPr lang="en-US" dirty="0" err="1">
                <a:cs typeface="Times New Roman" charset="0"/>
                <a:sym typeface="Times New Roman" charset="0"/>
              </a:rPr>
              <a:t>harbour</a:t>
            </a:r>
            <a:r>
              <a:rPr lang="en-US" dirty="0">
                <a:cs typeface="Times New Roman" charset="0"/>
                <a:sym typeface="Times New Roman" charset="0"/>
              </a:rPr>
              <a:t>. The skyline of the Sydney </a:t>
            </a:r>
            <a:r>
              <a:rPr lang="en-US" dirty="0" err="1">
                <a:cs typeface="Times New Roman" charset="0"/>
                <a:sym typeface="Times New Roman" charset="0"/>
              </a:rPr>
              <a:t>Harbour</a:t>
            </a:r>
            <a:r>
              <a:rPr lang="en-US" dirty="0">
                <a:cs typeface="Times New Roman" charset="0"/>
                <a:sym typeface="Times New Roman" charset="0"/>
              </a:rPr>
              <a:t> Bridge, the blue water of the </a:t>
            </a:r>
            <a:r>
              <a:rPr lang="en-US" dirty="0" err="1">
                <a:cs typeface="Times New Roman" charset="0"/>
                <a:sym typeface="Times New Roman" charset="0"/>
              </a:rPr>
              <a:t>harbour</a:t>
            </a:r>
            <a:r>
              <a:rPr lang="en-US" dirty="0">
                <a:cs typeface="Times New Roman" charset="0"/>
                <a:sym typeface="Times New Roman" charset="0"/>
              </a:rPr>
              <a:t> and the Sydney Opera House, viewed from a ferry or from the air, is dramatic and </a:t>
            </a:r>
            <a:r>
              <a:rPr lang="en-US" dirty="0" err="1">
                <a:cs typeface="Times New Roman" charset="0"/>
                <a:sym typeface="Times New Roman" charset="0"/>
              </a:rPr>
              <a:t>unforgettable.Ironic</a:t>
            </a:r>
            <a:r>
              <a:rPr lang="en-US" dirty="0">
                <a:cs typeface="Times New Roman" charset="0"/>
                <a:sym typeface="Times New Roman" charset="0"/>
              </a:rPr>
              <a:t>, perhaps, that this Australian icon - the Opera House with a roof evocative of a ship at full sail - was designed by renowned Danish architect - </a:t>
            </a:r>
            <a:r>
              <a:rPr lang="en-US" dirty="0" err="1">
                <a:cs typeface="Times New Roman" charset="0"/>
                <a:sym typeface="Times New Roman" charset="0"/>
              </a:rPr>
              <a:t>Jorn</a:t>
            </a:r>
            <a:r>
              <a:rPr lang="en-US" dirty="0">
                <a:cs typeface="Times New Roman" charset="0"/>
                <a:sym typeface="Times New Roman" charset="0"/>
              </a:rPr>
              <a:t> </a:t>
            </a:r>
            <a:r>
              <a:rPr lang="en-US" dirty="0" err="1">
                <a:cs typeface="Times New Roman" charset="0"/>
                <a:sym typeface="Times New Roman" charset="0"/>
              </a:rPr>
              <a:t>Utzon</a:t>
            </a:r>
            <a:r>
              <a:rPr lang="en-US" dirty="0">
                <a:cs typeface="Times New Roman" charset="0"/>
                <a:sym typeface="Times New Roman" charset="0"/>
              </a:rPr>
              <a:t> (1918–2008).In the late 1950s the New South Wales (NSW) Government established an appeal fund to finance the construction of the Sydney Opera House, and conducted a competition for its </a:t>
            </a:r>
            <a:r>
              <a:rPr lang="en-US" dirty="0" err="1">
                <a:cs typeface="Times New Roman" charset="0"/>
                <a:sym typeface="Times New Roman" charset="0"/>
              </a:rPr>
              <a:t>design.Utzon's</a:t>
            </a:r>
            <a:r>
              <a:rPr lang="en-US" dirty="0">
                <a:cs typeface="Times New Roman" charset="0"/>
                <a:sym typeface="Times New Roman" charset="0"/>
              </a:rPr>
              <a:t> design was chosen. The irony was that his design was, arguably, beyond the capabilities of engineering of the time. </a:t>
            </a:r>
            <a:r>
              <a:rPr lang="en-US" dirty="0" err="1">
                <a:cs typeface="Times New Roman" charset="0"/>
                <a:sym typeface="Times New Roman" charset="0"/>
              </a:rPr>
              <a:t>Utzon</a:t>
            </a:r>
            <a:r>
              <a:rPr lang="en-US" dirty="0">
                <a:cs typeface="Times New Roman" charset="0"/>
                <a:sym typeface="Times New Roman" charset="0"/>
              </a:rPr>
              <a:t> spent a couple of years reworking the design and it was 1961 before he had solved the problem of how to build the distinguishing feature - the 'sails' of the </a:t>
            </a:r>
            <a:r>
              <a:rPr lang="en-US" dirty="0" err="1">
                <a:cs typeface="Times New Roman" charset="0"/>
                <a:sym typeface="Times New Roman" charset="0"/>
              </a:rPr>
              <a:t>roof.The</a:t>
            </a:r>
            <a:r>
              <a:rPr lang="en-US" dirty="0">
                <a:cs typeface="Times New Roman" charset="0"/>
                <a:sym typeface="Times New Roman" charset="0"/>
              </a:rPr>
              <a:t> venture experienced cost blow-outs and there were occasions when the NSW Government was tempted to call a halt. In 1966 the situation - with arguments about cost and the interior design, and the Government withholding progress payments - reached crisis point and </a:t>
            </a:r>
            <a:r>
              <a:rPr lang="en-US" dirty="0" err="1">
                <a:cs typeface="Times New Roman" charset="0"/>
                <a:sym typeface="Times New Roman" charset="0"/>
              </a:rPr>
              <a:t>Jorn</a:t>
            </a:r>
            <a:r>
              <a:rPr lang="en-US" dirty="0">
                <a:cs typeface="Times New Roman" charset="0"/>
                <a:sym typeface="Times New Roman" charset="0"/>
              </a:rPr>
              <a:t> </a:t>
            </a:r>
            <a:r>
              <a:rPr lang="en-US" dirty="0" err="1">
                <a:cs typeface="Times New Roman" charset="0"/>
                <a:sym typeface="Times New Roman" charset="0"/>
              </a:rPr>
              <a:t>Utzon</a:t>
            </a:r>
            <a:r>
              <a:rPr lang="en-US" dirty="0">
                <a:cs typeface="Times New Roman" charset="0"/>
                <a:sym typeface="Times New Roman" charset="0"/>
              </a:rPr>
              <a:t> resigned from the project. The building was eventually completed by others in 1973. After more than 30 years, the Sydney Opera House has its first interior designed by </a:t>
            </a:r>
            <a:r>
              <a:rPr lang="en-US" dirty="0" err="1">
                <a:cs typeface="Times New Roman" charset="0"/>
                <a:sym typeface="Times New Roman" charset="0"/>
              </a:rPr>
              <a:t>Utzon</a:t>
            </a:r>
            <a:r>
              <a:rPr lang="en-US" dirty="0">
                <a:cs typeface="Times New Roman" charset="0"/>
                <a:sym typeface="Times New Roman" charset="0"/>
              </a:rPr>
              <a:t>. The </a:t>
            </a:r>
            <a:r>
              <a:rPr lang="en-US" dirty="0" err="1">
                <a:cs typeface="Times New Roman" charset="0"/>
                <a:sym typeface="Times New Roman" charset="0"/>
              </a:rPr>
              <a:t>Utzon</a:t>
            </a:r>
            <a:r>
              <a:rPr lang="en-US" dirty="0">
                <a:cs typeface="Times New Roman" charset="0"/>
                <a:sym typeface="Times New Roman" charset="0"/>
              </a:rPr>
              <a:t> Room, a transformed reception hall that brings to life </a:t>
            </a:r>
            <a:r>
              <a:rPr lang="en-US" dirty="0" err="1">
                <a:cs typeface="Times New Roman" charset="0"/>
                <a:sym typeface="Times New Roman" charset="0"/>
              </a:rPr>
              <a:t>Jorn</a:t>
            </a:r>
            <a:r>
              <a:rPr lang="en-US" dirty="0">
                <a:cs typeface="Times New Roman" charset="0"/>
                <a:sym typeface="Times New Roman" charset="0"/>
              </a:rPr>
              <a:t> </a:t>
            </a:r>
            <a:r>
              <a:rPr lang="en-US" dirty="0" err="1">
                <a:cs typeface="Times New Roman" charset="0"/>
                <a:sym typeface="Times New Roman" charset="0"/>
              </a:rPr>
              <a:t>Utzon's</a:t>
            </a:r>
            <a:r>
              <a:rPr lang="en-US" dirty="0">
                <a:cs typeface="Times New Roman" charset="0"/>
                <a:sym typeface="Times New Roman" charset="0"/>
              </a:rPr>
              <a:t> original vision for his masterpiece, was officially opened on September 16 2004.The Sydney Opera House was included in the National Heritage List in 2005, and inscribed on the World Heritage List in 2007.</a:t>
            </a:r>
          </a:p>
        </p:txBody>
      </p:sp>
      <p:sp>
        <p:nvSpPr>
          <p:cNvPr id="2" name="Date Placeholder 1"/>
          <p:cNvSpPr>
            <a:spLocks noGrp="1"/>
          </p:cNvSpPr>
          <p:nvPr>
            <p:ph type="dt" idx="10"/>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1"/>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0242" name="Rectangle 2"/>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txBody>
          <a:bodyPr/>
          <a:lstStyle/>
          <a:p>
            <a:pPr marL="39688">
              <a:spcBef>
                <a:spcPts val="450"/>
              </a:spcBef>
            </a:pPr>
            <a:r>
              <a:rPr lang="en-US" dirty="0">
                <a:solidFill>
                  <a:srgbClr val="000000"/>
                </a:solidFill>
                <a:cs typeface="Times New Roman" charset="0"/>
                <a:sym typeface="Times New Roman" charset="0"/>
              </a:rPr>
              <a:t>Uma </a:t>
            </a:r>
            <a:r>
              <a:rPr lang="en-US" dirty="0" err="1">
                <a:solidFill>
                  <a:srgbClr val="000000"/>
                </a:solidFill>
                <a:cs typeface="Times New Roman" charset="0"/>
                <a:sym typeface="Times New Roman" charset="0"/>
              </a:rPr>
              <a:t>pergunta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mais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interessante</a:t>
            </a:r>
            <a:r>
              <a:rPr lang="en-US" dirty="0">
                <a:solidFill>
                  <a:srgbClr val="000000"/>
                </a:solidFill>
                <a:cs typeface="Times New Roman" charset="0"/>
                <a:sym typeface="Times New Roman" charset="0"/>
              </a:rPr>
              <a:t> é se a </a:t>
            </a:r>
            <a:r>
              <a:rPr lang="en-US" dirty="0" err="1">
                <a:solidFill>
                  <a:srgbClr val="000000"/>
                </a:solidFill>
                <a:cs typeface="Times New Roman" charset="0"/>
                <a:sym typeface="Times New Roman" charset="0"/>
              </a:rPr>
              <a:t>engenharia</a:t>
            </a:r>
            <a:r>
              <a:rPr lang="en-US" dirty="0">
                <a:solidFill>
                  <a:srgbClr val="000000"/>
                </a:solidFill>
                <a:cs typeface="Times New Roman" charset="0"/>
                <a:sym typeface="Times New Roman" charset="0"/>
              </a:rPr>
              <a:t> de software </a:t>
            </a:r>
            <a:r>
              <a:rPr lang="en-US" dirty="0" err="1">
                <a:solidFill>
                  <a:srgbClr val="000000"/>
                </a:solidFill>
                <a:cs typeface="Times New Roman" charset="0"/>
                <a:sym typeface="Times New Roman" charset="0"/>
              </a:rPr>
              <a:t>deve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ser</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incluida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na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mesma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categoria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que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outras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engenharias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tradicionais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como</a:t>
            </a:r>
            <a:r>
              <a:rPr lang="en-US" dirty="0">
                <a:solidFill>
                  <a:srgbClr val="000000"/>
                </a:solidFill>
                <a:cs typeface="Times New Roman" charset="0"/>
                <a:sym typeface="Times New Roman" charset="0"/>
              </a:rPr>
              <a:t> as </a:t>
            </a:r>
            <a:r>
              <a:rPr lang="en-US" dirty="0" err="1">
                <a:solidFill>
                  <a:srgbClr val="000000"/>
                </a:solidFill>
                <a:cs typeface="Times New Roman" charset="0"/>
                <a:sym typeface="Times New Roman" charset="0"/>
              </a:rPr>
              <a:t>engenharias</a:t>
            </a:r>
            <a:r>
              <a:rPr lang="en-US" dirty="0">
                <a:solidFill>
                  <a:srgbClr val="000000"/>
                </a:solidFill>
                <a:cs typeface="Times New Roman" charset="0"/>
                <a:sym typeface="Times New Roman" charset="0"/>
              </a:rPr>
              <a:t> civil, </a:t>
            </a:r>
            <a:r>
              <a:rPr lang="en-US" dirty="0" err="1">
                <a:solidFill>
                  <a:srgbClr val="000000"/>
                </a:solidFill>
                <a:cs typeface="Times New Roman" charset="0"/>
                <a:sym typeface="Times New Roman" charset="0"/>
              </a:rPr>
              <a:t>elétrica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química</a:t>
            </a:r>
            <a:r>
              <a:rPr lang="en-US" dirty="0">
                <a:solidFill>
                  <a:srgbClr val="000000"/>
                </a:solidFill>
                <a:cs typeface="Times New Roman" charset="0"/>
                <a:sym typeface="Times New Roman" charset="0"/>
              </a:rPr>
              <a:t>, entre </a:t>
            </a:r>
            <a:r>
              <a:rPr lang="en-US" dirty="0" err="1">
                <a:solidFill>
                  <a:srgbClr val="000000"/>
                </a:solidFill>
                <a:cs typeface="Times New Roman" charset="0"/>
                <a:sym typeface="Times New Roman" charset="0"/>
              </a:rPr>
              <a:t>outras</a:t>
            </a:r>
            <a:r>
              <a:rPr lang="en-US" dirty="0">
                <a:solidFill>
                  <a:srgbClr val="000000"/>
                </a:solidFill>
                <a:cs typeface="Times New Roman" charset="0"/>
                <a:sym typeface="Times New Roman" charset="0"/>
              </a:rPr>
              <a:t>.</a:t>
            </a:r>
          </a:p>
          <a:p>
            <a:pPr marL="39688">
              <a:spcBef>
                <a:spcPts val="450"/>
              </a:spcBef>
            </a:pPr>
            <a:endParaRPr lang="en-US" dirty="0">
              <a:solidFill>
                <a:srgbClr val="000000"/>
              </a:solidFill>
              <a:cs typeface="Times New Roman" charset="0"/>
              <a:sym typeface="Times New Roman" charset="0"/>
            </a:endParaRPr>
          </a:p>
          <a:p>
            <a:pPr marL="39688">
              <a:spcBef>
                <a:spcPts val="450"/>
              </a:spcBef>
            </a:pPr>
            <a:r>
              <a:rPr lang="en-US" dirty="0" err="1">
                <a:solidFill>
                  <a:srgbClr val="000000"/>
                </a:solidFill>
                <a:cs typeface="Times New Roman" charset="0"/>
                <a:sym typeface="Times New Roman" charset="0"/>
              </a:rPr>
              <a:t>Há</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dois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aspectos</a:t>
            </a:r>
            <a:r>
              <a:rPr lang="en-US" dirty="0">
                <a:solidFill>
                  <a:srgbClr val="000000"/>
                </a:solidFill>
                <a:cs typeface="Times New Roman" charset="0"/>
                <a:sym typeface="Times New Roman" charset="0"/>
              </a:rPr>
              <a:t> a se </a:t>
            </a:r>
            <a:r>
              <a:rPr lang="en-US" dirty="0" err="1">
                <a:solidFill>
                  <a:srgbClr val="000000"/>
                </a:solidFill>
                <a:cs typeface="Times New Roman" charset="0"/>
                <a:sym typeface="Times New Roman" charset="0"/>
              </a:rPr>
              <a:t>considerar</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para</a:t>
            </a:r>
            <a:r>
              <a:rPr lang="en-US" dirty="0">
                <a:solidFill>
                  <a:srgbClr val="000000"/>
                </a:solidFill>
                <a:cs typeface="Times New Roman" charset="0"/>
                <a:sym typeface="Times New Roman" charset="0"/>
              </a:rPr>
              <a:t> se responder a </a:t>
            </a:r>
            <a:r>
              <a:rPr lang="en-US" dirty="0" err="1">
                <a:solidFill>
                  <a:srgbClr val="000000"/>
                </a:solidFill>
                <a:cs typeface="Times New Roman" charset="0"/>
                <a:sym typeface="Times New Roman" charset="0"/>
              </a:rPr>
              <a:t>essa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pergunta</a:t>
            </a:r>
            <a:r>
              <a:rPr lang="en-US" dirty="0">
                <a:solidFill>
                  <a:srgbClr val="000000"/>
                </a:solidFill>
                <a:cs typeface="Times New Roman" charset="0"/>
                <a:sym typeface="Times New Roman" charset="0"/>
              </a:rPr>
              <a:t>: o </a:t>
            </a:r>
            <a:r>
              <a:rPr lang="en-US" dirty="0" err="1">
                <a:solidFill>
                  <a:srgbClr val="000000"/>
                </a:solidFill>
                <a:cs typeface="Times New Roman" charset="0"/>
                <a:sym typeface="Times New Roman" charset="0"/>
              </a:rPr>
              <a:t>aspecto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conceitual</a:t>
            </a:r>
            <a:r>
              <a:rPr lang="en-US" dirty="0">
                <a:solidFill>
                  <a:srgbClr val="000000"/>
                </a:solidFill>
                <a:cs typeface="Times New Roman" charset="0"/>
                <a:sym typeface="Times New Roman" charset="0"/>
              </a:rPr>
              <a:t> do </a:t>
            </a:r>
            <a:r>
              <a:rPr lang="en-US" dirty="0" err="1">
                <a:solidFill>
                  <a:srgbClr val="000000"/>
                </a:solidFill>
                <a:cs typeface="Times New Roman" charset="0"/>
                <a:sym typeface="Times New Roman" charset="0"/>
              </a:rPr>
              <a:t>que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caracteriza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uma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atividade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ou</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disciplina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como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sendo</a:t>
            </a:r>
            <a:r>
              <a:rPr lang="en-US" dirty="0">
                <a:solidFill>
                  <a:srgbClr val="000000"/>
                </a:solidFill>
                <a:cs typeface="Times New Roman" charset="0"/>
                <a:sym typeface="Times New Roman" charset="0"/>
              </a:rPr>
              <a:t> de </a:t>
            </a:r>
            <a:r>
              <a:rPr lang="en-US" dirty="0" err="1">
                <a:solidFill>
                  <a:srgbClr val="000000"/>
                </a:solidFill>
                <a:cs typeface="Times New Roman" charset="0"/>
                <a:sym typeface="Times New Roman" charset="0"/>
              </a:rPr>
              <a:t>engenharia</a:t>
            </a:r>
            <a:r>
              <a:rPr lang="en-US" dirty="0">
                <a:solidFill>
                  <a:srgbClr val="000000"/>
                </a:solidFill>
                <a:cs typeface="Times New Roman" charset="0"/>
                <a:sym typeface="Times New Roman" charset="0"/>
              </a:rPr>
              <a:t>, e o </a:t>
            </a:r>
            <a:r>
              <a:rPr lang="en-US" dirty="0" err="1">
                <a:solidFill>
                  <a:srgbClr val="000000"/>
                </a:solidFill>
                <a:cs typeface="Times New Roman" charset="0"/>
                <a:sym typeface="Times New Roman" charset="0"/>
              </a:rPr>
              <a:t>aspecto</a:t>
            </a:r>
            <a:r>
              <a:rPr lang="en-US" dirty="0">
                <a:solidFill>
                  <a:srgbClr val="000000"/>
                </a:solidFill>
                <a:cs typeface="Times New Roman" charset="0"/>
                <a:sym typeface="Times New Roman" charset="0"/>
              </a:rPr>
              <a:t> legal </a:t>
            </a:r>
            <a:r>
              <a:rPr lang="en-US" dirty="0" err="1">
                <a:solidFill>
                  <a:srgbClr val="000000"/>
                </a:solidFill>
                <a:cs typeface="Times New Roman" charset="0"/>
                <a:sym typeface="Times New Roman" charset="0"/>
              </a:rPr>
              <a:t>relativo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ao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licenciamento</a:t>
            </a:r>
            <a:r>
              <a:rPr lang="en-US" dirty="0">
                <a:solidFill>
                  <a:srgbClr val="000000"/>
                </a:solidFill>
                <a:cs typeface="Times New Roman" charset="0"/>
                <a:sym typeface="Times New Roman" charset="0"/>
              </a:rPr>
              <a:t> e </a:t>
            </a:r>
            <a:r>
              <a:rPr lang="en-US" dirty="0" err="1">
                <a:solidFill>
                  <a:srgbClr val="000000"/>
                </a:solidFill>
                <a:cs typeface="Times New Roman" charset="0"/>
                <a:sym typeface="Times New Roman" charset="0"/>
              </a:rPr>
              <a:t>regulamentação</a:t>
            </a:r>
            <a:r>
              <a:rPr lang="en-US" dirty="0">
                <a:solidFill>
                  <a:srgbClr val="000000"/>
                </a:solidFill>
                <a:cs typeface="Times New Roman" charset="0"/>
                <a:sym typeface="Times New Roman" charset="0"/>
              </a:rPr>
              <a:t> da </a:t>
            </a:r>
            <a:r>
              <a:rPr lang="en-US" dirty="0" err="1">
                <a:solidFill>
                  <a:srgbClr val="000000"/>
                </a:solidFill>
                <a:cs typeface="Times New Roman" charset="0"/>
                <a:sym typeface="Times New Roman" charset="0"/>
              </a:rPr>
              <a:t>profissão</a:t>
            </a:r>
            <a:r>
              <a:rPr lang="en-US" dirty="0">
                <a:solidFill>
                  <a:srgbClr val="000000"/>
                </a:solidFill>
                <a:cs typeface="Times New Roman" charset="0"/>
                <a:sym typeface="Times New Roman" charset="0"/>
              </a:rPr>
              <a:t> de </a:t>
            </a:r>
            <a:r>
              <a:rPr lang="en-US" dirty="0" err="1">
                <a:solidFill>
                  <a:srgbClr val="000000"/>
                </a:solidFill>
                <a:cs typeface="Times New Roman" charset="0"/>
                <a:sym typeface="Times New Roman" charset="0"/>
              </a:rPr>
              <a:t>engenheiro</a:t>
            </a:r>
            <a:r>
              <a:rPr lang="en-US" dirty="0">
                <a:solidFill>
                  <a:srgbClr val="000000"/>
                </a:solidFill>
                <a:cs typeface="Times New Roman" charset="0"/>
                <a:sym typeface="Times New Roman" charset="0"/>
              </a:rPr>
              <a:t>.</a:t>
            </a:r>
          </a:p>
        </p:txBody>
      </p:sp>
      <p:sp>
        <p:nvSpPr>
          <p:cNvPr id="2" name="Date Placeholder 1"/>
          <p:cNvSpPr>
            <a:spLocks noGrp="1"/>
          </p:cNvSpPr>
          <p:nvPr>
            <p:ph type="dt" idx="10"/>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4338" name="Rectangle 2"/>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txBody>
          <a:bodyPr/>
          <a:lstStyle/>
          <a:p>
            <a:pPr marL="39688">
              <a:spcBef>
                <a:spcPts val="450"/>
              </a:spcBef>
            </a:pPr>
            <a:r>
              <a:rPr lang="en-US" dirty="0" err="1">
                <a:solidFill>
                  <a:srgbClr val="000000"/>
                </a:solidFill>
                <a:cs typeface="Times New Roman" charset="0"/>
                <a:sym typeface="Times New Roman" charset="0"/>
              </a:rPr>
              <a:t>Falta</a:t>
            </a:r>
            <a:r>
              <a:rPr lang="en-US" dirty="0">
                <a:solidFill>
                  <a:srgbClr val="000000"/>
                </a:solidFill>
                <a:cs typeface="Times New Roman" charset="0"/>
                <a:sym typeface="Times New Roman" charset="0"/>
              </a:rPr>
              <a:t> MEDIDAS</a:t>
            </a:r>
          </a:p>
          <a:p>
            <a:pPr marL="39688">
              <a:spcBef>
                <a:spcPts val="450"/>
              </a:spcBef>
            </a:pPr>
            <a:r>
              <a:rPr lang="en-US" dirty="0" err="1">
                <a:solidFill>
                  <a:srgbClr val="000000"/>
                </a:solidFill>
                <a:cs typeface="Times New Roman" charset="0"/>
                <a:sym typeface="Times New Roman" charset="0"/>
              </a:rPr>
              <a:t>Eu</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prefiro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usar</a:t>
            </a:r>
            <a:r>
              <a:rPr lang="en-US" dirty="0">
                <a:solidFill>
                  <a:srgbClr val="000000"/>
                </a:solidFill>
                <a:cs typeface="Times New Roman" charset="0"/>
                <a:sym typeface="Times New Roman" charset="0"/>
              </a:rPr>
              <a:t> o </a:t>
            </a:r>
            <a:r>
              <a:rPr lang="en-US" dirty="0" err="1">
                <a:solidFill>
                  <a:srgbClr val="000000"/>
                </a:solidFill>
                <a:cs typeface="Times New Roman" charset="0"/>
                <a:sym typeface="Times New Roman" charset="0"/>
              </a:rPr>
              <a:t>inglês</a:t>
            </a:r>
            <a:r>
              <a:rPr lang="en-US" dirty="0">
                <a:solidFill>
                  <a:srgbClr val="000000"/>
                </a:solidFill>
                <a:cs typeface="Times New Roman" charset="0"/>
                <a:sym typeface="Times New Roman" charset="0"/>
              </a:rPr>
              <a:t> </a:t>
            </a:r>
            <a:r>
              <a:rPr lang="ja-JP" altLang="en-US" dirty="0">
                <a:solidFill>
                  <a:srgbClr val="000000"/>
                </a:solidFill>
                <a:latin typeface="Arial"/>
                <a:cs typeface="Times New Roman" charset="0"/>
                <a:sym typeface="Times New Roman" charset="0"/>
              </a:rPr>
              <a:t>“</a:t>
            </a:r>
            <a:r>
              <a:rPr lang="en-US" dirty="0">
                <a:solidFill>
                  <a:srgbClr val="000000"/>
                </a:solidFill>
                <a:cs typeface="Times New Roman" charset="0"/>
                <a:sym typeface="Times New Roman" charset="0"/>
              </a:rPr>
              <a:t>pattern</a:t>
            </a:r>
            <a:r>
              <a:rPr lang="ja-JP" altLang="en-US" dirty="0">
                <a:solidFill>
                  <a:srgbClr val="000000"/>
                </a:solidFill>
                <a:latin typeface="Arial"/>
                <a:cs typeface="Times New Roman" charset="0"/>
                <a:sym typeface="Times New Roman" charset="0"/>
              </a:rPr>
              <a:t>”</a:t>
            </a:r>
            <a:r>
              <a:rPr lang="en-US" dirty="0">
                <a:solidFill>
                  <a:srgbClr val="000000"/>
                </a:solidFill>
                <a:cs typeface="Times New Roman" charset="0"/>
                <a:sym typeface="Times New Roman" charset="0"/>
              </a:rPr>
              <a:t> no </a:t>
            </a:r>
            <a:r>
              <a:rPr lang="en-US" dirty="0" err="1">
                <a:solidFill>
                  <a:srgbClr val="000000"/>
                </a:solidFill>
                <a:cs typeface="Times New Roman" charset="0"/>
                <a:sym typeface="Times New Roman" charset="0"/>
              </a:rPr>
              <a:t>lugar</a:t>
            </a:r>
            <a:r>
              <a:rPr lang="en-US" dirty="0">
                <a:solidFill>
                  <a:srgbClr val="000000"/>
                </a:solidFill>
                <a:cs typeface="Times New Roman" charset="0"/>
                <a:sym typeface="Times New Roman" charset="0"/>
              </a:rPr>
              <a:t> de </a:t>
            </a:r>
            <a:r>
              <a:rPr lang="ja-JP" altLang="en-US" dirty="0">
                <a:solidFill>
                  <a:srgbClr val="000000"/>
                </a:solidFill>
                <a:latin typeface="Arial"/>
                <a:cs typeface="Times New Roman" charset="0"/>
                <a:sym typeface="Times New Roman" charset="0"/>
              </a:rPr>
              <a:t>“</a:t>
            </a:r>
            <a:r>
              <a:rPr lang="en-US" dirty="0" err="1">
                <a:solidFill>
                  <a:srgbClr val="000000"/>
                </a:solidFill>
                <a:cs typeface="Times New Roman" charset="0"/>
                <a:sym typeface="Times New Roman" charset="0"/>
              </a:rPr>
              <a:t>padrão</a:t>
            </a:r>
            <a:r>
              <a:rPr lang="ja-JP" altLang="en-US" dirty="0">
                <a:solidFill>
                  <a:srgbClr val="000000"/>
                </a:solidFill>
                <a:latin typeface="Arial"/>
                <a:cs typeface="Times New Roman" charset="0"/>
                <a:sym typeface="Times New Roman" charset="0"/>
              </a:rPr>
              <a:t>”</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pois</a:t>
            </a:r>
            <a:r>
              <a:rPr lang="en-US" dirty="0">
                <a:solidFill>
                  <a:srgbClr val="000000"/>
                </a:solidFill>
                <a:cs typeface="Times New Roman" charset="0"/>
                <a:sym typeface="Times New Roman" charset="0"/>
              </a:rPr>
              <a:t> </a:t>
            </a:r>
            <a:r>
              <a:rPr lang="ja-JP" altLang="en-US" dirty="0">
                <a:solidFill>
                  <a:srgbClr val="000000"/>
                </a:solidFill>
                <a:latin typeface="Arial"/>
                <a:cs typeface="Times New Roman" charset="0"/>
                <a:sym typeface="Times New Roman" charset="0"/>
              </a:rPr>
              <a:t>“</a:t>
            </a:r>
            <a:r>
              <a:rPr lang="en-US" dirty="0" err="1">
                <a:solidFill>
                  <a:srgbClr val="000000"/>
                </a:solidFill>
                <a:cs typeface="Times New Roman" charset="0"/>
                <a:sym typeface="Times New Roman" charset="0"/>
              </a:rPr>
              <a:t>padrão</a:t>
            </a:r>
            <a:r>
              <a:rPr lang="ja-JP" altLang="en-US" dirty="0">
                <a:solidFill>
                  <a:srgbClr val="000000"/>
                </a:solidFill>
                <a:latin typeface="Arial"/>
                <a:cs typeface="Times New Roman" charset="0"/>
                <a:sym typeface="Times New Roman" charset="0"/>
              </a:rPr>
              <a:t>”</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também</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quer</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dizer</a:t>
            </a:r>
            <a:r>
              <a:rPr lang="en-US" dirty="0">
                <a:solidFill>
                  <a:srgbClr val="000000"/>
                </a:solidFill>
                <a:cs typeface="Times New Roman" charset="0"/>
                <a:sym typeface="Times New Roman" charset="0"/>
              </a:rPr>
              <a:t> </a:t>
            </a:r>
            <a:r>
              <a:rPr lang="ja-JP" altLang="en-US" dirty="0">
                <a:solidFill>
                  <a:srgbClr val="000000"/>
                </a:solidFill>
                <a:latin typeface="Arial"/>
                <a:cs typeface="Times New Roman" charset="0"/>
                <a:sym typeface="Times New Roman" charset="0"/>
              </a:rPr>
              <a:t>“</a:t>
            </a:r>
            <a:r>
              <a:rPr lang="en-US" dirty="0" err="1">
                <a:solidFill>
                  <a:srgbClr val="000000"/>
                </a:solidFill>
                <a:cs typeface="Times New Roman" charset="0"/>
                <a:sym typeface="Times New Roman" charset="0"/>
              </a:rPr>
              <a:t>norma</a:t>
            </a:r>
            <a:r>
              <a:rPr lang="ja-JP" altLang="en-US" dirty="0">
                <a:solidFill>
                  <a:srgbClr val="000000"/>
                </a:solidFill>
                <a:latin typeface="Arial"/>
                <a:cs typeface="Times New Roman" charset="0"/>
                <a:sym typeface="Times New Roman" charset="0"/>
              </a:rPr>
              <a:t>”</a:t>
            </a:r>
            <a:r>
              <a:rPr lang="en-US" dirty="0">
                <a:solidFill>
                  <a:srgbClr val="000000"/>
                </a:solidFill>
                <a:cs typeface="Times New Roman" charset="0"/>
                <a:sym typeface="Times New Roman" charset="0"/>
              </a:rPr>
              <a:t>, o </a:t>
            </a:r>
            <a:r>
              <a:rPr lang="en-US" dirty="0" err="1">
                <a:solidFill>
                  <a:srgbClr val="000000"/>
                </a:solidFill>
                <a:cs typeface="Times New Roman" charset="0"/>
                <a:sym typeface="Times New Roman" charset="0"/>
              </a:rPr>
              <a:t>que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causa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muita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confusão</a:t>
            </a:r>
            <a:r>
              <a:rPr lang="en-US" dirty="0">
                <a:solidFill>
                  <a:srgbClr val="000000"/>
                </a:solidFill>
                <a:cs typeface="Times New Roman" charset="0"/>
                <a:sym typeface="Times New Roman" charset="0"/>
              </a:rPr>
              <a:t>. Na </a:t>
            </a:r>
            <a:r>
              <a:rPr lang="en-US" dirty="0" err="1">
                <a:solidFill>
                  <a:srgbClr val="000000"/>
                </a:solidFill>
                <a:cs typeface="Times New Roman" charset="0"/>
                <a:sym typeface="Times New Roman" charset="0"/>
              </a:rPr>
              <a:t>minha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opinião</a:t>
            </a:r>
            <a:r>
              <a:rPr lang="en-US" dirty="0">
                <a:solidFill>
                  <a:srgbClr val="000000"/>
                </a:solidFill>
                <a:cs typeface="Times New Roman" charset="0"/>
                <a:sym typeface="Times New Roman" charset="0"/>
              </a:rPr>
              <a:t> a </a:t>
            </a:r>
            <a:r>
              <a:rPr lang="en-US" dirty="0" err="1">
                <a:solidFill>
                  <a:srgbClr val="000000"/>
                </a:solidFill>
                <a:cs typeface="Times New Roman" charset="0"/>
                <a:sym typeface="Times New Roman" charset="0"/>
              </a:rPr>
              <a:t>tradução</a:t>
            </a:r>
            <a:r>
              <a:rPr lang="en-US" dirty="0">
                <a:solidFill>
                  <a:srgbClr val="000000"/>
                </a:solidFill>
                <a:cs typeface="Times New Roman" charset="0"/>
                <a:sym typeface="Times New Roman" charset="0"/>
              </a:rPr>
              <a:t> ideal </a:t>
            </a:r>
            <a:r>
              <a:rPr lang="en-US" dirty="0" err="1">
                <a:solidFill>
                  <a:srgbClr val="000000"/>
                </a:solidFill>
                <a:cs typeface="Times New Roman" charset="0"/>
                <a:sym typeface="Times New Roman" charset="0"/>
              </a:rPr>
              <a:t>seria</a:t>
            </a:r>
            <a:r>
              <a:rPr lang="en-US" dirty="0">
                <a:solidFill>
                  <a:srgbClr val="000000"/>
                </a:solidFill>
                <a:cs typeface="Times New Roman" charset="0"/>
                <a:sym typeface="Times New Roman" charset="0"/>
              </a:rPr>
              <a:t> </a:t>
            </a:r>
            <a:r>
              <a:rPr lang="ja-JP" altLang="en-US" dirty="0">
                <a:solidFill>
                  <a:srgbClr val="000000"/>
                </a:solidFill>
                <a:latin typeface="Arial"/>
                <a:cs typeface="Times New Roman" charset="0"/>
                <a:sym typeface="Times New Roman" charset="0"/>
              </a:rPr>
              <a:t>“</a:t>
            </a:r>
            <a:r>
              <a:rPr lang="en-US" dirty="0" err="1">
                <a:solidFill>
                  <a:srgbClr val="000000"/>
                </a:solidFill>
                <a:cs typeface="Times New Roman" charset="0"/>
                <a:sym typeface="Times New Roman" charset="0"/>
              </a:rPr>
              <a:t>molde</a:t>
            </a:r>
            <a:r>
              <a:rPr lang="ja-JP" altLang="en-US" dirty="0">
                <a:solidFill>
                  <a:srgbClr val="000000"/>
                </a:solidFill>
                <a:latin typeface="Arial"/>
                <a:cs typeface="Times New Roman" charset="0"/>
                <a:sym typeface="Times New Roman" charset="0"/>
              </a:rPr>
              <a:t>”</a:t>
            </a:r>
            <a:r>
              <a:rPr lang="en-US" dirty="0">
                <a:solidFill>
                  <a:srgbClr val="000000"/>
                </a:solidFill>
                <a:cs typeface="Times New Roman" charset="0"/>
                <a:sym typeface="Times New Roman" charset="0"/>
              </a:rPr>
              <a:t>, mas </a:t>
            </a:r>
            <a:r>
              <a:rPr lang="en-US" dirty="0" err="1">
                <a:solidFill>
                  <a:srgbClr val="000000"/>
                </a:solidFill>
                <a:cs typeface="Times New Roman" charset="0"/>
                <a:sym typeface="Times New Roman" charset="0"/>
              </a:rPr>
              <a:t>mesmo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essa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não</a:t>
            </a:r>
            <a:r>
              <a:rPr lang="en-US" dirty="0">
                <a:solidFill>
                  <a:srgbClr val="000000"/>
                </a:solidFill>
                <a:cs typeface="Times New Roman" charset="0"/>
                <a:sym typeface="Times New Roman" charset="0"/>
              </a:rPr>
              <a:t> é </a:t>
            </a:r>
            <a:r>
              <a:rPr lang="en-US" dirty="0" err="1">
                <a:solidFill>
                  <a:srgbClr val="000000"/>
                </a:solidFill>
                <a:cs typeface="Times New Roman" charset="0"/>
                <a:sym typeface="Times New Roman" charset="0"/>
              </a:rPr>
              <a:t>perfeita</a:t>
            </a:r>
            <a:r>
              <a:rPr lang="en-US" dirty="0">
                <a:solidFill>
                  <a:srgbClr val="000000"/>
                </a:solidFill>
                <a:cs typeface="Times New Roman" charset="0"/>
                <a:sym typeface="Times New Roman" charset="0"/>
              </a:rPr>
              <a:t>.</a:t>
            </a:r>
          </a:p>
        </p:txBody>
      </p:sp>
      <p:sp>
        <p:nvSpPr>
          <p:cNvPr id="2" name="Date Placeholder 1"/>
          <p:cNvSpPr>
            <a:spLocks noGrp="1"/>
          </p:cNvSpPr>
          <p:nvPr>
            <p:ph type="dt" idx="10"/>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6386" name="Rectangle 2"/>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txBody>
          <a:bodyPr/>
          <a:lstStyle/>
          <a:p>
            <a:pPr marL="39688">
              <a:spcBef>
                <a:spcPts val="450"/>
              </a:spcBef>
            </a:pPr>
            <a:r>
              <a:rPr lang="en-US" dirty="0">
                <a:solidFill>
                  <a:srgbClr val="000000"/>
                </a:solidFill>
                <a:cs typeface="Times New Roman" charset="0"/>
                <a:sym typeface="Times New Roman" charset="0"/>
              </a:rPr>
              <a:t>A </a:t>
            </a:r>
            <a:r>
              <a:rPr lang="en-US" dirty="0" err="1">
                <a:solidFill>
                  <a:srgbClr val="000000"/>
                </a:solidFill>
                <a:cs typeface="Times New Roman" charset="0"/>
                <a:sym typeface="Times New Roman" charset="0"/>
              </a:rPr>
              <a:t>engenharia</a:t>
            </a:r>
            <a:r>
              <a:rPr lang="en-US" dirty="0">
                <a:solidFill>
                  <a:srgbClr val="000000"/>
                </a:solidFill>
                <a:cs typeface="Times New Roman" charset="0"/>
                <a:sym typeface="Times New Roman" charset="0"/>
              </a:rPr>
              <a:t> de software </a:t>
            </a:r>
            <a:r>
              <a:rPr lang="en-US" dirty="0" err="1">
                <a:solidFill>
                  <a:srgbClr val="000000"/>
                </a:solidFill>
                <a:cs typeface="Times New Roman" charset="0"/>
                <a:sym typeface="Times New Roman" charset="0"/>
              </a:rPr>
              <a:t>foi</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durante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muitos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anos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uma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disciplina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ou</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especialização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dentro</a:t>
            </a:r>
            <a:r>
              <a:rPr lang="en-US" dirty="0">
                <a:solidFill>
                  <a:srgbClr val="000000"/>
                </a:solidFill>
                <a:cs typeface="Times New Roman" charset="0"/>
                <a:sym typeface="Times New Roman" charset="0"/>
              </a:rPr>
              <a:t> da </a:t>
            </a:r>
            <a:r>
              <a:rPr lang="en-US" dirty="0" err="1">
                <a:solidFill>
                  <a:srgbClr val="000000"/>
                </a:solidFill>
                <a:cs typeface="Times New Roman" charset="0"/>
                <a:sym typeface="Times New Roman" charset="0"/>
              </a:rPr>
              <a:t>ciência</a:t>
            </a:r>
            <a:r>
              <a:rPr lang="en-US" dirty="0">
                <a:solidFill>
                  <a:srgbClr val="000000"/>
                </a:solidFill>
                <a:cs typeface="Times New Roman" charset="0"/>
                <a:sym typeface="Times New Roman" charset="0"/>
              </a:rPr>
              <a:t> da </a:t>
            </a:r>
            <a:r>
              <a:rPr lang="en-US" dirty="0" err="1">
                <a:solidFill>
                  <a:srgbClr val="000000"/>
                </a:solidFill>
                <a:cs typeface="Times New Roman" charset="0"/>
                <a:sym typeface="Times New Roman" charset="0"/>
              </a:rPr>
              <a:t>computação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Grupos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acadêmicos</a:t>
            </a:r>
            <a:r>
              <a:rPr lang="en-US" dirty="0">
                <a:solidFill>
                  <a:srgbClr val="000000"/>
                </a:solidFill>
                <a:cs typeface="Times New Roman" charset="0"/>
                <a:sym typeface="Times New Roman" charset="0"/>
              </a:rPr>
              <a:t> de </a:t>
            </a:r>
            <a:r>
              <a:rPr lang="en-US" dirty="0" err="1">
                <a:solidFill>
                  <a:srgbClr val="000000"/>
                </a:solidFill>
                <a:cs typeface="Times New Roman" charset="0"/>
                <a:sym typeface="Times New Roman" charset="0"/>
              </a:rPr>
              <a:t>engenharia</a:t>
            </a:r>
            <a:r>
              <a:rPr lang="en-US" dirty="0">
                <a:solidFill>
                  <a:srgbClr val="000000"/>
                </a:solidFill>
                <a:cs typeface="Times New Roman" charset="0"/>
                <a:sym typeface="Times New Roman" charset="0"/>
              </a:rPr>
              <a:t> de software </a:t>
            </a:r>
            <a:r>
              <a:rPr lang="en-US" dirty="0" err="1">
                <a:solidFill>
                  <a:srgbClr val="000000"/>
                </a:solidFill>
                <a:cs typeface="Times New Roman" charset="0"/>
                <a:sym typeface="Times New Roman" charset="0"/>
              </a:rPr>
              <a:t>fazem</a:t>
            </a:r>
            <a:r>
              <a:rPr lang="en-US" dirty="0">
                <a:solidFill>
                  <a:srgbClr val="000000"/>
                </a:solidFill>
                <a:cs typeface="Times New Roman" charset="0"/>
                <a:sym typeface="Times New Roman" charset="0"/>
              </a:rPr>
              <a:t> parte de </a:t>
            </a:r>
            <a:r>
              <a:rPr lang="en-US" dirty="0" err="1">
                <a:solidFill>
                  <a:srgbClr val="000000"/>
                </a:solidFill>
                <a:cs typeface="Times New Roman" charset="0"/>
                <a:sym typeface="Times New Roman" charset="0"/>
              </a:rPr>
              <a:t>departamentos</a:t>
            </a:r>
            <a:r>
              <a:rPr lang="en-US" dirty="0">
                <a:solidFill>
                  <a:srgbClr val="000000"/>
                </a:solidFill>
                <a:cs typeface="Times New Roman" charset="0"/>
                <a:sym typeface="Times New Roman" charset="0"/>
              </a:rPr>
              <a:t> de </a:t>
            </a:r>
            <a:r>
              <a:rPr lang="en-US" dirty="0" err="1">
                <a:solidFill>
                  <a:srgbClr val="000000"/>
                </a:solidFill>
                <a:cs typeface="Times New Roman" charset="0"/>
                <a:sym typeface="Times New Roman" charset="0"/>
              </a:rPr>
              <a:t>ciência</a:t>
            </a:r>
            <a:r>
              <a:rPr lang="en-US" dirty="0">
                <a:solidFill>
                  <a:srgbClr val="000000"/>
                </a:solidFill>
                <a:cs typeface="Times New Roman" charset="0"/>
                <a:sym typeface="Times New Roman" charset="0"/>
              </a:rPr>
              <a:t> da </a:t>
            </a:r>
            <a:r>
              <a:rPr lang="en-US" dirty="0" err="1">
                <a:solidFill>
                  <a:srgbClr val="000000"/>
                </a:solidFill>
                <a:cs typeface="Times New Roman" charset="0"/>
                <a:sym typeface="Times New Roman" charset="0"/>
              </a:rPr>
              <a:t>computação</a:t>
            </a:r>
            <a:r>
              <a:rPr lang="en-US" dirty="0">
                <a:solidFill>
                  <a:srgbClr val="000000"/>
                </a:solidFill>
                <a:cs typeface="Times New Roman" charset="0"/>
                <a:sym typeface="Times New Roman" charset="0"/>
              </a:rPr>
              <a:t>, e </a:t>
            </a:r>
            <a:r>
              <a:rPr lang="en-US" dirty="0" err="1">
                <a:solidFill>
                  <a:srgbClr val="000000"/>
                </a:solidFill>
                <a:cs typeface="Times New Roman" charset="0"/>
                <a:sym typeface="Times New Roman" charset="0"/>
              </a:rPr>
              <a:t>disciplinas</a:t>
            </a:r>
            <a:r>
              <a:rPr lang="en-US" dirty="0">
                <a:solidFill>
                  <a:srgbClr val="000000"/>
                </a:solidFill>
                <a:cs typeface="Times New Roman" charset="0"/>
                <a:sym typeface="Times New Roman" charset="0"/>
              </a:rPr>
              <a:t> de ES </a:t>
            </a:r>
            <a:r>
              <a:rPr lang="en-US" dirty="0" err="1">
                <a:solidFill>
                  <a:srgbClr val="000000"/>
                </a:solidFill>
                <a:cs typeface="Times New Roman" charset="0"/>
                <a:sym typeface="Times New Roman" charset="0"/>
              </a:rPr>
              <a:t>fazem</a:t>
            </a:r>
            <a:r>
              <a:rPr lang="en-US" dirty="0">
                <a:solidFill>
                  <a:srgbClr val="000000"/>
                </a:solidFill>
                <a:cs typeface="Times New Roman" charset="0"/>
                <a:sym typeface="Times New Roman" charset="0"/>
              </a:rPr>
              <a:t> parte das grades </a:t>
            </a:r>
            <a:r>
              <a:rPr lang="en-US" dirty="0" err="1">
                <a:solidFill>
                  <a:srgbClr val="000000"/>
                </a:solidFill>
                <a:cs typeface="Times New Roman" charset="0"/>
                <a:sym typeface="Times New Roman" charset="0"/>
              </a:rPr>
              <a:t>curriculares</a:t>
            </a:r>
            <a:r>
              <a:rPr lang="en-US" dirty="0">
                <a:solidFill>
                  <a:srgbClr val="000000"/>
                </a:solidFill>
                <a:cs typeface="Times New Roman" charset="0"/>
                <a:sym typeface="Times New Roman" charset="0"/>
              </a:rPr>
              <a:t> de </a:t>
            </a:r>
            <a:r>
              <a:rPr lang="en-US" dirty="0" err="1">
                <a:solidFill>
                  <a:srgbClr val="000000"/>
                </a:solidFill>
                <a:cs typeface="Times New Roman" charset="0"/>
                <a:sym typeface="Times New Roman" charset="0"/>
              </a:rPr>
              <a:t>cursos</a:t>
            </a:r>
            <a:r>
              <a:rPr lang="en-US" dirty="0">
                <a:solidFill>
                  <a:srgbClr val="000000"/>
                </a:solidFill>
                <a:cs typeface="Times New Roman" charset="0"/>
                <a:sym typeface="Times New Roman" charset="0"/>
              </a:rPr>
              <a:t> de </a:t>
            </a:r>
            <a:r>
              <a:rPr lang="en-US" dirty="0" err="1">
                <a:solidFill>
                  <a:srgbClr val="000000"/>
                </a:solidFill>
                <a:cs typeface="Times New Roman" charset="0"/>
                <a:sym typeface="Times New Roman" charset="0"/>
              </a:rPr>
              <a:t>computação</a:t>
            </a:r>
            <a:r>
              <a:rPr lang="en-US" dirty="0">
                <a:solidFill>
                  <a:srgbClr val="000000"/>
                </a:solidFill>
                <a:cs typeface="Times New Roman" charset="0"/>
                <a:sym typeface="Times New Roman" charset="0"/>
              </a:rPr>
              <a:t>.</a:t>
            </a:r>
          </a:p>
          <a:p>
            <a:pPr marL="39688">
              <a:spcBef>
                <a:spcPts val="450"/>
              </a:spcBef>
            </a:pPr>
            <a:endParaRPr lang="en-US" sz="2200" dirty="0">
              <a:latin typeface="Lucida Grande" charset="0"/>
              <a:cs typeface="Lucida Grande" charset="0"/>
              <a:sym typeface="Lucida Grande" charset="0"/>
            </a:endParaRPr>
          </a:p>
          <a:p>
            <a:pPr marL="39688">
              <a:spcBef>
                <a:spcPts val="450"/>
              </a:spcBef>
            </a:pPr>
            <a:r>
              <a:rPr lang="en-US" dirty="0" err="1">
                <a:solidFill>
                  <a:srgbClr val="000000"/>
                </a:solidFill>
                <a:cs typeface="Times New Roman" charset="0"/>
                <a:sym typeface="Times New Roman" charset="0"/>
              </a:rPr>
              <a:t>Apesar</a:t>
            </a:r>
            <a:r>
              <a:rPr lang="en-US" dirty="0">
                <a:solidFill>
                  <a:srgbClr val="000000"/>
                </a:solidFill>
                <a:cs typeface="Times New Roman" charset="0"/>
                <a:sym typeface="Times New Roman" charset="0"/>
              </a:rPr>
              <a:t> do </a:t>
            </a:r>
            <a:r>
              <a:rPr lang="en-US" dirty="0" err="1">
                <a:solidFill>
                  <a:srgbClr val="000000"/>
                </a:solidFill>
                <a:cs typeface="Times New Roman" charset="0"/>
                <a:sym typeface="Times New Roman" charset="0"/>
              </a:rPr>
              <a:t>rótulo</a:t>
            </a:r>
            <a:r>
              <a:rPr lang="en-US" dirty="0">
                <a:solidFill>
                  <a:srgbClr val="000000"/>
                </a:solidFill>
                <a:cs typeface="Times New Roman" charset="0"/>
                <a:sym typeface="Times New Roman" charset="0"/>
              </a:rPr>
              <a:t> </a:t>
            </a:r>
            <a:r>
              <a:rPr lang="en-US" i="1" dirty="0" err="1">
                <a:solidFill>
                  <a:srgbClr val="000000"/>
                </a:solidFill>
                <a:cs typeface="Times New Roman" charset="0"/>
                <a:sym typeface="Times New Roman" charset="0"/>
              </a:rPr>
              <a:t>ciência</a:t>
            </a:r>
            <a:r>
              <a:rPr lang="en-US" dirty="0">
                <a:solidFill>
                  <a:srgbClr val="000000"/>
                </a:solidFill>
                <a:cs typeface="Times New Roman" charset="0"/>
                <a:sym typeface="Times New Roman" charset="0"/>
              </a:rPr>
              <a:t>, a </a:t>
            </a:r>
            <a:r>
              <a:rPr lang="en-US" dirty="0" err="1">
                <a:solidFill>
                  <a:srgbClr val="000000"/>
                </a:solidFill>
                <a:cs typeface="Times New Roman" charset="0"/>
                <a:sym typeface="Times New Roman" charset="0"/>
              </a:rPr>
              <a:t>maior</a:t>
            </a:r>
            <a:r>
              <a:rPr lang="en-US" dirty="0">
                <a:solidFill>
                  <a:srgbClr val="000000"/>
                </a:solidFill>
                <a:cs typeface="Times New Roman" charset="0"/>
                <a:sym typeface="Times New Roman" charset="0"/>
              </a:rPr>
              <a:t> parte das </a:t>
            </a:r>
            <a:r>
              <a:rPr lang="en-US" dirty="0" err="1">
                <a:solidFill>
                  <a:srgbClr val="000000"/>
                </a:solidFill>
                <a:cs typeface="Times New Roman" charset="0"/>
                <a:sym typeface="Times New Roman" charset="0"/>
              </a:rPr>
              <a:t>pessoas</a:t>
            </a:r>
            <a:r>
              <a:rPr lang="en-US" dirty="0">
                <a:solidFill>
                  <a:srgbClr val="000000"/>
                </a:solidFill>
                <a:cs typeface="Times New Roman" charset="0"/>
                <a:sym typeface="Times New Roman" charset="0"/>
              </a:rPr>
              <a:t> com </a:t>
            </a:r>
            <a:r>
              <a:rPr lang="en-US" dirty="0" err="1">
                <a:solidFill>
                  <a:srgbClr val="000000"/>
                </a:solidFill>
                <a:cs typeface="Times New Roman" charset="0"/>
                <a:sym typeface="Times New Roman" charset="0"/>
              </a:rPr>
              <a:t>formação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em</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ciência</a:t>
            </a:r>
            <a:r>
              <a:rPr lang="en-US" dirty="0">
                <a:solidFill>
                  <a:srgbClr val="000000"/>
                </a:solidFill>
                <a:cs typeface="Times New Roman" charset="0"/>
                <a:sym typeface="Times New Roman" charset="0"/>
              </a:rPr>
              <a:t> da </a:t>
            </a:r>
            <a:r>
              <a:rPr lang="en-US" dirty="0" err="1">
                <a:solidFill>
                  <a:srgbClr val="000000"/>
                </a:solidFill>
                <a:cs typeface="Times New Roman" charset="0"/>
                <a:sym typeface="Times New Roman" charset="0"/>
              </a:rPr>
              <a:t>computação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exerce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atividades</a:t>
            </a:r>
            <a:r>
              <a:rPr lang="en-US" dirty="0">
                <a:solidFill>
                  <a:srgbClr val="000000"/>
                </a:solidFill>
                <a:cs typeface="Times New Roman" charset="0"/>
                <a:sym typeface="Times New Roman" charset="0"/>
              </a:rPr>
              <a:t> de </a:t>
            </a:r>
            <a:r>
              <a:rPr lang="en-US" dirty="0" err="1">
                <a:solidFill>
                  <a:srgbClr val="000000"/>
                </a:solidFill>
                <a:cs typeface="Times New Roman" charset="0"/>
                <a:sym typeface="Times New Roman" charset="0"/>
              </a:rPr>
              <a:t>construção</a:t>
            </a:r>
            <a:r>
              <a:rPr lang="en-US" dirty="0">
                <a:solidFill>
                  <a:srgbClr val="000000"/>
                </a:solidFill>
                <a:cs typeface="Times New Roman" charset="0"/>
                <a:sym typeface="Times New Roman" charset="0"/>
              </a:rPr>
              <a:t> de software e </a:t>
            </a:r>
            <a:r>
              <a:rPr lang="en-US" dirty="0" err="1">
                <a:solidFill>
                  <a:srgbClr val="000000"/>
                </a:solidFill>
                <a:cs typeface="Times New Roman" charset="0"/>
                <a:sym typeface="Times New Roman" charset="0"/>
              </a:rPr>
              <a:t>não</a:t>
            </a:r>
            <a:r>
              <a:rPr lang="en-US" dirty="0">
                <a:solidFill>
                  <a:srgbClr val="000000"/>
                </a:solidFill>
                <a:cs typeface="Times New Roman" charset="0"/>
                <a:sym typeface="Times New Roman" charset="0"/>
              </a:rPr>
              <a:t> de </a:t>
            </a:r>
            <a:r>
              <a:rPr lang="en-US" dirty="0" err="1">
                <a:solidFill>
                  <a:srgbClr val="000000"/>
                </a:solidFill>
                <a:cs typeface="Times New Roman" charset="0"/>
                <a:sym typeface="Times New Roman" charset="0"/>
              </a:rPr>
              <a:t>pesquisa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científica</a:t>
            </a:r>
            <a:r>
              <a:rPr lang="en-US" dirty="0">
                <a:solidFill>
                  <a:srgbClr val="000000"/>
                </a:solidFill>
                <a:cs typeface="Times New Roman" charset="0"/>
                <a:sym typeface="Times New Roman" charset="0"/>
              </a:rPr>
              <a:t>, o </a:t>
            </a:r>
            <a:r>
              <a:rPr lang="en-US" dirty="0" err="1">
                <a:solidFill>
                  <a:srgbClr val="000000"/>
                </a:solidFill>
                <a:cs typeface="Times New Roman" charset="0"/>
                <a:sym typeface="Times New Roman" charset="0"/>
              </a:rPr>
              <a:t>que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caracteriza</a:t>
            </a:r>
            <a:r>
              <a:rPr lang="en-US" dirty="0">
                <a:solidFill>
                  <a:srgbClr val="000000"/>
                </a:solidFill>
                <a:cs typeface="Times New Roman" charset="0"/>
                <a:sym typeface="Times New Roman" charset="0"/>
              </a:rPr>
              <a:t> as </a:t>
            </a:r>
            <a:r>
              <a:rPr lang="en-US" dirty="0" err="1">
                <a:solidFill>
                  <a:srgbClr val="000000"/>
                </a:solidFill>
                <a:cs typeface="Times New Roman" charset="0"/>
                <a:sym typeface="Times New Roman" charset="0"/>
              </a:rPr>
              <a:t>disciplinas</a:t>
            </a:r>
            <a:r>
              <a:rPr lang="en-US" dirty="0">
                <a:solidFill>
                  <a:srgbClr val="000000"/>
                </a:solidFill>
                <a:cs typeface="Times New Roman" charset="0"/>
                <a:sym typeface="Times New Roman" charset="0"/>
              </a:rPr>
              <a:t> de </a:t>
            </a:r>
            <a:r>
              <a:rPr lang="en-US" dirty="0" err="1">
                <a:solidFill>
                  <a:srgbClr val="000000"/>
                </a:solidFill>
                <a:cs typeface="Times New Roman" charset="0"/>
                <a:sym typeface="Times New Roman" charset="0"/>
              </a:rPr>
              <a:t>engenharia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Os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melhores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profissionais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envolvidos</a:t>
            </a:r>
            <a:r>
              <a:rPr lang="en-US" dirty="0">
                <a:solidFill>
                  <a:srgbClr val="000000"/>
                </a:solidFill>
                <a:cs typeface="Times New Roman" charset="0"/>
                <a:sym typeface="Times New Roman" charset="0"/>
              </a:rPr>
              <a:t> com a </a:t>
            </a:r>
            <a:r>
              <a:rPr lang="en-US" dirty="0" err="1">
                <a:solidFill>
                  <a:srgbClr val="000000"/>
                </a:solidFill>
                <a:cs typeface="Times New Roman" charset="0"/>
                <a:sym typeface="Times New Roman" charset="0"/>
              </a:rPr>
              <a:t>construção</a:t>
            </a:r>
            <a:r>
              <a:rPr lang="en-US" dirty="0">
                <a:solidFill>
                  <a:srgbClr val="000000"/>
                </a:solidFill>
                <a:cs typeface="Times New Roman" charset="0"/>
                <a:sym typeface="Times New Roman" charset="0"/>
              </a:rPr>
              <a:t> de software </a:t>
            </a:r>
            <a:r>
              <a:rPr lang="en-US" dirty="0" err="1">
                <a:solidFill>
                  <a:srgbClr val="000000"/>
                </a:solidFill>
                <a:cs typeface="Times New Roman" charset="0"/>
                <a:sym typeface="Times New Roman" charset="0"/>
              </a:rPr>
              <a:t>têm</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formação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em</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ciência</a:t>
            </a:r>
            <a:r>
              <a:rPr lang="en-US" dirty="0">
                <a:solidFill>
                  <a:srgbClr val="000000"/>
                </a:solidFill>
                <a:cs typeface="Times New Roman" charset="0"/>
                <a:sym typeface="Times New Roman" charset="0"/>
              </a:rPr>
              <a:t> da </a:t>
            </a:r>
            <a:r>
              <a:rPr lang="en-US" dirty="0" err="1">
                <a:solidFill>
                  <a:srgbClr val="000000"/>
                </a:solidFill>
                <a:cs typeface="Times New Roman" charset="0"/>
                <a:sym typeface="Times New Roman" charset="0"/>
              </a:rPr>
              <a:t>computação</a:t>
            </a:r>
            <a:r>
              <a:rPr lang="en-US" dirty="0">
                <a:solidFill>
                  <a:srgbClr val="000000"/>
                </a:solidFill>
                <a:cs typeface="Times New Roman" charset="0"/>
                <a:sym typeface="Times New Roman" charset="0"/>
              </a:rPr>
              <a:t>.</a:t>
            </a:r>
          </a:p>
        </p:txBody>
      </p:sp>
      <p:sp>
        <p:nvSpPr>
          <p:cNvPr id="2" name="Date Placeholder 1"/>
          <p:cNvSpPr>
            <a:spLocks noGrp="1"/>
          </p:cNvSpPr>
          <p:nvPr>
            <p:ph type="dt" idx="10"/>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6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spcBef>
                <a:spcPct val="0"/>
              </a:spcBef>
            </a:pPr>
            <a:endParaRPr lang="en-US">
              <a:latin typeface="Calibri" charset="0"/>
              <a:ea typeface="ＭＳ Ｐゴシック" charset="0"/>
              <a:cs typeface="ＭＳ Ｐゴシック" charset="0"/>
            </a:endParaRPr>
          </a:p>
        </p:txBody>
      </p:sp>
      <p:sp>
        <p:nvSpPr>
          <p:cNvPr id="163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eaLnBrk="1" hangingPunct="1"/>
            <a:fld id="{5D747EF6-DCEF-8D4B-B483-B47C3D36FBF4}" type="slidenum">
              <a:rPr lang="en-US" sz="1200"/>
              <a:pPr eaLnBrk="1" hangingPunct="1"/>
              <a:t>9</a:t>
            </a:fld>
            <a:endParaRPr lang="en-US" sz="1200"/>
          </a:p>
        </p:txBody>
      </p:sp>
      <p:sp>
        <p:nvSpPr>
          <p:cNvPr id="2" name="Date Placeholder 1"/>
          <p:cNvSpPr>
            <a:spLocks noGrp="1"/>
          </p:cNvSpPr>
          <p:nvPr>
            <p:ph type="dt" idx="10"/>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9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Calibri" charset="0"/>
                <a:ea typeface="ＭＳ Ｐゴシック" charset="0"/>
                <a:cs typeface="ＭＳ Ｐゴシック" charset="0"/>
              </a:rPr>
              <a:t>Primeiros cursos de ES na América do Norte foram criados na década de 90.</a:t>
            </a:r>
          </a:p>
          <a:p>
            <a:pPr eaLnBrk="1" hangingPunct="1"/>
            <a:endParaRPr lang="en-US">
              <a:latin typeface="Calibri" charset="0"/>
              <a:ea typeface="ＭＳ Ｐゴシック" charset="0"/>
              <a:cs typeface="ＭＳ Ｐゴシック" charset="0"/>
            </a:endParaRPr>
          </a:p>
        </p:txBody>
      </p:sp>
      <p:sp>
        <p:nvSpPr>
          <p:cNvPr id="194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eaLnBrk="1" hangingPunct="1"/>
            <a:fld id="{80B40DE4-CF04-A54D-B1F6-E7AA6827C19E}" type="slidenum">
              <a:rPr lang="en-US" sz="1200"/>
              <a:pPr eaLnBrk="1" hangingPunct="1"/>
              <a:t>11</a:t>
            </a:fld>
            <a:endParaRPr lang="en-US" sz="1200"/>
          </a:p>
        </p:txBody>
      </p:sp>
      <p:sp>
        <p:nvSpPr>
          <p:cNvPr id="2" name="Date Placeholder 1"/>
          <p:cNvSpPr>
            <a:spLocks noGrp="1"/>
          </p:cNvSpPr>
          <p:nvPr>
            <p:ph type="dt" idx="10"/>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8434" name="Rectangle 2"/>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txBody>
          <a:bodyPr/>
          <a:lstStyle/>
          <a:p>
            <a:pPr marL="39688">
              <a:spcBef>
                <a:spcPts val="450"/>
              </a:spcBef>
            </a:pPr>
            <a:r>
              <a:rPr lang="en-US" dirty="0" err="1">
                <a:solidFill>
                  <a:srgbClr val="000000"/>
                </a:solidFill>
                <a:cs typeface="Times New Roman" charset="0"/>
                <a:sym typeface="Times New Roman" charset="0"/>
              </a:rPr>
              <a:t>Todas</a:t>
            </a:r>
            <a:r>
              <a:rPr lang="en-US" dirty="0">
                <a:solidFill>
                  <a:srgbClr val="000000"/>
                </a:solidFill>
                <a:cs typeface="Times New Roman" charset="0"/>
                <a:sym typeface="Times New Roman" charset="0"/>
              </a:rPr>
              <a:t> as </a:t>
            </a:r>
            <a:r>
              <a:rPr lang="en-US" dirty="0" err="1">
                <a:solidFill>
                  <a:srgbClr val="000000"/>
                </a:solidFill>
                <a:cs typeface="Times New Roman" charset="0"/>
                <a:sym typeface="Times New Roman" charset="0"/>
              </a:rPr>
              <a:t>engenharias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geram</a:t>
            </a:r>
            <a:r>
              <a:rPr lang="en-US" dirty="0">
                <a:solidFill>
                  <a:srgbClr val="000000"/>
                </a:solidFill>
                <a:cs typeface="Times New Roman" charset="0"/>
                <a:sym typeface="Times New Roman" charset="0"/>
              </a:rPr>
              <a:t> bugs. A </a:t>
            </a:r>
            <a:r>
              <a:rPr lang="en-US" dirty="0" err="1">
                <a:solidFill>
                  <a:srgbClr val="000000"/>
                </a:solidFill>
                <a:cs typeface="Times New Roman" charset="0"/>
                <a:sym typeface="Times New Roman" charset="0"/>
              </a:rPr>
              <a:t>diferença</a:t>
            </a:r>
            <a:r>
              <a:rPr lang="en-US" dirty="0">
                <a:solidFill>
                  <a:srgbClr val="000000"/>
                </a:solidFill>
                <a:cs typeface="Times New Roman" charset="0"/>
                <a:sym typeface="Times New Roman" charset="0"/>
              </a:rPr>
              <a:t> é </a:t>
            </a:r>
            <a:r>
              <a:rPr lang="en-US" dirty="0" err="1">
                <a:solidFill>
                  <a:srgbClr val="000000"/>
                </a:solidFill>
                <a:cs typeface="Times New Roman" charset="0"/>
                <a:sym typeface="Times New Roman" charset="0"/>
              </a:rPr>
              <a:t>que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os</a:t>
            </a:r>
            <a:r>
              <a:rPr lang="en-US" dirty="0">
                <a:solidFill>
                  <a:srgbClr val="000000"/>
                </a:solidFill>
                <a:cs typeface="Times New Roman" charset="0"/>
                <a:sym typeface="Times New Roman" charset="0"/>
              </a:rPr>
              <a:t> bugs </a:t>
            </a:r>
            <a:r>
              <a:rPr lang="ja-JP" altLang="en-US" dirty="0">
                <a:solidFill>
                  <a:srgbClr val="000000"/>
                </a:solidFill>
                <a:latin typeface="Arial"/>
                <a:cs typeface="Times New Roman" charset="0"/>
                <a:sym typeface="Times New Roman" charset="0"/>
              </a:rPr>
              <a:t>“</a:t>
            </a:r>
            <a:r>
              <a:rPr lang="en-US" dirty="0" err="1">
                <a:solidFill>
                  <a:srgbClr val="000000"/>
                </a:solidFill>
                <a:cs typeface="Times New Roman" charset="0"/>
                <a:sym typeface="Times New Roman" charset="0"/>
              </a:rPr>
              <a:t>analógicos</a:t>
            </a:r>
            <a:r>
              <a:rPr lang="ja-JP" altLang="en-US" dirty="0">
                <a:solidFill>
                  <a:srgbClr val="000000"/>
                </a:solidFill>
                <a:latin typeface="Arial"/>
                <a:cs typeface="Times New Roman" charset="0"/>
                <a:sym typeface="Times New Roman" charset="0"/>
              </a:rPr>
              <a:t>”</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não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causam</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tantas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variações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nos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efeitos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desejados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quanto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os</a:t>
            </a:r>
            <a:r>
              <a:rPr lang="en-US" dirty="0">
                <a:solidFill>
                  <a:srgbClr val="000000"/>
                </a:solidFill>
                <a:cs typeface="Times New Roman" charset="0"/>
                <a:sym typeface="Times New Roman" charset="0"/>
              </a:rPr>
              <a:t> </a:t>
            </a:r>
            <a:r>
              <a:rPr lang="ja-JP" altLang="en-US" dirty="0">
                <a:solidFill>
                  <a:srgbClr val="000000"/>
                </a:solidFill>
                <a:latin typeface="Arial"/>
                <a:cs typeface="Times New Roman" charset="0"/>
                <a:sym typeface="Times New Roman" charset="0"/>
              </a:rPr>
              <a:t>“</a:t>
            </a:r>
            <a:r>
              <a:rPr lang="en-US" dirty="0" err="1">
                <a:solidFill>
                  <a:srgbClr val="000000"/>
                </a:solidFill>
                <a:cs typeface="Times New Roman" charset="0"/>
                <a:sym typeface="Times New Roman" charset="0"/>
              </a:rPr>
              <a:t>digitais</a:t>
            </a:r>
            <a:r>
              <a:rPr lang="ja-JP" altLang="en-US" dirty="0">
                <a:solidFill>
                  <a:srgbClr val="000000"/>
                </a:solidFill>
                <a:latin typeface="Arial"/>
                <a:cs typeface="Times New Roman" charset="0"/>
                <a:sym typeface="Times New Roman" charset="0"/>
              </a:rPr>
              <a:t>”</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Os</a:t>
            </a:r>
            <a:r>
              <a:rPr lang="en-US" dirty="0">
                <a:solidFill>
                  <a:srgbClr val="000000"/>
                </a:solidFill>
                <a:cs typeface="Times New Roman" charset="0"/>
                <a:sym typeface="Times New Roman" charset="0"/>
              </a:rPr>
              <a:t> bugs </a:t>
            </a:r>
            <a:r>
              <a:rPr lang="ja-JP" altLang="en-US" dirty="0">
                <a:solidFill>
                  <a:srgbClr val="000000"/>
                </a:solidFill>
                <a:latin typeface="Arial"/>
                <a:cs typeface="Times New Roman" charset="0"/>
                <a:sym typeface="Times New Roman" charset="0"/>
              </a:rPr>
              <a:t>“</a:t>
            </a:r>
            <a:r>
              <a:rPr lang="en-US" dirty="0" err="1">
                <a:solidFill>
                  <a:srgbClr val="000000"/>
                </a:solidFill>
                <a:cs typeface="Times New Roman" charset="0"/>
                <a:sym typeface="Times New Roman" charset="0"/>
              </a:rPr>
              <a:t>analógicos</a:t>
            </a:r>
            <a:r>
              <a:rPr lang="ja-JP" altLang="en-US" dirty="0">
                <a:solidFill>
                  <a:srgbClr val="000000"/>
                </a:solidFill>
                <a:latin typeface="Arial"/>
                <a:cs typeface="Times New Roman" charset="0"/>
                <a:sym typeface="Times New Roman" charset="0"/>
              </a:rPr>
              <a:t>”</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também</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não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são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tão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aparentes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quanto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os</a:t>
            </a:r>
            <a:r>
              <a:rPr lang="en-US" dirty="0">
                <a:solidFill>
                  <a:srgbClr val="000000"/>
                </a:solidFill>
                <a:cs typeface="Times New Roman" charset="0"/>
                <a:sym typeface="Times New Roman" charset="0"/>
              </a:rPr>
              <a:t> </a:t>
            </a:r>
            <a:r>
              <a:rPr lang="ja-JP" altLang="en-US" dirty="0">
                <a:solidFill>
                  <a:srgbClr val="000000"/>
                </a:solidFill>
                <a:latin typeface="Arial"/>
                <a:cs typeface="Times New Roman" charset="0"/>
                <a:sym typeface="Times New Roman" charset="0"/>
              </a:rPr>
              <a:t>“</a:t>
            </a:r>
            <a:r>
              <a:rPr lang="en-US" dirty="0" err="1">
                <a:solidFill>
                  <a:srgbClr val="000000"/>
                </a:solidFill>
                <a:cs typeface="Times New Roman" charset="0"/>
                <a:sym typeface="Times New Roman" charset="0"/>
              </a:rPr>
              <a:t>digitais</a:t>
            </a:r>
            <a:r>
              <a:rPr lang="ja-JP" altLang="en-US" dirty="0">
                <a:solidFill>
                  <a:srgbClr val="000000"/>
                </a:solidFill>
                <a:latin typeface="Arial"/>
                <a:cs typeface="Times New Roman" charset="0"/>
                <a:sym typeface="Times New Roman" charset="0"/>
              </a:rPr>
              <a:t>”</a:t>
            </a:r>
            <a:r>
              <a:rPr lang="en-US" dirty="0">
                <a:solidFill>
                  <a:srgbClr val="000000"/>
                </a:solidFill>
                <a:cs typeface="Times New Roman" charset="0"/>
                <a:sym typeface="Times New Roman" charset="0"/>
              </a:rPr>
              <a:t>.</a:t>
            </a:r>
          </a:p>
        </p:txBody>
      </p:sp>
      <p:sp>
        <p:nvSpPr>
          <p:cNvPr id="2" name="Date Placeholder 1"/>
          <p:cNvSpPr>
            <a:spLocks noGrp="1"/>
          </p:cNvSpPr>
          <p:nvPr>
            <p:ph type="dt" idx="10"/>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1"/>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0482" name="Rectangle 2"/>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txBody>
          <a:bodyPr/>
          <a:lstStyle/>
          <a:p>
            <a:r>
              <a:rPr lang="en-US" sz="2200" dirty="0" err="1">
                <a:latin typeface="Lucida Grande" charset="0"/>
                <a:cs typeface="Lucida Grande" charset="0"/>
                <a:sym typeface="Lucida Grande" charset="0"/>
              </a:rPr>
              <a:t>ConstructionThe</a:t>
            </a:r>
            <a:r>
              <a:rPr lang="en-US" sz="2200" dirty="0">
                <a:latin typeface="Lucida Grande" charset="0"/>
                <a:cs typeface="Lucida Grande" charset="0"/>
                <a:sym typeface="Lucida Grande" charset="0"/>
              </a:rPr>
              <a:t> construction was estimated to take about five years at a cost of A$7 million. </a:t>
            </a:r>
            <a:r>
              <a:rPr lang="en-US" sz="2200" dirty="0" err="1">
                <a:latin typeface="Lucida Grande" charset="0"/>
                <a:cs typeface="Lucida Grande" charset="0"/>
                <a:sym typeface="Lucida Grande" charset="0"/>
              </a:rPr>
              <a:t>Utzon</a:t>
            </a:r>
            <a:r>
              <a:rPr lang="en-US" sz="2200" dirty="0">
                <a:latin typeface="Lucida Grande" charset="0"/>
                <a:cs typeface="Lucida Grande" charset="0"/>
                <a:sym typeface="Lucida Grande" charset="0"/>
              </a:rPr>
              <a:t>, aware of possible technical problems since </a:t>
            </a:r>
            <a:r>
              <a:rPr lang="en-US" sz="2200" dirty="0" err="1">
                <a:latin typeface="Lucida Grande" charset="0"/>
                <a:cs typeface="Lucida Grande" charset="0"/>
                <a:sym typeface="Lucida Grande" charset="0"/>
              </a:rPr>
              <a:t>hisOpera</a:t>
            </a:r>
            <a:r>
              <a:rPr lang="en-US" sz="2200" dirty="0">
                <a:latin typeface="Lucida Grande" charset="0"/>
                <a:cs typeface="Lucida Grande" charset="0"/>
                <a:sym typeface="Lucida Grande" charset="0"/>
              </a:rPr>
              <a:t> House </a:t>
            </a:r>
            <a:r>
              <a:rPr lang="en-US" sz="2200" dirty="0" err="1">
                <a:latin typeface="Lucida Grande" charset="0"/>
                <a:cs typeface="Lucida Grande" charset="0"/>
                <a:sym typeface="Lucida Grande" charset="0"/>
              </a:rPr>
              <a:t>detaildesign</a:t>
            </a:r>
            <a:r>
              <a:rPr lang="en-US" sz="2200" dirty="0">
                <a:latin typeface="Lucida Grande" charset="0"/>
                <a:cs typeface="Lucida Grande" charset="0"/>
                <a:sym typeface="Lucida Grande" charset="0"/>
              </a:rPr>
              <a:t> required advanced technology not yet available, requested additional time to tackle those challenges. Ignoring his request, the government pressured </a:t>
            </a:r>
            <a:r>
              <a:rPr lang="en-US" sz="2200" dirty="0" err="1">
                <a:latin typeface="Lucida Grande" charset="0"/>
                <a:cs typeface="Lucida Grande" charset="0"/>
                <a:sym typeface="Lucida Grande" charset="0"/>
              </a:rPr>
              <a:t>Utzon</a:t>
            </a:r>
            <a:r>
              <a:rPr lang="en-US" sz="2200" dirty="0">
                <a:latin typeface="Lucida Grande" charset="0"/>
                <a:cs typeface="Lucida Grande" charset="0"/>
                <a:sym typeface="Lucida Grande" charset="0"/>
              </a:rPr>
              <a:t> into starting construction in 1959, two years ahead of the architect's proposed </a:t>
            </a:r>
            <a:r>
              <a:rPr lang="en-US" sz="2200" dirty="0" err="1">
                <a:latin typeface="Lucida Grande" charset="0"/>
                <a:cs typeface="Lucida Grande" charset="0"/>
                <a:sym typeface="Lucida Grande" charset="0"/>
              </a:rPr>
              <a:t>schedule.The</a:t>
            </a:r>
            <a:r>
              <a:rPr lang="en-US" sz="2200" dirty="0">
                <a:latin typeface="Lucida Grande" charset="0"/>
                <a:cs typeface="Lucida Grande" charset="0"/>
                <a:sym typeface="Lucida Grande" charset="0"/>
              </a:rPr>
              <a:t> lack of preparation soon backfired. After the completion of the grand podium with an enormous, 86 meter (282ft) wide stair, several years were spent reworking the design of the roof, something that should have been done before ground was broken. In 1961 </a:t>
            </a:r>
            <a:r>
              <a:rPr lang="en-US" sz="2200" dirty="0" err="1">
                <a:latin typeface="Lucida Grande" charset="0"/>
                <a:cs typeface="Lucida Grande" charset="0"/>
                <a:sym typeface="Lucida Grande" charset="0"/>
              </a:rPr>
              <a:t>Utzon</a:t>
            </a:r>
            <a:r>
              <a:rPr lang="en-US" sz="2200" dirty="0">
                <a:latin typeface="Lucida Grande" charset="0"/>
                <a:cs typeface="Lucida Grande" charset="0"/>
                <a:sym typeface="Lucida Grande" charset="0"/>
              </a:rPr>
              <a:t> revised the scheme for the 'sails', defining them as slices of a sphere with a 300ft (91m) diameter. The shells </a:t>
            </a:r>
            <a:r>
              <a:rPr lang="en-US" sz="2200" dirty="0" err="1">
                <a:latin typeface="Lucida Grande" charset="0"/>
                <a:cs typeface="Lucida Grande" charset="0"/>
                <a:sym typeface="Lucida Grande" charset="0"/>
              </a:rPr>
              <a:t>wereOpera</a:t>
            </a:r>
            <a:r>
              <a:rPr lang="en-US" sz="2200" dirty="0">
                <a:latin typeface="Lucida Grande" charset="0"/>
                <a:cs typeface="Lucida Grande" charset="0"/>
                <a:sym typeface="Lucida Grande" charset="0"/>
              </a:rPr>
              <a:t> House </a:t>
            </a:r>
            <a:r>
              <a:rPr lang="en-US" sz="2200" dirty="0" err="1">
                <a:latin typeface="Lucida Grande" charset="0"/>
                <a:cs typeface="Lucida Grande" charset="0"/>
                <a:sym typeface="Lucida Grande" charset="0"/>
              </a:rPr>
              <a:t>detailbuilt</a:t>
            </a:r>
            <a:r>
              <a:rPr lang="en-US" sz="2200" dirty="0">
                <a:latin typeface="Lucida Grande" charset="0"/>
                <a:cs typeface="Lucida Grande" charset="0"/>
                <a:sym typeface="Lucida Grande" charset="0"/>
              </a:rPr>
              <a:t> from pre-cast concrete sections clad with white glazed </a:t>
            </a:r>
            <a:r>
              <a:rPr lang="en-US" sz="2200" dirty="0" err="1">
                <a:latin typeface="Lucida Grande" charset="0"/>
                <a:cs typeface="Lucida Grande" charset="0"/>
                <a:sym typeface="Lucida Grande" charset="0"/>
              </a:rPr>
              <a:t>tiles.Unfortunately</a:t>
            </a:r>
            <a:r>
              <a:rPr lang="en-US" sz="2200" dirty="0">
                <a:latin typeface="Lucida Grande" charset="0"/>
                <a:cs typeface="Lucida Grande" charset="0"/>
                <a:sym typeface="Lucida Grande" charset="0"/>
              </a:rPr>
              <a:t> the roof shells were too heavy for the supporting columns that were already built, so these were demolished and rebuilt. These and several other setbacks led to delays and increasing cost overruns. </a:t>
            </a:r>
            <a:r>
              <a:rPr lang="en-US" sz="2200" dirty="0" err="1">
                <a:latin typeface="Lucida Grande" charset="0"/>
                <a:cs typeface="Lucida Grande" charset="0"/>
                <a:sym typeface="Lucida Grande" charset="0"/>
              </a:rPr>
              <a:t>Utzon</a:t>
            </a:r>
            <a:r>
              <a:rPr lang="en-US" sz="2200" dirty="0">
                <a:latin typeface="Lucida Grande" charset="0"/>
                <a:cs typeface="Lucida Grande" charset="0"/>
                <a:sym typeface="Lucida Grande" charset="0"/>
              </a:rPr>
              <a:t> now faced a hostile press and a government reluctant to continue the project. Politician Robert </a:t>
            </a:r>
            <a:r>
              <a:rPr lang="en-US" sz="2200" dirty="0" err="1">
                <a:latin typeface="Lucida Grande" charset="0"/>
                <a:cs typeface="Lucida Grande" charset="0"/>
                <a:sym typeface="Lucida Grande" charset="0"/>
              </a:rPr>
              <a:t>Askin</a:t>
            </a:r>
            <a:r>
              <a:rPr lang="en-US" sz="2200" dirty="0">
                <a:latin typeface="Lucida Grande" charset="0"/>
                <a:cs typeface="Lucida Grande" charset="0"/>
                <a:sym typeface="Lucida Grande" charset="0"/>
              </a:rPr>
              <a:t> exploited the public's fears about the project's escalating costs. After he was elected premier of New South Wales in 1965, </a:t>
            </a:r>
            <a:r>
              <a:rPr lang="en-US" sz="2200" dirty="0" err="1">
                <a:latin typeface="Lucida Grande" charset="0"/>
                <a:cs typeface="Lucida Grande" charset="0"/>
                <a:sym typeface="Lucida Grande" charset="0"/>
              </a:rPr>
              <a:t>Askin</a:t>
            </a:r>
            <a:r>
              <a:rPr lang="en-US" sz="2200" dirty="0">
                <a:latin typeface="Lucida Grande" charset="0"/>
                <a:cs typeface="Lucida Grande" charset="0"/>
                <a:sym typeface="Lucida Grande" charset="0"/>
              </a:rPr>
              <a:t> attempted to force </a:t>
            </a:r>
            <a:r>
              <a:rPr lang="en-US" sz="2200" dirty="0" err="1">
                <a:latin typeface="Lucida Grande" charset="0"/>
                <a:cs typeface="Lucida Grande" charset="0"/>
                <a:sym typeface="Lucida Grande" charset="0"/>
              </a:rPr>
              <a:t>Utzon</a:t>
            </a:r>
            <a:r>
              <a:rPr lang="en-US" sz="2200" dirty="0">
                <a:latin typeface="Lucida Grande" charset="0"/>
                <a:cs typeface="Lucida Grande" charset="0"/>
                <a:sym typeface="Lucida Grande" charset="0"/>
              </a:rPr>
              <a:t> reduce costs by withholding payments. In 1966 </a:t>
            </a:r>
            <a:r>
              <a:rPr lang="en-US" sz="2200" dirty="0" err="1">
                <a:latin typeface="Lucida Grande" charset="0"/>
                <a:cs typeface="Lucida Grande" charset="0"/>
                <a:sym typeface="Lucida Grande" charset="0"/>
              </a:rPr>
              <a:t>Utzon</a:t>
            </a:r>
            <a:r>
              <a:rPr lang="en-US" sz="2200" dirty="0">
                <a:latin typeface="Lucida Grande" charset="0"/>
                <a:cs typeface="Lucida Grande" charset="0"/>
                <a:sym typeface="Lucida Grande" charset="0"/>
              </a:rPr>
              <a:t> resigned and returned to his native Denmark. He never </a:t>
            </a:r>
            <a:r>
              <a:rPr lang="en-US" sz="2200" dirty="0" err="1">
                <a:latin typeface="Lucida Grande" charset="0"/>
                <a:cs typeface="Lucida Grande" charset="0"/>
                <a:sym typeface="Lucida Grande" charset="0"/>
              </a:rPr>
              <a:t>evenSydney</a:t>
            </a:r>
            <a:r>
              <a:rPr lang="en-US" sz="2200" dirty="0">
                <a:latin typeface="Lucida Grande" charset="0"/>
                <a:cs typeface="Lucida Grande" charset="0"/>
                <a:sym typeface="Lucida Grande" charset="0"/>
              </a:rPr>
              <a:t> Opera </a:t>
            </a:r>
            <a:r>
              <a:rPr lang="en-US" sz="2200" dirty="0" err="1">
                <a:latin typeface="Lucida Grande" charset="0"/>
                <a:cs typeface="Lucida Grande" charset="0"/>
                <a:sym typeface="Lucida Grande" charset="0"/>
              </a:rPr>
              <a:t>Housereturned</a:t>
            </a:r>
            <a:r>
              <a:rPr lang="en-US" sz="2200" dirty="0">
                <a:latin typeface="Lucida Grande" charset="0"/>
                <a:cs typeface="Lucida Grande" charset="0"/>
                <a:sym typeface="Lucida Grande" charset="0"/>
              </a:rPr>
              <a:t> to see his masterpiece </a:t>
            </a:r>
            <a:r>
              <a:rPr lang="en-US" sz="2200" dirty="0" err="1">
                <a:latin typeface="Lucida Grande" charset="0"/>
                <a:cs typeface="Lucida Grande" charset="0"/>
                <a:sym typeface="Lucida Grande" charset="0"/>
              </a:rPr>
              <a:t>completed.The</a:t>
            </a:r>
            <a:r>
              <a:rPr lang="en-US" sz="2200" dirty="0">
                <a:latin typeface="Lucida Grande" charset="0"/>
                <a:cs typeface="Lucida Grande" charset="0"/>
                <a:sym typeface="Lucida Grande" charset="0"/>
              </a:rPr>
              <a:t> construction of the Sydney Opera House was now handed over to a group or Australian architects. Fortunately the exterior had already been completed by then so that the impact of the altered design on the overall structure was minimal. The project was finally completed in 1973. Its total cost amounted to an astronomical A$102 million, almost 15 times the estimated budget.</a:t>
            </a:r>
          </a:p>
        </p:txBody>
      </p:sp>
      <p:sp>
        <p:nvSpPr>
          <p:cNvPr id="2" name="Date Placeholder 1"/>
          <p:cNvSpPr>
            <a:spLocks noGrp="1"/>
          </p:cNvSpPr>
          <p:nvPr>
            <p:ph type="dt" idx="10"/>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2530" name="Rectangle 2"/>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txBody>
          <a:bodyPr/>
          <a:lstStyle/>
          <a:p>
            <a:r>
              <a:rPr lang="en-US" sz="2200">
                <a:latin typeface="Lucida Grande" charset="0"/>
                <a:cs typeface="Lucida Grande" charset="0"/>
                <a:sym typeface="Lucida Grande" charset="0"/>
              </a:rPr>
              <a:t>ConstructionThe construction was estimated to take about five years at a cost of A$7 million. Utzon, aware of possible technical problems since hisOpera House detaildesign required advanced technology not yet available, requested additional time to tackle those challenges. Ignoring his request, the government pressured Utzon into starting construction in 1959, two years ahead of the architect's proposed schedule.The lack of preparation soon backfired. After the completion of the grand podium with an enormous, 86 meter (282ft) wide stair, several years were spent reworking the design of the roof, something that should have been done before ground was broken. In 1961 Utzon revised the scheme for the 'sails', defining them as slices of a sphere with a 300ft (91m) diameter. The shells wereOpera House detailbuilt from pre-cast concrete sections clad with white glazed tiles.Unfortunately the roof shells were too heavy for the supporting columns that were already built, so these were demolished and rebuilt. These and several other setbacks led to delays and increasing cost overruns. Utzon now faced a hostile press and a government reluctant to continue the project. Politician Robert Askin exploited the public's fears about the project's escalating costs. After he was elected premier of New South Wales in 1965, Askin attempted to force Utzon reduce costs by withholding payments. In 1966 Utzon resigned and returned to his native Denmark. He never evenSydney Opera Housereturned to see his masterpiece completed.The construction of the Sydney Opera House was now handed over to a group or Australian architects. Fortunately the exterior had already been completed by then so that the impact of the altered design on the overall structure was minimal. The project was finally completed in 1973. Its total cost amounted to an astronomical A$102 million, almost 15 times the estimated budget.</a:t>
            </a:r>
          </a:p>
        </p:txBody>
      </p:sp>
      <p:sp>
        <p:nvSpPr>
          <p:cNvPr id="2" name="Date Placeholder 1"/>
          <p:cNvSpPr>
            <a:spLocks noGrp="1"/>
          </p:cNvSpPr>
          <p:nvPr>
            <p:ph type="dt" idx="10"/>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1"/>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5602" name="Rectangle 2"/>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txBody>
          <a:bodyPr/>
          <a:lstStyle/>
          <a:p>
            <a:pPr marL="496888">
              <a:spcBef>
                <a:spcPts val="450"/>
              </a:spcBef>
              <a:buClr>
                <a:srgbClr val="000000"/>
              </a:buClr>
              <a:buFont typeface="Times New Roman" charset="0"/>
              <a:buChar char="-"/>
            </a:pPr>
            <a:r>
              <a:rPr lang="en-US" dirty="0">
                <a:solidFill>
                  <a:srgbClr val="000000"/>
                </a:solidFill>
                <a:cs typeface="Times New Roman" charset="0"/>
                <a:sym typeface="Times New Roman" charset="0"/>
              </a:rPr>
              <a:t>Michael Jackson </a:t>
            </a:r>
            <a:r>
              <a:rPr lang="ja-JP" altLang="en-US" dirty="0">
                <a:solidFill>
                  <a:srgbClr val="000000"/>
                </a:solidFill>
                <a:latin typeface="Arial"/>
                <a:cs typeface="Times New Roman" charset="0"/>
                <a:sym typeface="Times New Roman" charset="0"/>
              </a:rPr>
              <a:t>“</a:t>
            </a:r>
            <a:r>
              <a:rPr lang="en-US" dirty="0">
                <a:solidFill>
                  <a:srgbClr val="000000"/>
                </a:solidFill>
                <a:cs typeface="Times New Roman" charset="0"/>
                <a:sym typeface="Times New Roman" charset="0"/>
              </a:rPr>
              <a:t>a discipline of description</a:t>
            </a:r>
            <a:r>
              <a:rPr lang="ja-JP" altLang="en-US" dirty="0">
                <a:solidFill>
                  <a:srgbClr val="000000"/>
                </a:solidFill>
                <a:latin typeface="Arial"/>
                <a:cs typeface="Times New Roman" charset="0"/>
                <a:sym typeface="Times New Roman" charset="0"/>
              </a:rPr>
              <a:t>”</a:t>
            </a:r>
            <a:endParaRPr lang="en-US" dirty="0">
              <a:solidFill>
                <a:srgbClr val="000000"/>
              </a:solidFill>
              <a:cs typeface="Times New Roman" charset="0"/>
              <a:sym typeface="Times New Roman" charset="0"/>
            </a:endParaRPr>
          </a:p>
          <a:p>
            <a:pPr marL="496888">
              <a:spcBef>
                <a:spcPts val="450"/>
              </a:spcBef>
              <a:buClr>
                <a:srgbClr val="000000"/>
              </a:buClr>
              <a:buFont typeface="Times New Roman" charset="0"/>
              <a:buChar char="-"/>
            </a:pPr>
            <a:endParaRPr lang="en-US" dirty="0">
              <a:solidFill>
                <a:srgbClr val="000000"/>
              </a:solidFill>
              <a:cs typeface="Times New Roman" charset="0"/>
              <a:sym typeface="Times New Roman" charset="0"/>
            </a:endParaRPr>
          </a:p>
          <a:p>
            <a:pPr marL="496888">
              <a:spcBef>
                <a:spcPts val="450"/>
              </a:spcBef>
            </a:pPr>
            <a:r>
              <a:rPr lang="en-US" dirty="0">
                <a:solidFill>
                  <a:srgbClr val="000000"/>
                </a:solidFill>
                <a:cs typeface="Times New Roman" charset="0"/>
                <a:sym typeface="Times New Roman" charset="0"/>
              </a:rPr>
              <a:t>Na </a:t>
            </a:r>
            <a:r>
              <a:rPr lang="en-US" dirty="0" err="1">
                <a:solidFill>
                  <a:srgbClr val="000000"/>
                </a:solidFill>
                <a:cs typeface="Times New Roman" charset="0"/>
                <a:sym typeface="Times New Roman" charset="0"/>
              </a:rPr>
              <a:t>verdade</a:t>
            </a:r>
            <a:r>
              <a:rPr lang="en-US" dirty="0">
                <a:solidFill>
                  <a:srgbClr val="000000"/>
                </a:solidFill>
                <a:cs typeface="Times New Roman" charset="0"/>
                <a:sym typeface="Times New Roman" charset="0"/>
              </a:rPr>
              <a:t> o </a:t>
            </a:r>
            <a:r>
              <a:rPr lang="en-US" dirty="0" err="1">
                <a:solidFill>
                  <a:srgbClr val="000000"/>
                </a:solidFill>
                <a:cs typeface="Times New Roman" charset="0"/>
                <a:sym typeface="Times New Roman" charset="0"/>
              </a:rPr>
              <a:t>produto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não</a:t>
            </a:r>
            <a:r>
              <a:rPr lang="en-US" dirty="0">
                <a:solidFill>
                  <a:srgbClr val="000000"/>
                </a:solidFill>
                <a:cs typeface="Times New Roman" charset="0"/>
                <a:sym typeface="Times New Roman" charset="0"/>
              </a:rPr>
              <a:t> é o software – o </a:t>
            </a:r>
            <a:r>
              <a:rPr lang="en-US" dirty="0" err="1">
                <a:solidFill>
                  <a:srgbClr val="000000"/>
                </a:solidFill>
                <a:cs typeface="Times New Roman" charset="0"/>
                <a:sym typeface="Times New Roman" charset="0"/>
              </a:rPr>
              <a:t>produto</a:t>
            </a:r>
            <a:r>
              <a:rPr lang="en-US" dirty="0">
                <a:solidFill>
                  <a:srgbClr val="000000"/>
                </a:solidFill>
                <a:cs typeface="Times New Roman" charset="0"/>
                <a:sym typeface="Times New Roman" charset="0"/>
              </a:rPr>
              <a:t> é um </a:t>
            </a:r>
            <a:r>
              <a:rPr lang="en-US" dirty="0" err="1">
                <a:solidFill>
                  <a:srgbClr val="000000"/>
                </a:solidFill>
                <a:cs typeface="Times New Roman" charset="0"/>
                <a:sym typeface="Times New Roman" charset="0"/>
              </a:rPr>
              <a:t>computador</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configurado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através</a:t>
            </a:r>
            <a:r>
              <a:rPr lang="en-US" dirty="0">
                <a:solidFill>
                  <a:srgbClr val="000000"/>
                </a:solidFill>
                <a:cs typeface="Times New Roman" charset="0"/>
                <a:sym typeface="Times New Roman" charset="0"/>
              </a:rPr>
              <a:t> do software </a:t>
            </a:r>
            <a:r>
              <a:rPr lang="en-US" dirty="0" err="1">
                <a:solidFill>
                  <a:srgbClr val="000000"/>
                </a:solidFill>
                <a:cs typeface="Times New Roman" charset="0"/>
                <a:sym typeface="Times New Roman" charset="0"/>
              </a:rPr>
              <a:t>para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agir</a:t>
            </a:r>
            <a:r>
              <a:rPr lang="en-US" dirty="0">
                <a:solidFill>
                  <a:srgbClr val="000000"/>
                </a:solidFill>
                <a:cs typeface="Times New Roman" charset="0"/>
                <a:sym typeface="Times New Roman" charset="0"/>
              </a:rPr>
              <a:t> de forma a resolver um </a:t>
            </a:r>
            <a:r>
              <a:rPr lang="en-US" dirty="0" err="1">
                <a:solidFill>
                  <a:srgbClr val="000000"/>
                </a:solidFill>
                <a:cs typeface="Times New Roman" charset="0"/>
                <a:sym typeface="Times New Roman" charset="0"/>
              </a:rPr>
              <a:t>problema</a:t>
            </a:r>
            <a:r>
              <a:rPr lang="en-US" dirty="0">
                <a:solidFill>
                  <a:srgbClr val="000000"/>
                </a:solidFill>
                <a:cs typeface="Times New Roman" charset="0"/>
                <a:sym typeface="Times New Roman" charset="0"/>
              </a:rPr>
              <a:t>.</a:t>
            </a:r>
          </a:p>
        </p:txBody>
      </p:sp>
      <p:sp>
        <p:nvSpPr>
          <p:cNvPr id="2" name="Date Placeholder 1"/>
          <p:cNvSpPr>
            <a:spLocks noGrp="1"/>
          </p:cNvSpPr>
          <p:nvPr>
            <p:ph type="dt" idx="10"/>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7650" name="Rectangle 2"/>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txBody>
          <a:bodyPr/>
          <a:lstStyle/>
          <a:p>
            <a:pPr marL="496888">
              <a:spcBef>
                <a:spcPts val="450"/>
              </a:spcBef>
              <a:buClr>
                <a:srgbClr val="000000"/>
              </a:buClr>
              <a:buFont typeface="Times New Roman" charset="0"/>
              <a:buChar char="-"/>
            </a:pPr>
            <a:r>
              <a:rPr lang="en-US">
                <a:solidFill>
                  <a:srgbClr val="000000"/>
                </a:solidFill>
                <a:cs typeface="Times New Roman" charset="0"/>
                <a:sym typeface="Times New Roman" charset="0"/>
              </a:rPr>
              <a:t>Michael Jackson </a:t>
            </a:r>
            <a:r>
              <a:rPr lang="ja-JP" altLang="en-US">
                <a:solidFill>
                  <a:srgbClr val="000000"/>
                </a:solidFill>
                <a:latin typeface="Arial"/>
                <a:cs typeface="Times New Roman" charset="0"/>
                <a:sym typeface="Times New Roman" charset="0"/>
              </a:rPr>
              <a:t>“</a:t>
            </a:r>
            <a:r>
              <a:rPr lang="en-US">
                <a:solidFill>
                  <a:srgbClr val="000000"/>
                </a:solidFill>
                <a:cs typeface="Times New Roman" charset="0"/>
                <a:sym typeface="Times New Roman" charset="0"/>
              </a:rPr>
              <a:t>a discipline of description</a:t>
            </a:r>
            <a:r>
              <a:rPr lang="ja-JP" altLang="en-US">
                <a:solidFill>
                  <a:srgbClr val="000000"/>
                </a:solidFill>
                <a:latin typeface="Arial"/>
                <a:cs typeface="Times New Roman" charset="0"/>
                <a:sym typeface="Times New Roman" charset="0"/>
              </a:rPr>
              <a:t>”</a:t>
            </a:r>
            <a:endParaRPr lang="en-US">
              <a:solidFill>
                <a:srgbClr val="000000"/>
              </a:solidFill>
              <a:cs typeface="Times New Roman" charset="0"/>
              <a:sym typeface="Times New Roman" charset="0"/>
            </a:endParaRPr>
          </a:p>
          <a:p>
            <a:pPr marL="496888">
              <a:spcBef>
                <a:spcPts val="450"/>
              </a:spcBef>
              <a:buClr>
                <a:srgbClr val="000000"/>
              </a:buClr>
              <a:buFont typeface="Times New Roman" charset="0"/>
              <a:buChar char="-"/>
            </a:pPr>
            <a:endParaRPr lang="en-US">
              <a:solidFill>
                <a:srgbClr val="000000"/>
              </a:solidFill>
              <a:cs typeface="Times New Roman" charset="0"/>
              <a:sym typeface="Times New Roman" charset="0"/>
            </a:endParaRPr>
          </a:p>
          <a:p>
            <a:pPr marL="496888">
              <a:spcBef>
                <a:spcPts val="450"/>
              </a:spcBef>
            </a:pPr>
            <a:r>
              <a:rPr lang="en-US">
                <a:solidFill>
                  <a:srgbClr val="000000"/>
                </a:solidFill>
                <a:cs typeface="Times New Roman" charset="0"/>
                <a:sym typeface="Times New Roman" charset="0"/>
              </a:rPr>
              <a:t>Na verdade o produto não é o software – o produto é um computador configurado através do software para agir de forma a resolver um problema.</a:t>
            </a:r>
          </a:p>
        </p:txBody>
      </p:sp>
      <p:sp>
        <p:nvSpPr>
          <p:cNvPr id="2" name="Date Placeholder 1"/>
          <p:cNvSpPr>
            <a:spLocks noGrp="1"/>
          </p:cNvSpPr>
          <p:nvPr>
            <p:ph type="dt" idx="10"/>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1"/>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3794" name="Rectangle 2"/>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txBody>
          <a:bodyPr/>
          <a:lstStyle/>
          <a:p>
            <a:pPr marL="39688">
              <a:spcBef>
                <a:spcPts val="450"/>
              </a:spcBef>
            </a:pPr>
            <a:r>
              <a:rPr lang="en-US" dirty="0">
                <a:solidFill>
                  <a:srgbClr val="000000"/>
                </a:solidFill>
                <a:cs typeface="Times New Roman" charset="0"/>
                <a:sym typeface="Times New Roman" charset="0"/>
              </a:rPr>
              <a:t>Uma </a:t>
            </a:r>
            <a:r>
              <a:rPr lang="en-US" dirty="0" err="1">
                <a:solidFill>
                  <a:srgbClr val="000000"/>
                </a:solidFill>
                <a:cs typeface="Times New Roman" charset="0"/>
                <a:sym typeface="Times New Roman" charset="0"/>
              </a:rPr>
              <a:t>atividade</a:t>
            </a:r>
            <a:r>
              <a:rPr lang="en-US" dirty="0">
                <a:solidFill>
                  <a:srgbClr val="000000"/>
                </a:solidFill>
                <a:cs typeface="Times New Roman" charset="0"/>
                <a:sym typeface="Times New Roman" charset="0"/>
              </a:rPr>
              <a:t> é </a:t>
            </a:r>
            <a:r>
              <a:rPr lang="en-US" dirty="0" err="1">
                <a:solidFill>
                  <a:srgbClr val="000000"/>
                </a:solidFill>
                <a:cs typeface="Times New Roman" charset="0"/>
                <a:sym typeface="Times New Roman" charset="0"/>
              </a:rPr>
              <a:t>caracterizada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como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exploratória</a:t>
            </a:r>
            <a:r>
              <a:rPr lang="en-US" dirty="0">
                <a:solidFill>
                  <a:srgbClr val="000000"/>
                </a:solidFill>
                <a:cs typeface="Times New Roman" charset="0"/>
                <a:sym typeface="Times New Roman" charset="0"/>
              </a:rPr>
              <a:t> se </a:t>
            </a:r>
            <a:r>
              <a:rPr lang="en-US" dirty="0" err="1">
                <a:solidFill>
                  <a:srgbClr val="000000"/>
                </a:solidFill>
                <a:cs typeface="Times New Roman" charset="0"/>
                <a:sym typeface="Times New Roman" charset="0"/>
              </a:rPr>
              <a:t>não</a:t>
            </a:r>
            <a:r>
              <a:rPr lang="en-US" dirty="0">
                <a:solidFill>
                  <a:srgbClr val="000000"/>
                </a:solidFill>
                <a:cs typeface="Times New Roman" charset="0"/>
                <a:sym typeface="Times New Roman" charset="0"/>
              </a:rPr>
              <a:t> se </a:t>
            </a:r>
            <a:r>
              <a:rPr lang="en-US" dirty="0" err="1">
                <a:solidFill>
                  <a:srgbClr val="000000"/>
                </a:solidFill>
                <a:cs typeface="Times New Roman" charset="0"/>
                <a:sym typeface="Times New Roman" charset="0"/>
              </a:rPr>
              <a:t>sabe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exatamente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que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resultado</a:t>
            </a:r>
            <a:r>
              <a:rPr lang="en-US" dirty="0">
                <a:solidFill>
                  <a:srgbClr val="000000"/>
                </a:solidFill>
                <a:cs typeface="Times New Roman" charset="0"/>
                <a:sym typeface="Times New Roman" charset="0"/>
              </a:rPr>
              <a:t> se </a:t>
            </a:r>
            <a:r>
              <a:rPr lang="en-US" dirty="0" err="1">
                <a:solidFill>
                  <a:srgbClr val="000000"/>
                </a:solidFill>
                <a:cs typeface="Times New Roman" charset="0"/>
                <a:sym typeface="Times New Roman" charset="0"/>
              </a:rPr>
              <a:t>vai</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obter</a:t>
            </a:r>
            <a:r>
              <a:rPr lang="en-US" dirty="0">
                <a:solidFill>
                  <a:srgbClr val="000000"/>
                </a:solidFill>
                <a:cs typeface="Times New Roman" charset="0"/>
                <a:sym typeface="Times New Roman" charset="0"/>
              </a:rPr>
              <a:t>, mas se tem </a:t>
            </a:r>
            <a:r>
              <a:rPr lang="en-US" dirty="0" err="1">
                <a:solidFill>
                  <a:srgbClr val="000000"/>
                </a:solidFill>
                <a:cs typeface="Times New Roman" charset="0"/>
                <a:sym typeface="Times New Roman" charset="0"/>
              </a:rPr>
              <a:t>uma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idéia</a:t>
            </a:r>
            <a:r>
              <a:rPr lang="en-US" dirty="0">
                <a:solidFill>
                  <a:srgbClr val="000000"/>
                </a:solidFill>
                <a:cs typeface="Times New Roman" charset="0"/>
                <a:sym typeface="Times New Roman" charset="0"/>
              </a:rPr>
              <a:t> das </a:t>
            </a:r>
            <a:r>
              <a:rPr lang="en-US" dirty="0" err="1">
                <a:solidFill>
                  <a:srgbClr val="000000"/>
                </a:solidFill>
                <a:cs typeface="Times New Roman" charset="0"/>
                <a:sym typeface="Times New Roman" charset="0"/>
              </a:rPr>
              <a:t>teorias</a:t>
            </a:r>
            <a:r>
              <a:rPr lang="en-US" dirty="0">
                <a:solidFill>
                  <a:srgbClr val="000000"/>
                </a:solidFill>
                <a:cs typeface="Times New Roman" charset="0"/>
                <a:sym typeface="Times New Roman" charset="0"/>
              </a:rPr>
              <a:t> e </a:t>
            </a:r>
            <a:r>
              <a:rPr lang="en-US" dirty="0" err="1">
                <a:solidFill>
                  <a:srgbClr val="000000"/>
                </a:solidFill>
                <a:cs typeface="Times New Roman" charset="0"/>
                <a:sym typeface="Times New Roman" charset="0"/>
              </a:rPr>
              <a:t>tecnologias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que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vão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ser</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utilizadas</a:t>
            </a:r>
            <a:r>
              <a:rPr lang="en-US" dirty="0">
                <a:solidFill>
                  <a:srgbClr val="000000"/>
                </a:solidFill>
                <a:cs typeface="Times New Roman" charset="0"/>
                <a:sym typeface="Times New Roman" charset="0"/>
              </a:rPr>
              <a:t>. O </a:t>
            </a:r>
            <a:r>
              <a:rPr lang="en-US" dirty="0" err="1">
                <a:solidFill>
                  <a:srgbClr val="000000"/>
                </a:solidFill>
                <a:cs typeface="Times New Roman" charset="0"/>
                <a:sym typeface="Times New Roman" charset="0"/>
              </a:rPr>
              <a:t>desenvolvimento</a:t>
            </a:r>
            <a:r>
              <a:rPr lang="en-US" dirty="0">
                <a:solidFill>
                  <a:srgbClr val="000000"/>
                </a:solidFill>
                <a:cs typeface="Times New Roman" charset="0"/>
                <a:sym typeface="Times New Roman" charset="0"/>
              </a:rPr>
              <a:t> de software </a:t>
            </a:r>
            <a:r>
              <a:rPr lang="en-US" dirty="0" err="1">
                <a:solidFill>
                  <a:srgbClr val="000000"/>
                </a:solidFill>
                <a:cs typeface="Times New Roman" charset="0"/>
                <a:sym typeface="Times New Roman" charset="0"/>
              </a:rPr>
              <a:t>muitas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vezes</a:t>
            </a:r>
            <a:r>
              <a:rPr lang="en-US" dirty="0">
                <a:solidFill>
                  <a:srgbClr val="000000"/>
                </a:solidFill>
                <a:cs typeface="Times New Roman" charset="0"/>
                <a:sym typeface="Times New Roman" charset="0"/>
              </a:rPr>
              <a:t> é </a:t>
            </a:r>
            <a:r>
              <a:rPr lang="en-US" dirty="0" err="1">
                <a:solidFill>
                  <a:srgbClr val="000000"/>
                </a:solidFill>
                <a:cs typeface="Times New Roman" charset="0"/>
                <a:sym typeface="Times New Roman" charset="0"/>
              </a:rPr>
              <a:t>assim</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Nem</a:t>
            </a:r>
            <a:r>
              <a:rPr lang="en-US" dirty="0">
                <a:solidFill>
                  <a:srgbClr val="000000"/>
                </a:solidFill>
                <a:cs typeface="Times New Roman" charset="0"/>
                <a:sym typeface="Times New Roman" charset="0"/>
              </a:rPr>
              <a:t> o </a:t>
            </a:r>
            <a:r>
              <a:rPr lang="en-US" dirty="0" err="1">
                <a:solidFill>
                  <a:srgbClr val="000000"/>
                </a:solidFill>
                <a:cs typeface="Times New Roman" charset="0"/>
                <a:sym typeface="Times New Roman" charset="0"/>
              </a:rPr>
              <a:t>cliente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nem</a:t>
            </a:r>
            <a:r>
              <a:rPr lang="en-US" dirty="0">
                <a:solidFill>
                  <a:srgbClr val="000000"/>
                </a:solidFill>
                <a:cs typeface="Times New Roman" charset="0"/>
                <a:sym typeface="Times New Roman" charset="0"/>
              </a:rPr>
              <a:t> o </a:t>
            </a:r>
            <a:r>
              <a:rPr lang="en-US" dirty="0" err="1">
                <a:solidFill>
                  <a:srgbClr val="000000"/>
                </a:solidFill>
                <a:cs typeface="Times New Roman" charset="0"/>
                <a:sym typeface="Times New Roman" charset="0"/>
              </a:rPr>
              <a:t>desenvolvedor</a:t>
            </a:r>
            <a:r>
              <a:rPr lang="en-US" dirty="0">
                <a:solidFill>
                  <a:srgbClr val="000000"/>
                </a:solidFill>
                <a:cs typeface="Times New Roman" charset="0"/>
                <a:sym typeface="Times New Roman" charset="0"/>
              </a:rPr>
              <a:t> tem </a:t>
            </a:r>
            <a:r>
              <a:rPr lang="en-US" dirty="0" err="1">
                <a:solidFill>
                  <a:srgbClr val="000000"/>
                </a:solidFill>
                <a:cs typeface="Times New Roman" charset="0"/>
                <a:sym typeface="Times New Roman" charset="0"/>
              </a:rPr>
              <a:t>uma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idéia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precisa</a:t>
            </a:r>
            <a:r>
              <a:rPr lang="en-US" dirty="0">
                <a:solidFill>
                  <a:srgbClr val="000000"/>
                </a:solidFill>
                <a:cs typeface="Times New Roman" charset="0"/>
                <a:sym typeface="Times New Roman" charset="0"/>
              </a:rPr>
              <a:t> do </a:t>
            </a:r>
            <a:r>
              <a:rPr lang="en-US" dirty="0" err="1">
                <a:solidFill>
                  <a:srgbClr val="000000"/>
                </a:solidFill>
                <a:cs typeface="Times New Roman" charset="0"/>
                <a:sym typeface="Times New Roman" charset="0"/>
              </a:rPr>
              <a:t>que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precisa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ser</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feito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Atividades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exploratórias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acontecem</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quando</a:t>
            </a:r>
            <a:r>
              <a:rPr lang="en-US" dirty="0">
                <a:solidFill>
                  <a:srgbClr val="000000"/>
                </a:solidFill>
                <a:cs typeface="Times New Roman" charset="0"/>
                <a:sym typeface="Times New Roman" charset="0"/>
              </a:rPr>
              <a:t> se </a:t>
            </a:r>
            <a:r>
              <a:rPr lang="en-US" dirty="0" err="1">
                <a:solidFill>
                  <a:srgbClr val="000000"/>
                </a:solidFill>
                <a:cs typeface="Times New Roman" charset="0"/>
                <a:sym typeface="Times New Roman" charset="0"/>
              </a:rPr>
              <a:t>enfrenta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novos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problemas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que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exigem</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soluções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ainda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não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existentes</a:t>
            </a:r>
            <a:r>
              <a:rPr lang="en-US" dirty="0">
                <a:solidFill>
                  <a:srgbClr val="000000"/>
                </a:solidFill>
                <a:cs typeface="Times New Roman" charset="0"/>
                <a:sym typeface="Times New Roman" charset="0"/>
              </a:rPr>
              <a:t>.</a:t>
            </a:r>
          </a:p>
          <a:p>
            <a:pPr marL="39688">
              <a:spcBef>
                <a:spcPts val="450"/>
              </a:spcBef>
            </a:pPr>
            <a:endParaRPr lang="en-US" dirty="0">
              <a:solidFill>
                <a:srgbClr val="000000"/>
              </a:solidFill>
              <a:cs typeface="Times New Roman" charset="0"/>
              <a:sym typeface="Times New Roman" charset="0"/>
            </a:endParaRPr>
          </a:p>
          <a:p>
            <a:pPr marL="39688">
              <a:spcBef>
                <a:spcPts val="450"/>
              </a:spcBef>
            </a:pPr>
            <a:r>
              <a:rPr lang="en-US" dirty="0" err="1">
                <a:solidFill>
                  <a:srgbClr val="000000"/>
                </a:solidFill>
                <a:cs typeface="Times New Roman" charset="0"/>
                <a:sym typeface="Times New Roman" charset="0"/>
              </a:rPr>
              <a:t>Atividades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organizadas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por</a:t>
            </a:r>
            <a:r>
              <a:rPr lang="en-US" dirty="0">
                <a:solidFill>
                  <a:srgbClr val="000000"/>
                </a:solidFill>
                <a:cs typeface="Times New Roman" charset="0"/>
                <a:sym typeface="Times New Roman" charset="0"/>
              </a:rPr>
              <a:t> outro </a:t>
            </a:r>
            <a:r>
              <a:rPr lang="en-US" dirty="0" err="1">
                <a:solidFill>
                  <a:srgbClr val="000000"/>
                </a:solidFill>
                <a:cs typeface="Times New Roman" charset="0"/>
                <a:sym typeface="Times New Roman" charset="0"/>
              </a:rPr>
              <a:t>lado</a:t>
            </a:r>
            <a:r>
              <a:rPr lang="en-US" dirty="0">
                <a:solidFill>
                  <a:srgbClr val="000000"/>
                </a:solidFill>
                <a:cs typeface="Times New Roman" charset="0"/>
                <a:sym typeface="Times New Roman" charset="0"/>
              </a:rPr>
              <a:t>, se </a:t>
            </a:r>
            <a:r>
              <a:rPr lang="en-US" dirty="0" err="1">
                <a:solidFill>
                  <a:srgbClr val="000000"/>
                </a:solidFill>
                <a:cs typeface="Times New Roman" charset="0"/>
                <a:sym typeface="Times New Roman" charset="0"/>
              </a:rPr>
              <a:t>caracterizam</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pela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repetição</a:t>
            </a:r>
            <a:r>
              <a:rPr lang="en-US" dirty="0">
                <a:solidFill>
                  <a:srgbClr val="000000"/>
                </a:solidFill>
                <a:cs typeface="Times New Roman" charset="0"/>
                <a:sym typeface="Times New Roman" charset="0"/>
              </a:rPr>
              <a:t> e </a:t>
            </a:r>
            <a:r>
              <a:rPr lang="en-US" dirty="0" err="1">
                <a:solidFill>
                  <a:srgbClr val="000000"/>
                </a:solidFill>
                <a:cs typeface="Times New Roman" charset="0"/>
                <a:sym typeface="Times New Roman" charset="0"/>
              </a:rPr>
              <a:t>planejamento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Sabe</a:t>
            </a:r>
            <a:r>
              <a:rPr lang="en-US" dirty="0">
                <a:solidFill>
                  <a:srgbClr val="000000"/>
                </a:solidFill>
                <a:cs typeface="Times New Roman" charset="0"/>
                <a:sym typeface="Times New Roman" charset="0"/>
              </a:rPr>
              <a:t>-se </a:t>
            </a:r>
            <a:r>
              <a:rPr lang="en-US" dirty="0" err="1">
                <a:solidFill>
                  <a:srgbClr val="000000"/>
                </a:solidFill>
                <a:cs typeface="Times New Roman" charset="0"/>
                <a:sym typeface="Times New Roman" charset="0"/>
              </a:rPr>
              <a:t>qual</a:t>
            </a:r>
            <a:r>
              <a:rPr lang="en-US" dirty="0">
                <a:solidFill>
                  <a:srgbClr val="000000"/>
                </a:solidFill>
                <a:cs typeface="Times New Roman" charset="0"/>
                <a:sym typeface="Times New Roman" charset="0"/>
              </a:rPr>
              <a:t> o </a:t>
            </a:r>
            <a:r>
              <a:rPr lang="en-US" dirty="0" err="1">
                <a:solidFill>
                  <a:srgbClr val="000000"/>
                </a:solidFill>
                <a:cs typeface="Times New Roman" charset="0"/>
                <a:sym typeface="Times New Roman" charset="0"/>
              </a:rPr>
              <a:t>resultado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desejado</a:t>
            </a:r>
            <a:r>
              <a:rPr lang="en-US" dirty="0">
                <a:solidFill>
                  <a:srgbClr val="000000"/>
                </a:solidFill>
                <a:cs typeface="Times New Roman" charset="0"/>
                <a:sym typeface="Times New Roman" charset="0"/>
              </a:rPr>
              <a:t> e </a:t>
            </a:r>
            <a:r>
              <a:rPr lang="en-US" dirty="0" err="1">
                <a:solidFill>
                  <a:srgbClr val="000000"/>
                </a:solidFill>
                <a:cs typeface="Times New Roman" charset="0"/>
                <a:sym typeface="Times New Roman" charset="0"/>
              </a:rPr>
              <a:t>quais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são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os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passos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necessários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para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obtê</a:t>
            </a:r>
            <a:r>
              <a:rPr lang="en-US" dirty="0">
                <a:solidFill>
                  <a:srgbClr val="000000"/>
                </a:solidFill>
                <a:cs typeface="Times New Roman" charset="0"/>
                <a:sym typeface="Times New Roman" charset="0"/>
              </a:rPr>
              <a:t>-lo. </a:t>
            </a:r>
          </a:p>
          <a:p>
            <a:pPr marL="39688">
              <a:spcBef>
                <a:spcPts val="450"/>
              </a:spcBef>
            </a:pPr>
            <a:endParaRPr lang="en-US" dirty="0">
              <a:solidFill>
                <a:srgbClr val="000000"/>
              </a:solidFill>
              <a:cs typeface="Times New Roman" charset="0"/>
              <a:sym typeface="Times New Roman" charset="0"/>
            </a:endParaRPr>
          </a:p>
          <a:p>
            <a:pPr marL="39688">
              <a:spcBef>
                <a:spcPts val="450"/>
              </a:spcBef>
            </a:pPr>
            <a:r>
              <a:rPr lang="en-US" dirty="0">
                <a:solidFill>
                  <a:srgbClr val="000000"/>
                </a:solidFill>
                <a:cs typeface="Times New Roman" charset="0"/>
                <a:sym typeface="Times New Roman" charset="0"/>
              </a:rPr>
              <a:t>Na </a:t>
            </a:r>
            <a:r>
              <a:rPr lang="en-US" dirty="0" err="1">
                <a:solidFill>
                  <a:srgbClr val="000000"/>
                </a:solidFill>
                <a:cs typeface="Times New Roman" charset="0"/>
                <a:sym typeface="Times New Roman" charset="0"/>
              </a:rPr>
              <a:t>verdade</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não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há</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uma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dicotomia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rígida</a:t>
            </a:r>
            <a:r>
              <a:rPr lang="en-US" dirty="0">
                <a:solidFill>
                  <a:srgbClr val="000000"/>
                </a:solidFill>
                <a:cs typeface="Times New Roman" charset="0"/>
                <a:sym typeface="Times New Roman" charset="0"/>
              </a:rPr>
              <a:t> entre </a:t>
            </a:r>
            <a:r>
              <a:rPr lang="en-US" dirty="0" err="1">
                <a:solidFill>
                  <a:srgbClr val="000000"/>
                </a:solidFill>
                <a:cs typeface="Times New Roman" charset="0"/>
                <a:sym typeface="Times New Roman" charset="0"/>
              </a:rPr>
              <a:t>os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dois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conceitos</a:t>
            </a:r>
            <a:r>
              <a:rPr lang="en-US" dirty="0">
                <a:solidFill>
                  <a:srgbClr val="000000"/>
                </a:solidFill>
                <a:cs typeface="Times New Roman" charset="0"/>
                <a:sym typeface="Times New Roman" charset="0"/>
              </a:rPr>
              <a:t>, mas </a:t>
            </a:r>
            <a:r>
              <a:rPr lang="en-US" dirty="0" err="1">
                <a:solidFill>
                  <a:srgbClr val="000000"/>
                </a:solidFill>
                <a:cs typeface="Times New Roman" charset="0"/>
                <a:sym typeface="Times New Roman" charset="0"/>
              </a:rPr>
              <a:t>sim</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uma</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escala</a:t>
            </a:r>
            <a:r>
              <a:rPr lang="en-US" dirty="0">
                <a:solidFill>
                  <a:srgbClr val="000000"/>
                </a:solidFill>
                <a:cs typeface="Times New Roman" charset="0"/>
                <a:sym typeface="Times New Roman" charset="0"/>
              </a:rPr>
              <a:t> de </a:t>
            </a:r>
            <a:r>
              <a:rPr lang="en-US" dirty="0" err="1">
                <a:solidFill>
                  <a:srgbClr val="000000"/>
                </a:solidFill>
                <a:cs typeface="Times New Roman" charset="0"/>
                <a:sym typeface="Times New Roman" charset="0"/>
              </a:rPr>
              <a:t>gradações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Todos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os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projetos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contém</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partes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exploratórias</a:t>
            </a:r>
            <a:r>
              <a:rPr lang="en-US" dirty="0">
                <a:solidFill>
                  <a:srgbClr val="000000"/>
                </a:solidFill>
                <a:cs typeface="Times New Roman" charset="0"/>
                <a:sym typeface="Times New Roman" charset="0"/>
              </a:rPr>
              <a:t> e </a:t>
            </a:r>
            <a:r>
              <a:rPr lang="en-US" dirty="0" err="1">
                <a:solidFill>
                  <a:srgbClr val="000000"/>
                </a:solidFill>
                <a:cs typeface="Times New Roman" charset="0"/>
                <a:sym typeface="Times New Roman" charset="0"/>
              </a:rPr>
              <a:t>partes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organizadas</a:t>
            </a:r>
            <a:r>
              <a:rPr lang="en-US" dirty="0">
                <a:solidFill>
                  <a:srgbClr val="000000"/>
                </a:solidFill>
                <a:cs typeface="Times New Roman" charset="0"/>
                <a:sym typeface="Times New Roman" charset="0"/>
              </a:rPr>
              <a:t>. O </a:t>
            </a:r>
            <a:r>
              <a:rPr lang="en-US" dirty="0" err="1">
                <a:solidFill>
                  <a:srgbClr val="000000"/>
                </a:solidFill>
                <a:cs typeface="Times New Roman" charset="0"/>
                <a:sym typeface="Times New Roman" charset="0"/>
              </a:rPr>
              <a:t>quanto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mais</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madura</a:t>
            </a:r>
            <a:r>
              <a:rPr lang="en-US" dirty="0">
                <a:solidFill>
                  <a:srgbClr val="000000"/>
                </a:solidFill>
                <a:cs typeface="Times New Roman" charset="0"/>
                <a:sym typeface="Times New Roman" charset="0"/>
              </a:rPr>
              <a:t> é a </a:t>
            </a:r>
            <a:r>
              <a:rPr lang="en-US" dirty="0" err="1">
                <a:solidFill>
                  <a:srgbClr val="000000"/>
                </a:solidFill>
                <a:cs typeface="Times New Roman" charset="0"/>
                <a:sym typeface="Times New Roman" charset="0"/>
              </a:rPr>
              <a:t>disciplina</a:t>
            </a:r>
            <a:r>
              <a:rPr lang="en-US" dirty="0">
                <a:solidFill>
                  <a:srgbClr val="000000"/>
                </a:solidFill>
                <a:cs typeface="Times New Roman" charset="0"/>
                <a:sym typeface="Times New Roman" charset="0"/>
              </a:rPr>
              <a:t>, no </a:t>
            </a:r>
            <a:r>
              <a:rPr lang="en-US" dirty="0" err="1">
                <a:solidFill>
                  <a:srgbClr val="000000"/>
                </a:solidFill>
                <a:cs typeface="Times New Roman" charset="0"/>
                <a:sym typeface="Times New Roman" charset="0"/>
              </a:rPr>
              <a:t>entanto</a:t>
            </a:r>
            <a:r>
              <a:rPr lang="en-US" dirty="0">
                <a:solidFill>
                  <a:srgbClr val="000000"/>
                </a:solidFill>
                <a:cs typeface="Times New Roman" charset="0"/>
                <a:sym typeface="Times New Roman" charset="0"/>
              </a:rPr>
              <a:t>, </a:t>
            </a:r>
            <a:r>
              <a:rPr lang="en-US" dirty="0" err="1">
                <a:solidFill>
                  <a:srgbClr val="000000"/>
                </a:solidFill>
                <a:cs typeface="Times New Roman" charset="0"/>
                <a:sym typeface="Times New Roman" charset="0"/>
              </a:rPr>
              <a:t>maior</a:t>
            </a:r>
            <a:r>
              <a:rPr lang="en-US" dirty="0">
                <a:solidFill>
                  <a:srgbClr val="000000"/>
                </a:solidFill>
                <a:cs typeface="Times New Roman" charset="0"/>
                <a:sym typeface="Times New Roman" charset="0"/>
              </a:rPr>
              <a:t> a parte </a:t>
            </a:r>
            <a:r>
              <a:rPr lang="en-US" dirty="0" err="1">
                <a:solidFill>
                  <a:srgbClr val="000000"/>
                </a:solidFill>
                <a:cs typeface="Times New Roman" charset="0"/>
                <a:sym typeface="Times New Roman" charset="0"/>
              </a:rPr>
              <a:t>organizada</a:t>
            </a:r>
            <a:r>
              <a:rPr lang="en-US" dirty="0">
                <a:solidFill>
                  <a:srgbClr val="000000"/>
                </a:solidFill>
                <a:cs typeface="Times New Roman" charset="0"/>
                <a:sym typeface="Times New Roman" charset="0"/>
              </a:rPr>
              <a:t> e </a:t>
            </a:r>
            <a:r>
              <a:rPr lang="en-US" dirty="0" err="1">
                <a:solidFill>
                  <a:srgbClr val="000000"/>
                </a:solidFill>
                <a:cs typeface="Times New Roman" charset="0"/>
                <a:sym typeface="Times New Roman" charset="0"/>
              </a:rPr>
              <a:t>menor</a:t>
            </a:r>
            <a:r>
              <a:rPr lang="en-US" dirty="0">
                <a:solidFill>
                  <a:srgbClr val="000000"/>
                </a:solidFill>
                <a:cs typeface="Times New Roman" charset="0"/>
                <a:sym typeface="Times New Roman" charset="0"/>
              </a:rPr>
              <a:t> a </a:t>
            </a:r>
            <a:r>
              <a:rPr lang="en-US" dirty="0" err="1">
                <a:solidFill>
                  <a:srgbClr val="000000"/>
                </a:solidFill>
                <a:cs typeface="Times New Roman" charset="0"/>
                <a:sym typeface="Times New Roman" charset="0"/>
              </a:rPr>
              <a:t>exploratória</a:t>
            </a:r>
            <a:r>
              <a:rPr lang="en-US" dirty="0">
                <a:solidFill>
                  <a:srgbClr val="000000"/>
                </a:solidFill>
                <a:cs typeface="Times New Roman" charset="0"/>
                <a:sym typeface="Times New Roman" charset="0"/>
              </a:rPr>
              <a:t>.</a:t>
            </a:r>
          </a:p>
        </p:txBody>
      </p:sp>
      <p:sp>
        <p:nvSpPr>
          <p:cNvPr id="2" name="Date Placeholder 1"/>
          <p:cNvSpPr>
            <a:spLocks noGrp="1"/>
          </p:cNvSpPr>
          <p:nvPr>
            <p:ph type="dt" idx="10"/>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1"/>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7890" name="Rectangle 2"/>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txBody>
          <a:bodyPr/>
          <a:lstStyle/>
          <a:p>
            <a:pPr marL="39688">
              <a:spcBef>
                <a:spcPts val="450"/>
              </a:spcBef>
            </a:pPr>
            <a:r>
              <a:rPr lang="en-US">
                <a:solidFill>
                  <a:srgbClr val="000000"/>
                </a:solidFill>
                <a:cs typeface="Times New Roman" charset="0"/>
                <a:sym typeface="Times New Roman" charset="0"/>
              </a:rPr>
              <a:t>Engineers in Texas were licensed only after a boiler explosion in an elementary school killed more than 300 children in 1937.</a:t>
            </a:r>
          </a:p>
          <a:p>
            <a:pPr marL="39688">
              <a:spcBef>
                <a:spcPts val="450"/>
              </a:spcBef>
            </a:pPr>
            <a:r>
              <a:rPr lang="en-US">
                <a:solidFill>
                  <a:srgbClr val="000000"/>
                </a:solidFill>
                <a:cs typeface="Times New Roman" charset="0"/>
                <a:sym typeface="Times New Roman" charset="0"/>
              </a:rPr>
              <a:t>The part that caused the explosion in 1937 has been replaced today by software.</a:t>
            </a:r>
          </a:p>
          <a:p>
            <a:pPr marL="39688">
              <a:spcBef>
                <a:spcPts val="450"/>
              </a:spcBef>
            </a:pPr>
            <a:r>
              <a:rPr lang="en-US">
                <a:solidFill>
                  <a:srgbClr val="000000"/>
                </a:solidFill>
                <a:cs typeface="Times New Roman" charset="0"/>
                <a:sym typeface="Times New Roman" charset="0"/>
              </a:rPr>
              <a:t>In other technical fields the engineering professions were invented so that customers could know who was qualified to build technical products; software customers deserve no less.</a:t>
            </a:r>
          </a:p>
        </p:txBody>
      </p:sp>
      <p:sp>
        <p:nvSpPr>
          <p:cNvPr id="2" name="Date Placeholder 1"/>
          <p:cNvSpPr>
            <a:spLocks noGrp="1"/>
          </p:cNvSpPr>
          <p:nvPr>
            <p:ph type="dt" idx="10"/>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1"/>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9938" name="Rectangle 2"/>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txBody>
          <a:bodyPr/>
          <a:lstStyle/>
          <a:p>
            <a:pPr marL="39688">
              <a:spcBef>
                <a:spcPts val="450"/>
              </a:spcBef>
            </a:pPr>
            <a:r>
              <a:rPr lang="en-US">
                <a:solidFill>
                  <a:srgbClr val="000000"/>
                </a:solidFill>
                <a:cs typeface="Times New Roman" charset="0"/>
                <a:sym typeface="Times New Roman" charset="0"/>
              </a:rPr>
              <a:t>Engineers in Texas were licensed only after a boiler explosion in an elementary school killed more than 300 children in 1937.</a:t>
            </a:r>
          </a:p>
          <a:p>
            <a:pPr marL="39688">
              <a:spcBef>
                <a:spcPts val="450"/>
              </a:spcBef>
            </a:pPr>
            <a:r>
              <a:rPr lang="en-US">
                <a:solidFill>
                  <a:srgbClr val="000000"/>
                </a:solidFill>
                <a:cs typeface="Times New Roman" charset="0"/>
                <a:sym typeface="Times New Roman" charset="0"/>
              </a:rPr>
              <a:t>The part that caused the explosion in 1937 has been replaced today by software.</a:t>
            </a:r>
          </a:p>
          <a:p>
            <a:pPr marL="39688">
              <a:spcBef>
                <a:spcPts val="450"/>
              </a:spcBef>
            </a:pPr>
            <a:r>
              <a:rPr lang="en-US">
                <a:solidFill>
                  <a:srgbClr val="000000"/>
                </a:solidFill>
                <a:cs typeface="Times New Roman" charset="0"/>
                <a:sym typeface="Times New Roman" charset="0"/>
              </a:rPr>
              <a:t>In other technical fields the engineering professions were invented so that customers could know who was qualified to build technical products; software customers deserve no less.</a:t>
            </a:r>
          </a:p>
        </p:txBody>
      </p:sp>
      <p:sp>
        <p:nvSpPr>
          <p:cNvPr id="2" name="Date Placeholder 1"/>
          <p:cNvSpPr>
            <a:spLocks noGrp="1"/>
          </p:cNvSpPr>
          <p:nvPr>
            <p:ph type="dt" idx="10"/>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1"/>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4034" name="Rectangle 2"/>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txBody>
          <a:bodyPr/>
          <a:lstStyle/>
          <a:p>
            <a:pPr marL="496888">
              <a:spcBef>
                <a:spcPts val="450"/>
              </a:spcBef>
            </a:pPr>
            <a:r>
              <a:rPr lang="en-US">
                <a:solidFill>
                  <a:srgbClr val="000000"/>
                </a:solidFill>
                <a:cs typeface="Times New Roman" charset="0"/>
                <a:sym typeface="Times New Roman" charset="0"/>
              </a:rPr>
              <a:t>The Iron Ring of canadian engineers.</a:t>
            </a:r>
          </a:p>
          <a:p>
            <a:pPr marL="496888">
              <a:spcBef>
                <a:spcPts val="450"/>
              </a:spcBef>
            </a:pPr>
            <a:endParaRPr lang="en-US">
              <a:solidFill>
                <a:srgbClr val="000000"/>
              </a:solidFill>
              <a:cs typeface="Times New Roman" charset="0"/>
              <a:sym typeface="Times New Roman" charset="0"/>
            </a:endParaRPr>
          </a:p>
          <a:p>
            <a:pPr marL="496888">
              <a:spcBef>
                <a:spcPts val="450"/>
              </a:spcBef>
            </a:pPr>
            <a:r>
              <a:rPr lang="en-US">
                <a:solidFill>
                  <a:srgbClr val="000000"/>
                </a:solidFill>
                <a:cs typeface="Times New Roman" charset="0"/>
                <a:sym typeface="Times New Roman" charset="0"/>
              </a:rPr>
              <a:t>Laws of robotics</a:t>
            </a:r>
          </a:p>
          <a:p>
            <a:pPr marL="496888">
              <a:spcBef>
                <a:spcPts val="450"/>
              </a:spcBef>
            </a:pPr>
            <a:r>
              <a:rPr lang="en-US">
                <a:solidFill>
                  <a:srgbClr val="000000"/>
                </a:solidFill>
                <a:cs typeface="Times New Roman" charset="0"/>
                <a:sym typeface="Times New Roman" charset="0"/>
              </a:rPr>
              <a:t>um robô não pode ferir um ser humano ou, por omissão, permitir que um ser humano sofra algum mal</a:t>
            </a:r>
          </a:p>
          <a:p>
            <a:pPr marL="496888">
              <a:spcBef>
                <a:spcPts val="450"/>
              </a:spcBef>
            </a:pPr>
            <a:r>
              <a:rPr lang="en-US">
                <a:solidFill>
                  <a:srgbClr val="000000"/>
                </a:solidFill>
                <a:cs typeface="Times New Roman" charset="0"/>
                <a:sym typeface="Times New Roman" charset="0"/>
              </a:rPr>
              <a:t>um robô deve obdecer as ordens que lhe sejam dadas por seres humanos, exceto nos casos em que tais ordens contrariem a primeira Lei</a:t>
            </a:r>
          </a:p>
          <a:p>
            <a:pPr marL="496888">
              <a:spcBef>
                <a:spcPts val="450"/>
              </a:spcBef>
            </a:pPr>
            <a:r>
              <a:rPr lang="en-US">
                <a:solidFill>
                  <a:srgbClr val="000000"/>
                </a:solidFill>
                <a:cs typeface="Times New Roman" charset="0"/>
                <a:sym typeface="Times New Roman" charset="0"/>
              </a:rPr>
              <a:t>um robô deve proteger sua própria existência desde que tal proteção não entre em conflito com a Primeira e Segunda Leis.</a:t>
            </a:r>
          </a:p>
          <a:p>
            <a:pPr marL="496888">
              <a:spcBef>
                <a:spcPts val="450"/>
              </a:spcBef>
            </a:pPr>
            <a:endParaRPr lang="en-US">
              <a:solidFill>
                <a:srgbClr val="000000"/>
              </a:solidFill>
              <a:cs typeface="Times New Roman" charset="0"/>
              <a:sym typeface="Times New Roman" charset="0"/>
            </a:endParaRPr>
          </a:p>
          <a:p>
            <a:pPr marL="496888">
              <a:spcBef>
                <a:spcPts val="450"/>
              </a:spcBef>
            </a:pPr>
            <a:r>
              <a:rPr lang="en-US">
                <a:solidFill>
                  <a:srgbClr val="000000"/>
                </a:solidFill>
                <a:cs typeface="Times New Roman" charset="0"/>
                <a:sym typeface="Times New Roman" charset="0"/>
              </a:rPr>
              <a:t>Christopher Alexander, Bill Joy.</a:t>
            </a:r>
          </a:p>
        </p:txBody>
      </p:sp>
      <p:sp>
        <p:nvSpPr>
          <p:cNvPr id="2" name="Date Placeholder 1"/>
          <p:cNvSpPr>
            <a:spLocks noGrp="1"/>
          </p:cNvSpPr>
          <p:nvPr>
            <p:ph type="dt" idx="10"/>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1"/>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6082" name="Rectangle 2"/>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txBody>
          <a:bodyPr/>
          <a:lstStyle/>
          <a:p>
            <a:pPr marL="496888">
              <a:spcBef>
                <a:spcPts val="450"/>
              </a:spcBef>
            </a:pPr>
            <a:r>
              <a:rPr lang="en-US">
                <a:solidFill>
                  <a:srgbClr val="000000"/>
                </a:solidFill>
                <a:cs typeface="Times New Roman" charset="0"/>
                <a:sym typeface="Times New Roman" charset="0"/>
              </a:rPr>
              <a:t>The Iron Ring of canadian engineers.</a:t>
            </a:r>
          </a:p>
          <a:p>
            <a:pPr marL="496888">
              <a:spcBef>
                <a:spcPts val="450"/>
              </a:spcBef>
            </a:pPr>
            <a:r>
              <a:rPr lang="en-US">
                <a:solidFill>
                  <a:srgbClr val="000000"/>
                </a:solidFill>
                <a:cs typeface="Times New Roman" charset="0"/>
                <a:sym typeface="Times New Roman" charset="0"/>
              </a:rPr>
              <a:t>Laws of robotics</a:t>
            </a:r>
          </a:p>
          <a:p>
            <a:pPr marL="496888">
              <a:spcBef>
                <a:spcPts val="450"/>
              </a:spcBef>
            </a:pPr>
            <a:r>
              <a:rPr lang="en-US">
                <a:solidFill>
                  <a:srgbClr val="000000"/>
                </a:solidFill>
                <a:cs typeface="Times New Roman" charset="0"/>
                <a:sym typeface="Times New Roman" charset="0"/>
              </a:rPr>
              <a:t>Christopher Alexander, Bill Joy.</a:t>
            </a:r>
          </a:p>
        </p:txBody>
      </p:sp>
      <p:sp>
        <p:nvSpPr>
          <p:cNvPr id="2" name="Date Placeholder 1"/>
          <p:cNvSpPr>
            <a:spLocks noGrp="1"/>
          </p:cNvSpPr>
          <p:nvPr>
            <p:ph type="dt" idx="10"/>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53656E-706C-AB47-A545-30B3AC9444BA}" type="slidenum">
              <a:rPr lang="uk-UA"/>
              <a:t>36</a:t>
            </a:fld>
            <a:endParaRPr lang="uk-UA"/>
          </a:p>
        </p:txBody>
      </p:sp>
      <p:sp>
        <p:nvSpPr>
          <p:cNvPr id="5" name="Date Placeholder 4"/>
          <p:cNvSpPr>
            <a:spLocks noGrp="1"/>
          </p:cNvSpPr>
          <p:nvPr>
            <p:ph type="dt" idx="11"/>
          </p:nvPr>
        </p:nvSpPr>
        <p:spPr/>
        <p:txBody>
          <a:bodyPr/>
          <a:lstStyle/>
          <a:p>
            <a:endParaRPr lang="en-US"/>
          </a:p>
        </p:txBody>
      </p:sp>
    </p:spTree>
    <p:extLst>
      <p:ext uri="{BB962C8B-B14F-4D97-AF65-F5344CB8AC3E}">
        <p14:creationId xmlns:p14="http://schemas.microsoft.com/office/powerpoint/2010/main" val="320058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lumMod val="50000"/>
          </a:schemeClr>
        </a:solidFill>
        <a:effectLst/>
      </p:bgPr>
    </p:bg>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3370502" y="-21511"/>
            <a:ext cx="486985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3489805" y="-21511"/>
            <a:ext cx="4664491"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886201" y="2708476"/>
            <a:ext cx="4160520" cy="1702160"/>
          </a:xfrm>
        </p:spPr>
        <p:txBody>
          <a:bodyPr>
            <a:normAutofit/>
          </a:bodyPr>
          <a:lstStyle>
            <a:lvl1pPr>
              <a:defRPr sz="3600"/>
            </a:lvl1pPr>
          </a:lstStyle>
          <a:p>
            <a:r>
              <a:rPr lang="x-none" smtClean="0"/>
              <a:t>Click to edit Master title style</a:t>
            </a:r>
            <a:endParaRPr lang="en-US" dirty="0"/>
          </a:p>
        </p:txBody>
      </p:sp>
      <p:sp>
        <p:nvSpPr>
          <p:cNvPr id="3" name="Subtitle 2"/>
          <p:cNvSpPr>
            <a:spLocks noGrp="1"/>
          </p:cNvSpPr>
          <p:nvPr>
            <p:ph type="subTitle" idx="1"/>
          </p:nvPr>
        </p:nvSpPr>
        <p:spPr>
          <a:xfrm>
            <a:off x="3886201" y="4421080"/>
            <a:ext cx="4156967"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smtClean="0"/>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endParaRPr lang="en-US" dirty="0"/>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n-US" dirty="0"/>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8B37D5FE-740C-46F5-801A-FA5477D9711F}" type="slidenum">
              <a:rPr lang="en-US" smtClean="0"/>
              <a:pPr/>
              <a:t>‹nº›</a:t>
            </a:fld>
            <a:endParaRPr lang="en-US" dirty="0"/>
          </a:p>
        </p:txBody>
      </p:sp>
      <p:sp>
        <p:nvSpPr>
          <p:cNvPr id="89" name="Rectangle 88"/>
          <p:cNvSpPr/>
          <p:nvPr/>
        </p:nvSpPr>
        <p:spPr>
          <a:xfrm>
            <a:off x="3489805" y="6088284"/>
            <a:ext cx="4666284"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smtClean="0"/>
              <a:t>Click to edit Master title style</a:t>
            </a:r>
            <a:endParaRPr lang="en-US"/>
          </a:p>
        </p:txBody>
      </p:sp>
      <p:sp>
        <p:nvSpPr>
          <p:cNvPr id="3" name="Content Placeholder 2"/>
          <p:cNvSpPr>
            <a:spLocks noGrp="1"/>
          </p:cNvSpPr>
          <p:nvPr>
            <p:ph idx="1"/>
          </p:nvPr>
        </p:nvSpPr>
        <p:spPr/>
        <p:txBody>
          <a:body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37D5FE-740C-46F5-801A-FA5477D9711F}"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x-none" smtClean="0"/>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x-none"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37D5FE-740C-46F5-801A-FA5477D9711F}"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smtClean="0"/>
              <a:t>Click to edit Master title style</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37D5FE-740C-46F5-801A-FA5477D9711F}" type="slidenum">
              <a:rPr lang="en-US" smtClean="0"/>
              <a:pPr/>
              <a:t>‹nº›</a:t>
            </a:fld>
            <a:endParaRPr lang="en-US"/>
          </a:p>
        </p:txBody>
      </p:sp>
      <p:sp>
        <p:nvSpPr>
          <p:cNvPr id="9" name="Content Placeholder 8"/>
          <p:cNvSpPr>
            <a:spLocks noGrp="1"/>
          </p:cNvSpPr>
          <p:nvPr>
            <p:ph sz="quarter" idx="13"/>
          </p:nvPr>
        </p:nvSpPr>
        <p:spPr>
          <a:xfrm>
            <a:off x="1042416" y="2313432"/>
            <a:ext cx="3419856" cy="3493008"/>
          </a:xfrm>
        </p:spPr>
        <p:txBody>
          <a:body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x-none" smtClean="0"/>
              <a:t>Click to edit Master title style</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smtClean="0"/>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smtClean="0"/>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B37D5FE-740C-46F5-801A-FA5477D9711F}"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B37D5FE-740C-46F5-801A-FA5477D9711F}"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B37D5FE-740C-46F5-801A-FA5477D9711F}"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endParaRPr lang="en-US"/>
          </a:p>
        </p:txBody>
      </p:sp>
      <p:sp>
        <p:nvSpPr>
          <p:cNvPr id="7" name="Slide Number Placeholder 6"/>
          <p:cNvSpPr>
            <a:spLocks noGrp="1"/>
          </p:cNvSpPr>
          <p:nvPr>
            <p:ph type="sldNum" sz="quarter" idx="12"/>
          </p:nvPr>
        </p:nvSpPr>
        <p:spPr/>
        <p:txBody>
          <a:bodyPr/>
          <a:lstStyle/>
          <a:p>
            <a:fld id="{8B37D5FE-740C-46F5-801A-FA5477D9711F}" type="slidenum">
              <a:rPr lang="en-US" smtClean="0"/>
              <a:pPr/>
              <a:t>‹nº›</a:t>
            </a:fld>
            <a:endParaRPr lang="en-US"/>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dirty="0"/>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x-none" smtClean="0"/>
              <a:t>Click to edit Master title style</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x-none" smtClean="0"/>
              <a:t>Click to edit Master title style</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x-none" smtClean="0"/>
              <a:t>Drag picture to placeholder or click icon to add</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dirty="0"/>
          </a:p>
        </p:txBody>
      </p:sp>
      <p:sp>
        <p:nvSpPr>
          <p:cNvPr id="7" name="Slide Number Placeholder 6"/>
          <p:cNvSpPr>
            <a:spLocks noGrp="1"/>
          </p:cNvSpPr>
          <p:nvPr>
            <p:ph type="sldNum" sz="quarter" idx="12"/>
          </p:nvPr>
        </p:nvSpPr>
        <p:spPr/>
        <p:txBody>
          <a:bodyPr/>
          <a:lstStyle/>
          <a:p>
            <a:fld id="{8B37D5FE-740C-46F5-801A-FA5477D9711F}"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37D5FE-740C-46F5-801A-FA5477D9711F}"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x-none" smtClean="0"/>
              <a:t>Click to edit Master title style</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37D5FE-740C-46F5-801A-FA5477D9711F}"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x-none" smtClean="0"/>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endParaRPr lang="en-US"/>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n-US" dirty="0"/>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8B37D5FE-740C-46F5-801A-FA5477D9711F}"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hf sldNum="0" hdr="0" ftr="0"/>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86659" y="2134457"/>
            <a:ext cx="4356509" cy="2179694"/>
          </a:xfrm>
        </p:spPr>
        <p:txBody>
          <a:bodyPr/>
          <a:lstStyle/>
          <a:p>
            <a:r>
              <a:rPr lang="en-US" dirty="0"/>
              <a:t>O </a:t>
            </a:r>
            <a:r>
              <a:rPr lang="en-US" dirty="0" err="1"/>
              <a:t>que</a:t>
            </a:r>
            <a:r>
              <a:rPr lang="en-US" dirty="0"/>
              <a:t> é </a:t>
            </a:r>
            <a:r>
              <a:rPr lang="en-US" dirty="0" err="1"/>
              <a:t>Engenharia</a:t>
            </a:r>
            <a:r>
              <a:rPr lang="en-US" dirty="0"/>
              <a:t> de Software?</a:t>
            </a:r>
          </a:p>
        </p:txBody>
      </p:sp>
      <p:sp>
        <p:nvSpPr>
          <p:cNvPr id="3" name="Subtitle 2"/>
          <p:cNvSpPr>
            <a:spLocks noGrp="1"/>
          </p:cNvSpPr>
          <p:nvPr>
            <p:ph type="subTitle" idx="1"/>
          </p:nvPr>
        </p:nvSpPr>
        <p:spPr>
          <a:xfrm>
            <a:off x="4015409" y="4657850"/>
            <a:ext cx="4027759" cy="1133350"/>
          </a:xfrm>
        </p:spPr>
        <p:txBody>
          <a:bodyPr>
            <a:normAutofit/>
          </a:bodyPr>
          <a:lstStyle/>
          <a:p>
            <a:r>
              <a:rPr lang="en-US" dirty="0"/>
              <a:t>Maria Augusta Vieira Nelson</a:t>
            </a:r>
          </a:p>
          <a:p>
            <a:r>
              <a:rPr lang="en-US" dirty="0" err="1"/>
              <a:t>Torsten</a:t>
            </a:r>
            <a:r>
              <a:rPr lang="en-US" dirty="0"/>
              <a:t> </a:t>
            </a:r>
            <a:r>
              <a:rPr lang="en-US" dirty="0" smtClean="0"/>
              <a:t>Nelson</a:t>
            </a:r>
          </a:p>
          <a:p>
            <a:r>
              <a:rPr lang="en-US" dirty="0" smtClean="0"/>
              <a:t>Simone AA Silva</a:t>
            </a:r>
            <a:endParaRPr lang="en-US" dirty="0"/>
          </a:p>
        </p:txBody>
      </p:sp>
      <p:sp>
        <p:nvSpPr>
          <p:cNvPr id="4" name="Date Placeholder 3"/>
          <p:cNvSpPr>
            <a:spLocks noGrp="1"/>
          </p:cNvSpPr>
          <p:nvPr>
            <p:ph type="dt" sz="half" idx="10"/>
          </p:nvPr>
        </p:nvSpPr>
        <p:spPr/>
        <p:txBody>
          <a:bodyPr/>
          <a:lstStyle/>
          <a:p>
            <a:endParaRPr lang="en-US" dirty="0"/>
          </a:p>
        </p:txBody>
      </p:sp>
    </p:spTree>
    <p:extLst>
      <p:ext uri="{BB962C8B-B14F-4D97-AF65-F5344CB8AC3E}">
        <p14:creationId xmlns:p14="http://schemas.microsoft.com/office/powerpoint/2010/main" val="163286060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title"/>
          </p:nvPr>
        </p:nvSpPr>
        <p:spPr>
          <a:xfrm>
            <a:off x="1043490" y="886536"/>
            <a:ext cx="7024744" cy="1143000"/>
          </a:xfrm>
          <a:ln/>
        </p:spPr>
        <p:txBody>
          <a:bodyPr rIns="132080">
            <a:noAutofit/>
          </a:bodyPr>
          <a:lstStyle/>
          <a:p>
            <a:r>
              <a:rPr lang="en-US" sz="3600"/>
              <a:t>Engenharia de software = </a:t>
            </a:r>
            <a:br>
              <a:rPr lang="en-US" sz="3600"/>
            </a:br>
            <a:r>
              <a:rPr lang="en-US" sz="3600"/>
              <a:t>ciência da computação?</a:t>
            </a:r>
          </a:p>
        </p:txBody>
      </p:sp>
      <p:sp>
        <p:nvSpPr>
          <p:cNvPr id="4101" name="Rectangle 5"/>
          <p:cNvSpPr>
            <a:spLocks noGrp="1" noChangeArrowheads="1"/>
          </p:cNvSpPr>
          <p:nvPr>
            <p:ph idx="1"/>
          </p:nvPr>
        </p:nvSpPr>
        <p:spPr>
          <a:xfrm>
            <a:off x="1043492" y="2200165"/>
            <a:ext cx="6777317" cy="4221217"/>
          </a:xfrm>
          <a:ln/>
        </p:spPr>
        <p:txBody>
          <a:bodyPr rIns="132080">
            <a:normAutofit lnSpcReduction="10000"/>
          </a:bodyPr>
          <a:lstStyle/>
          <a:p>
            <a:r>
              <a:rPr lang="en-US"/>
              <a:t>A CC se assemelha a uma engenharia</a:t>
            </a:r>
          </a:p>
          <a:p>
            <a:pPr marL="947738" lvl="1"/>
            <a:r>
              <a:rPr lang="en-US" sz="2000"/>
              <a:t>cientistas da computação projetam e constroem software</a:t>
            </a:r>
          </a:p>
          <a:p>
            <a:r>
              <a:rPr lang="en-US"/>
              <a:t>A disciplina de ES foi criada por cientistas da computação</a:t>
            </a:r>
          </a:p>
          <a:p>
            <a:r>
              <a:rPr lang="en-US"/>
              <a:t>Cientistas da computação sabem mais sobre a construção de software do que qualquer outro grupo.</a:t>
            </a:r>
          </a:p>
          <a:p>
            <a:r>
              <a:rPr lang="ja-JP" altLang="en-US">
                <a:latin typeface="Arial"/>
              </a:rPr>
              <a:t>“</a:t>
            </a:r>
            <a:r>
              <a:rPr lang="en-US"/>
              <a:t>O cientista constrói para aprender;</a:t>
            </a:r>
            <a:br>
              <a:rPr lang="en-US"/>
            </a:br>
            <a:r>
              <a:rPr lang="en-US"/>
              <a:t>  o engenheiro aprende para construir</a:t>
            </a:r>
            <a:r>
              <a:rPr lang="ja-JP" altLang="en-US">
                <a:latin typeface="Arial"/>
              </a:rPr>
              <a:t>”</a:t>
            </a:r>
            <a:endParaRPr lang="en-US"/>
          </a:p>
          <a:p>
            <a:pPr marL="1905000" lvl="4" indent="0">
              <a:buNone/>
            </a:pPr>
            <a:r>
              <a:rPr lang="en-US" sz="1800"/>
              <a:t>			Fred Brooks</a:t>
            </a:r>
          </a:p>
        </p:txBody>
      </p:sp>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25737015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2" name="Rectangle 4"/>
          <p:cNvSpPr>
            <a:spLocks noGrp="1" noChangeArrowheads="1"/>
          </p:cNvSpPr>
          <p:nvPr>
            <p:ph type="title"/>
          </p:nvPr>
        </p:nvSpPr>
        <p:spPr>
          <a:ln/>
        </p:spPr>
        <p:txBody>
          <a:bodyPr rIns="132080">
            <a:normAutofit fontScale="90000"/>
          </a:bodyPr>
          <a:lstStyle/>
          <a:p>
            <a:r>
              <a:rPr lang="en-US"/>
              <a:t>A engenharia de software tolhe a arte?</a:t>
            </a:r>
          </a:p>
        </p:txBody>
      </p:sp>
      <p:sp>
        <p:nvSpPr>
          <p:cNvPr id="7173" name="Rectangle 5"/>
          <p:cNvSpPr>
            <a:spLocks noGrp="1" noChangeArrowheads="1"/>
          </p:cNvSpPr>
          <p:nvPr>
            <p:ph idx="1"/>
          </p:nvPr>
        </p:nvSpPr>
        <p:spPr>
          <a:xfrm>
            <a:off x="4460055" y="4772025"/>
            <a:ext cx="3996259" cy="1575044"/>
          </a:xfrm>
          <a:ln/>
          <a:extLst>
            <a:ext uri="{91240B29-F687-4F45-9708-019B960494DF}">
              <a14:hiddenLine xmlns:a14="http://schemas.microsoft.com/office/drawing/2010/main" w="9525">
                <a:solidFill>
                  <a:schemeClr val="tx1"/>
                </a:solidFill>
                <a:miter lim="800000"/>
                <a:headEnd/>
                <a:tailEnd/>
              </a14:hiddenLine>
            </a:ext>
          </a:extLst>
        </p:spPr>
        <p:txBody>
          <a:bodyPr rIns="132080"/>
          <a:lstStyle/>
          <a:p>
            <a:r>
              <a:rPr lang="ja-JP" altLang="en-US" sz="1800">
                <a:latin typeface="Arial"/>
              </a:rPr>
              <a:t>“</a:t>
            </a:r>
            <a:r>
              <a:rPr lang="en-US" sz="1800"/>
              <a:t>A engenharia não restringe as possibilidades artísticas; a </a:t>
            </a:r>
            <a:r>
              <a:rPr lang="en-US" sz="1800" i="1"/>
              <a:t>falta</a:t>
            </a:r>
            <a:r>
              <a:rPr lang="en-US" sz="1800"/>
              <a:t> de engenharia restringe as possibilidades artísticas</a:t>
            </a:r>
            <a:r>
              <a:rPr lang="ja-JP" altLang="en-US" sz="1800">
                <a:latin typeface="Arial"/>
              </a:rPr>
              <a:t>”</a:t>
            </a:r>
            <a:r>
              <a:rPr lang="en-US" sz="1800"/>
              <a:t> </a:t>
            </a:r>
          </a:p>
          <a:p>
            <a:pPr marL="68580" indent="0">
              <a:buNone/>
            </a:pPr>
            <a:r>
              <a:rPr lang="en-US" sz="1800"/>
              <a:t>	– Steve McConnell</a:t>
            </a:r>
          </a:p>
        </p:txBody>
      </p:sp>
      <p:sp>
        <p:nvSpPr>
          <p:cNvPr id="7174" name="Rectangle 6"/>
          <p:cNvSpPr>
            <a:spLocks/>
          </p:cNvSpPr>
          <p:nvPr/>
        </p:nvSpPr>
        <p:spPr bwMode="auto">
          <a:xfrm>
            <a:off x="4498975" y="4340225"/>
            <a:ext cx="40147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wrap="none" lIns="0" tIns="0" rIns="40639" bIns="0">
            <a:spAutoFit/>
          </a:bodyPr>
          <a:lstStyle/>
          <a:p>
            <a:pPr marL="39688"/>
            <a:r>
              <a:rPr lang="en-US">
                <a:solidFill>
                  <a:schemeClr val="tx1"/>
                </a:solidFill>
                <a:ea typeface="ＭＳ Ｐゴシック" charset="0"/>
                <a:cs typeface="Times New Roman" charset="0"/>
              </a:rPr>
              <a:t>Casa da ópera de Sidney - 1973</a:t>
            </a:r>
          </a:p>
        </p:txBody>
      </p:sp>
      <p:sp>
        <p:nvSpPr>
          <p:cNvPr id="7175" name="Rectangle 7"/>
          <p:cNvSpPr>
            <a:spLocks/>
          </p:cNvSpPr>
          <p:nvPr/>
        </p:nvSpPr>
        <p:spPr bwMode="auto">
          <a:xfrm>
            <a:off x="684213" y="5797945"/>
            <a:ext cx="3124200"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wrap="none" lIns="0" tIns="0" rIns="40639" bIns="0">
            <a:spAutoFit/>
          </a:bodyPr>
          <a:lstStyle/>
          <a:p>
            <a:pPr marL="39688"/>
            <a:r>
              <a:rPr lang="en-US">
                <a:solidFill>
                  <a:schemeClr val="tx1"/>
                </a:solidFill>
                <a:ea typeface="ＭＳ Ｐゴシック" charset="0"/>
                <a:cs typeface="Times New Roman" charset="0"/>
              </a:rPr>
              <a:t>Catedral de Notre Dame</a:t>
            </a:r>
          </a:p>
          <a:p>
            <a:pPr marL="39688"/>
            <a:r>
              <a:rPr lang="en-US">
                <a:solidFill>
                  <a:schemeClr val="tx1"/>
                </a:solidFill>
                <a:ea typeface="ＭＳ Ｐゴシック" charset="0"/>
                <a:cs typeface="Times New Roman" charset="0"/>
              </a:rPr>
              <a:t> de Paris - 1285</a:t>
            </a:r>
          </a:p>
        </p:txBody>
      </p:sp>
      <p:pic>
        <p:nvPicPr>
          <p:cNvPr id="7176" name="Picture 8"/>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971550" y="2176520"/>
            <a:ext cx="2193925" cy="345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chemeClr val="tx1"/>
                </a:solidFill>
                <a:miter lim="800000"/>
                <a:headEnd/>
                <a:tailEnd/>
              </a14:hiddenLine>
            </a:ext>
          </a:extLst>
        </p:spPr>
      </p:pic>
      <p:pic>
        <p:nvPicPr>
          <p:cNvPr id="7177" name="Picture 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844675"/>
            <a:ext cx="3924300"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chemeClr val="tx1"/>
                </a:solidFill>
                <a:miter lim="800000"/>
                <a:headEnd/>
                <a:tailEnd/>
              </a14:hiddenLine>
            </a:ext>
          </a:extLst>
        </p:spPr>
      </p:pic>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713238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173">
                                            <p:txEl>
                                              <p:pRg st="0" end="0"/>
                                            </p:txEl>
                                          </p:spTgt>
                                        </p:tgtEl>
                                        <p:attrNameLst>
                                          <p:attrName>style.visibility</p:attrName>
                                        </p:attrNameLst>
                                      </p:cBhvr>
                                      <p:to>
                                        <p:strVal val="visible"/>
                                      </p:to>
                                    </p:set>
                                    <p:anim calcmode="lin" valueType="num">
                                      <p:cBhvr additive="base">
                                        <p:cTn id="7" dur="500" fill="hold"/>
                                        <p:tgtEl>
                                          <p:spTgt spid="717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173">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7173">
                                            <p:txEl>
                                              <p:pRg st="1" end="1"/>
                                            </p:txEl>
                                          </p:spTgt>
                                        </p:tgtEl>
                                        <p:attrNameLst>
                                          <p:attrName>style.visibility</p:attrName>
                                        </p:attrNameLst>
                                      </p:cBhvr>
                                      <p:to>
                                        <p:strVal val="visible"/>
                                      </p:to>
                                    </p:set>
                                    <p:anim calcmode="lin" valueType="num">
                                      <p:cBhvr additive="base">
                                        <p:cTn id="12" dur="500" fill="hold"/>
                                        <p:tgtEl>
                                          <p:spTgt spid="7173">
                                            <p:txEl>
                                              <p:pRg st="1" end="1"/>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717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3" grpId="0" build="p" autoUpdateAnimBg="0"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685800" y="423384"/>
            <a:ext cx="7772400" cy="1566863"/>
          </a:xfrm>
          <a:ln/>
        </p:spPr>
        <p:txBody>
          <a:bodyPr rIns="132080"/>
          <a:lstStyle/>
          <a:p>
            <a:r>
              <a:rPr lang="en-US"/>
              <a:t>A engenharia de software é uma engenharia?</a:t>
            </a:r>
          </a:p>
        </p:txBody>
      </p:sp>
      <p:sp>
        <p:nvSpPr>
          <p:cNvPr id="9221" name="Rectangle 5"/>
          <p:cNvSpPr>
            <a:spLocks noGrp="1" noChangeArrowheads="1"/>
          </p:cNvSpPr>
          <p:nvPr>
            <p:ph type="body" idx="1"/>
          </p:nvPr>
        </p:nvSpPr>
        <p:spPr>
          <a:xfrm>
            <a:off x="566738" y="2252344"/>
            <a:ext cx="8001000" cy="3904417"/>
          </a:xfrm>
          <a:ln/>
        </p:spPr>
        <p:txBody>
          <a:bodyPr rIns="132080"/>
          <a:lstStyle/>
          <a:p>
            <a:r>
              <a:rPr lang="en-US"/>
              <a:t>Há dois aspectos a se considerar:</a:t>
            </a:r>
          </a:p>
        </p:txBody>
      </p:sp>
      <p:pic>
        <p:nvPicPr>
          <p:cNvPr id="9222" name="Picture 6"/>
          <p:cNvPicPr>
            <a:picLocks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692275" y="3033713"/>
            <a:ext cx="2233613" cy="167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chemeClr val="tx1"/>
                </a:solidFill>
                <a:miter lim="800000"/>
                <a:headEnd/>
                <a:tailEnd/>
              </a14:hiddenLine>
            </a:ext>
          </a:extLst>
        </p:spPr>
      </p:pic>
      <p:pic>
        <p:nvPicPr>
          <p:cNvPr id="9223" name="Picture 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7900" y="2982913"/>
            <a:ext cx="1905000"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chemeClr val="tx1"/>
                </a:solidFill>
                <a:miter lim="800000"/>
                <a:headEnd/>
                <a:tailEnd/>
              </a14:hiddenLine>
            </a:ext>
          </a:extLst>
        </p:spPr>
      </p:pic>
      <p:sp>
        <p:nvSpPr>
          <p:cNvPr id="9224" name="Rectangle 8"/>
          <p:cNvSpPr>
            <a:spLocks/>
          </p:cNvSpPr>
          <p:nvPr/>
        </p:nvSpPr>
        <p:spPr bwMode="auto">
          <a:xfrm>
            <a:off x="2051050" y="4987925"/>
            <a:ext cx="14922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wrap="none" lIns="0" tIns="0" rIns="40639" bIns="0">
            <a:spAutoFit/>
          </a:bodyPr>
          <a:lstStyle/>
          <a:p>
            <a:pPr marL="39688"/>
            <a:r>
              <a:rPr lang="en-US" i="1">
                <a:solidFill>
                  <a:schemeClr val="tx1"/>
                </a:solidFill>
                <a:ea typeface="ＭＳ Ｐゴシック" charset="0"/>
                <a:cs typeface="Times New Roman" charset="0"/>
              </a:rPr>
              <a:t>Conceitual</a:t>
            </a:r>
          </a:p>
        </p:txBody>
      </p:sp>
      <p:sp>
        <p:nvSpPr>
          <p:cNvPr id="9225" name="Rectangle 9"/>
          <p:cNvSpPr>
            <a:spLocks/>
          </p:cNvSpPr>
          <p:nvPr/>
        </p:nvSpPr>
        <p:spPr bwMode="auto">
          <a:xfrm>
            <a:off x="5364163" y="4986338"/>
            <a:ext cx="8477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wrap="none" lIns="0" tIns="0" rIns="40639" bIns="0">
            <a:spAutoFit/>
          </a:bodyPr>
          <a:lstStyle/>
          <a:p>
            <a:pPr marL="39688"/>
            <a:r>
              <a:rPr lang="en-US" i="1">
                <a:solidFill>
                  <a:schemeClr val="tx1"/>
                </a:solidFill>
                <a:ea typeface="ＭＳ Ｐゴシック" charset="0"/>
                <a:cs typeface="Times New Roman" charset="0"/>
              </a:rPr>
              <a:t>Legal</a:t>
            </a:r>
          </a:p>
        </p:txBody>
      </p:sp>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22488791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499"/>
                                          </p:stCondLst>
                                        </p:cTn>
                                        <p:tgtEl>
                                          <p:spTgt spid="92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4"/>
          <p:cNvSpPr>
            <a:spLocks noGrp="1" noChangeArrowheads="1"/>
          </p:cNvSpPr>
          <p:nvPr>
            <p:ph type="title"/>
          </p:nvPr>
        </p:nvSpPr>
        <p:spPr>
          <a:xfrm>
            <a:off x="685800" y="0"/>
            <a:ext cx="7772400" cy="1423988"/>
          </a:xfrm>
          <a:ln/>
        </p:spPr>
        <p:txBody>
          <a:bodyPr rIns="132080"/>
          <a:lstStyle/>
          <a:p>
            <a:r>
              <a:rPr lang="en-US"/>
              <a:t>Definição de </a:t>
            </a:r>
            <a:r>
              <a:rPr lang="ja-JP" altLang="en-US">
                <a:latin typeface="Arial"/>
              </a:rPr>
              <a:t>“</a:t>
            </a:r>
            <a:r>
              <a:rPr lang="en-US"/>
              <a:t>Engenharia</a:t>
            </a:r>
            <a:r>
              <a:rPr lang="ja-JP" altLang="en-US">
                <a:latin typeface="Arial"/>
              </a:rPr>
              <a:t>”</a:t>
            </a:r>
            <a:endParaRPr lang="en-US"/>
          </a:p>
        </p:txBody>
      </p:sp>
      <p:sp>
        <p:nvSpPr>
          <p:cNvPr id="11269" name="Rectangle 5"/>
          <p:cNvSpPr>
            <a:spLocks noGrp="1" noChangeArrowheads="1"/>
          </p:cNvSpPr>
          <p:nvPr>
            <p:ph type="body" idx="1"/>
          </p:nvPr>
        </p:nvSpPr>
        <p:spPr>
          <a:xfrm>
            <a:off x="566738" y="1898650"/>
            <a:ext cx="8001000" cy="4959350"/>
          </a:xfrm>
          <a:ln/>
        </p:spPr>
        <p:txBody>
          <a:bodyPr rIns="132080"/>
          <a:lstStyle/>
          <a:p>
            <a:r>
              <a:rPr lang="ja-JP" altLang="en-US">
                <a:cs typeface="Arial" charset="0"/>
                <a:sym typeface="Arial" charset="0"/>
              </a:rPr>
              <a:t>“</a:t>
            </a:r>
            <a:r>
              <a:rPr lang="en-US">
                <a:cs typeface="Arial" charset="0"/>
                <a:sym typeface="Arial" charset="0"/>
              </a:rPr>
              <a:t>A engenharia é a profissão em que o conhecimento das ciências matemáticas e naturais, obtida através do estudo, experiência e prática, é aplicado para se desenvolver maneiras de se utilizar, de forma econômica, os materiais e forças da natureza para o benefício da humanidade.</a:t>
            </a:r>
            <a:r>
              <a:rPr lang="ja-JP" altLang="en-US">
                <a:cs typeface="Arial" charset="0"/>
                <a:sym typeface="Arial" charset="0"/>
              </a:rPr>
              <a:t>”</a:t>
            </a:r>
            <a:endParaRPr lang="en-US">
              <a:sym typeface="Arial" charset="0"/>
            </a:endParaRPr>
          </a:p>
          <a:p>
            <a:endParaRPr lang="en-US"/>
          </a:p>
          <a:p>
            <a:r>
              <a:rPr lang="en-US" sz="2000"/>
              <a:t>Accreditation Board for Engineering and Technology (ABET)</a:t>
            </a:r>
          </a:p>
        </p:txBody>
      </p:sp>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5853379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4"/>
          <p:cNvSpPr>
            <a:spLocks noGrp="1" noChangeArrowheads="1"/>
          </p:cNvSpPr>
          <p:nvPr>
            <p:ph type="title"/>
          </p:nvPr>
        </p:nvSpPr>
        <p:spPr>
          <a:ln/>
        </p:spPr>
        <p:txBody>
          <a:bodyPr rIns="132080">
            <a:noAutofit/>
          </a:bodyPr>
          <a:lstStyle/>
          <a:p>
            <a:r>
              <a:rPr lang="en-US" sz="3600"/>
              <a:t>Definição de</a:t>
            </a:r>
            <a:br>
              <a:rPr lang="en-US" sz="3600"/>
            </a:br>
            <a:r>
              <a:rPr lang="ja-JP" altLang="en-US" sz="3600">
                <a:latin typeface="Arial"/>
              </a:rPr>
              <a:t>“</a:t>
            </a:r>
            <a:r>
              <a:rPr lang="en-US" sz="3600"/>
              <a:t>Engenharia de Software</a:t>
            </a:r>
            <a:r>
              <a:rPr lang="ja-JP" altLang="en-US" sz="3600">
                <a:latin typeface="Arial"/>
              </a:rPr>
              <a:t>”</a:t>
            </a:r>
            <a:endParaRPr lang="en-US" sz="3600"/>
          </a:p>
        </p:txBody>
      </p:sp>
      <p:sp>
        <p:nvSpPr>
          <p:cNvPr id="12293" name="Rectangle 5"/>
          <p:cNvSpPr>
            <a:spLocks noGrp="1" noChangeArrowheads="1"/>
          </p:cNvSpPr>
          <p:nvPr>
            <p:ph type="body" idx="1"/>
          </p:nvPr>
        </p:nvSpPr>
        <p:spPr>
          <a:xfrm>
            <a:off x="566738" y="2058988"/>
            <a:ext cx="8001000" cy="4799012"/>
          </a:xfrm>
          <a:ln/>
        </p:spPr>
        <p:txBody>
          <a:bodyPr rIns="132080"/>
          <a:lstStyle/>
          <a:p>
            <a:endParaRPr lang="en-US"/>
          </a:p>
          <a:p>
            <a:r>
              <a:rPr lang="ja-JP" altLang="en-US">
                <a:cs typeface="Arial" charset="0"/>
                <a:sym typeface="Arial" charset="0"/>
              </a:rPr>
              <a:t>“</a:t>
            </a:r>
            <a:r>
              <a:rPr lang="en-US">
                <a:cs typeface="Arial" charset="0"/>
                <a:sym typeface="Arial" charset="0"/>
              </a:rPr>
              <a:t>A aplicação de um método sistemático, disciplinado e quantificável ao desenvolvimento, operação e manutenção de software; isto é, a aplicação da engenharia ao software.</a:t>
            </a:r>
            <a:r>
              <a:rPr lang="ja-JP" altLang="en-US">
                <a:cs typeface="Arial" charset="0"/>
                <a:sym typeface="Arial" charset="0"/>
              </a:rPr>
              <a:t>”</a:t>
            </a:r>
          </a:p>
          <a:p>
            <a:endParaRPr lang="en-US">
              <a:latin typeface="Arial" charset="0"/>
              <a:sym typeface="Arial" charset="0"/>
            </a:endParaRPr>
          </a:p>
          <a:p>
            <a:pPr marL="573088" lvl="1" indent="0">
              <a:buNone/>
            </a:pPr>
            <a:r>
              <a:rPr lang="en-US" sz="2000"/>
              <a:t>			IEEE Standard Computer Dictionary</a:t>
            </a:r>
          </a:p>
        </p:txBody>
      </p:sp>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20353891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4"/>
          <p:cNvSpPr>
            <a:spLocks noGrp="1" noChangeArrowheads="1"/>
          </p:cNvSpPr>
          <p:nvPr>
            <p:ph type="title"/>
          </p:nvPr>
        </p:nvSpPr>
        <p:spPr>
          <a:xfrm>
            <a:off x="685800" y="511589"/>
            <a:ext cx="7772400" cy="1557338"/>
          </a:xfrm>
          <a:ln/>
        </p:spPr>
        <p:txBody>
          <a:bodyPr rIns="132080"/>
          <a:lstStyle/>
          <a:p>
            <a:r>
              <a:rPr lang="en-US"/>
              <a:t>Como a ES se assemelha a outras engenharias?</a:t>
            </a:r>
          </a:p>
        </p:txBody>
      </p:sp>
      <p:sp>
        <p:nvSpPr>
          <p:cNvPr id="13317" name="Rectangle 5"/>
          <p:cNvSpPr>
            <a:spLocks noGrp="1" noChangeArrowheads="1"/>
          </p:cNvSpPr>
          <p:nvPr>
            <p:ph type="body" idx="1"/>
          </p:nvPr>
        </p:nvSpPr>
        <p:spPr>
          <a:ln/>
        </p:spPr>
        <p:txBody>
          <a:bodyPr rIns="132080">
            <a:normAutofit lnSpcReduction="10000"/>
          </a:bodyPr>
          <a:lstStyle/>
          <a:p>
            <a:r>
              <a:rPr lang="en-US"/>
              <a:t>A ES cabe na definição de engenharia:</a:t>
            </a:r>
          </a:p>
          <a:p>
            <a:pPr marL="947738" lvl="1"/>
            <a:r>
              <a:rPr lang="en-US"/>
              <a:t>Aplicação da ciência (da computação) para usar materiais (computadores) em benefício da humanidade.</a:t>
            </a:r>
          </a:p>
          <a:p>
            <a:r>
              <a:rPr lang="en-US"/>
              <a:t>Modelos e padrões</a:t>
            </a:r>
          </a:p>
          <a:p>
            <a:pPr marL="947738" lvl="1"/>
            <a:r>
              <a:rPr lang="en-US"/>
              <a:t>Toda disciplina de engenharia faz uso de modelos</a:t>
            </a:r>
          </a:p>
          <a:p>
            <a:pPr marL="947738" lvl="1"/>
            <a:r>
              <a:rPr lang="en-US"/>
              <a:t>Toda disciplina madura de engenharia tem seus padrões</a:t>
            </a:r>
          </a:p>
          <a:p>
            <a:pPr marL="1344613" lvl="2"/>
            <a:r>
              <a:rPr lang="en-US"/>
              <a:t>Por exemplo, </a:t>
            </a:r>
            <a:r>
              <a:rPr lang="ja-JP" altLang="en-US">
                <a:latin typeface="Arial"/>
              </a:rPr>
              <a:t>“</a:t>
            </a:r>
            <a:r>
              <a:rPr lang="en-US"/>
              <a:t>ponte suspensa</a:t>
            </a:r>
            <a:r>
              <a:rPr lang="ja-JP" altLang="en-US">
                <a:latin typeface="Arial"/>
              </a:rPr>
              <a:t>”</a:t>
            </a:r>
            <a:r>
              <a:rPr lang="en-US"/>
              <a:t>.</a:t>
            </a:r>
          </a:p>
        </p:txBody>
      </p:sp>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23305710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4"/>
          <p:cNvSpPr>
            <a:spLocks noGrp="1" noChangeArrowheads="1"/>
          </p:cNvSpPr>
          <p:nvPr>
            <p:ph type="title"/>
          </p:nvPr>
        </p:nvSpPr>
        <p:spPr>
          <a:xfrm>
            <a:off x="1043490" y="886536"/>
            <a:ext cx="7353026" cy="1143000"/>
          </a:xfrm>
          <a:ln/>
        </p:spPr>
        <p:txBody>
          <a:bodyPr rIns="132080">
            <a:noAutofit/>
          </a:bodyPr>
          <a:lstStyle/>
          <a:p>
            <a:r>
              <a:rPr lang="en-US" sz="3600"/>
              <a:t>Engenharia de software = </a:t>
            </a:r>
            <a:br>
              <a:rPr lang="en-US" sz="3600"/>
            </a:br>
            <a:r>
              <a:rPr lang="en-US" sz="3600"/>
              <a:t>ciência da computação?</a:t>
            </a:r>
          </a:p>
        </p:txBody>
      </p:sp>
      <p:pic>
        <p:nvPicPr>
          <p:cNvPr id="2" name="Picture 1" descr="Screen Shot 2016-04-14 at 08.54.06.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832538" y="2170664"/>
            <a:ext cx="3747082" cy="4278704"/>
          </a:xfrm>
          <a:prstGeom prst="rect">
            <a:avLst/>
          </a:prstGeom>
        </p:spPr>
      </p:pic>
      <p:sp>
        <p:nvSpPr>
          <p:cNvPr id="3" name="Date Placeholder 2"/>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25718788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043490" y="815972"/>
            <a:ext cx="7024744" cy="1143000"/>
          </a:xfrm>
        </p:spPr>
        <p:txBody>
          <a:bodyPr/>
          <a:lstStyle/>
          <a:p>
            <a:pPr eaLnBrk="1" hangingPunct="1"/>
            <a:r>
              <a:rPr lang="en-US">
                <a:cs typeface="Arial" charset="0"/>
              </a:rPr>
              <a:t>Histórico</a:t>
            </a:r>
          </a:p>
        </p:txBody>
      </p:sp>
      <p:sp>
        <p:nvSpPr>
          <p:cNvPr id="15363" name="Content Placeholder 2"/>
          <p:cNvSpPr>
            <a:spLocks noGrp="1"/>
          </p:cNvSpPr>
          <p:nvPr>
            <p:ph idx="1"/>
          </p:nvPr>
        </p:nvSpPr>
        <p:spPr>
          <a:xfrm>
            <a:off x="1043492" y="2323652"/>
            <a:ext cx="7282465" cy="3508977"/>
          </a:xfrm>
        </p:spPr>
        <p:txBody>
          <a:bodyPr/>
          <a:lstStyle/>
          <a:p>
            <a:pPr eaLnBrk="1" hangingPunct="1"/>
            <a:r>
              <a:rPr lang="en-US">
                <a:cs typeface="Arial" charset="0"/>
              </a:rPr>
              <a:t>Termo Engenharia de Software foi cunhado na conferência da NATO em 1968 que tratou da crise no desenvolvimento de software.</a:t>
            </a:r>
          </a:p>
          <a:p>
            <a:pPr eaLnBrk="1" hangingPunct="1"/>
            <a:r>
              <a:rPr lang="en-US" sz="2400">
                <a:cs typeface="Arial" charset="0"/>
              </a:rPr>
              <a:t>“Software engineering is the stablishement and use of sound engineering principles in order to obtain economically software that is reliable and works efficiently on real machines”  - Naur and Randell, NATO 1968</a:t>
            </a:r>
          </a:p>
        </p:txBody>
      </p:sp>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4322493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668880" y="404277"/>
            <a:ext cx="7180807" cy="762000"/>
          </a:xfrm>
        </p:spPr>
        <p:txBody>
          <a:bodyPr>
            <a:normAutofit/>
          </a:bodyPr>
          <a:lstStyle/>
          <a:p>
            <a:pPr eaLnBrk="1" hangingPunct="1"/>
            <a:r>
              <a:rPr lang="en-US" sz="3600">
                <a:cs typeface="Arial" charset="0"/>
              </a:rPr>
              <a:t>Evolução de uma engenharia</a:t>
            </a:r>
          </a:p>
        </p:txBody>
      </p:sp>
      <p:pic>
        <p:nvPicPr>
          <p:cNvPr id="17411" name="Picture 3" descr="Picture 15.png"/>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066800" y="1122363"/>
            <a:ext cx="7162800" cy="573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8722027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1043490" y="723287"/>
            <a:ext cx="7024744" cy="829135"/>
          </a:xfrm>
        </p:spPr>
        <p:txBody>
          <a:bodyPr>
            <a:normAutofit/>
          </a:bodyPr>
          <a:lstStyle/>
          <a:p>
            <a:r>
              <a:rPr lang="en-US" sz="3600">
                <a:latin typeface="+mn-lt"/>
                <a:cs typeface="Arial" charset="0"/>
              </a:rPr>
              <a:t>Evolução da ES</a:t>
            </a:r>
          </a:p>
        </p:txBody>
      </p:sp>
      <p:pic>
        <p:nvPicPr>
          <p:cNvPr id="18435" name="Picture 3" descr="Picture 16.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792645"/>
            <a:ext cx="8596313" cy="471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0414881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4"/>
          <p:cNvSpPr>
            <a:spLocks noGrp="1" noChangeArrowheads="1"/>
          </p:cNvSpPr>
          <p:nvPr>
            <p:ph type="title"/>
          </p:nvPr>
        </p:nvSpPr>
        <p:spPr>
          <a:xfrm>
            <a:off x="1043490" y="1027664"/>
            <a:ext cx="7024744" cy="789375"/>
          </a:xfrm>
          <a:ln/>
        </p:spPr>
        <p:txBody>
          <a:bodyPr rIns="132080"/>
          <a:lstStyle/>
          <a:p>
            <a:r>
              <a:rPr lang="en-US"/>
              <a:t>Mitos</a:t>
            </a:r>
          </a:p>
        </p:txBody>
      </p:sp>
      <p:sp>
        <p:nvSpPr>
          <p:cNvPr id="17413" name="Rectangle 5"/>
          <p:cNvSpPr>
            <a:spLocks noGrp="1" noChangeArrowheads="1"/>
          </p:cNvSpPr>
          <p:nvPr>
            <p:ph type="body" idx="1"/>
          </p:nvPr>
        </p:nvSpPr>
        <p:spPr>
          <a:xfrm>
            <a:off x="1043492" y="2059037"/>
            <a:ext cx="6777317" cy="3508977"/>
          </a:xfrm>
          <a:ln/>
        </p:spPr>
        <p:txBody>
          <a:bodyPr rIns="132080">
            <a:normAutofit fontScale="92500" lnSpcReduction="10000"/>
          </a:bodyPr>
          <a:lstStyle/>
          <a:p>
            <a:r>
              <a:rPr lang="en-US"/>
              <a:t>Outras engenharias são:</a:t>
            </a:r>
          </a:p>
          <a:p>
            <a:pPr marL="947738" lvl="1"/>
            <a:r>
              <a:rPr lang="en-US"/>
              <a:t>Mais maduras, pois geram produtos de maior qualidade, com menos </a:t>
            </a:r>
            <a:r>
              <a:rPr lang="ja-JP" altLang="en-US">
                <a:latin typeface="Arial"/>
              </a:rPr>
              <a:t>“</a:t>
            </a:r>
            <a:r>
              <a:rPr lang="en-US"/>
              <a:t>bugs</a:t>
            </a:r>
            <a:r>
              <a:rPr lang="ja-JP" altLang="en-US">
                <a:latin typeface="Arial"/>
              </a:rPr>
              <a:t>”</a:t>
            </a:r>
            <a:endParaRPr lang="en-US"/>
          </a:p>
          <a:p>
            <a:pPr marL="1344613" lvl="2"/>
            <a:r>
              <a:rPr lang="en-US" i="1"/>
              <a:t>Exercício</a:t>
            </a:r>
            <a:r>
              <a:rPr lang="en-US"/>
              <a:t>: dê uma volta pela sua casa/apartamento e procure os </a:t>
            </a:r>
            <a:r>
              <a:rPr lang="ja-JP" altLang="en-US">
                <a:latin typeface="Arial"/>
              </a:rPr>
              <a:t>“</a:t>
            </a:r>
            <a:r>
              <a:rPr lang="en-US"/>
              <a:t>bugs</a:t>
            </a:r>
            <a:r>
              <a:rPr lang="ja-JP" altLang="en-US">
                <a:latin typeface="Arial"/>
              </a:rPr>
              <a:t>”</a:t>
            </a:r>
            <a:r>
              <a:rPr lang="en-US"/>
              <a:t> de construção.</a:t>
            </a:r>
          </a:p>
          <a:p>
            <a:pPr marL="947738" lvl="1"/>
            <a:r>
              <a:rPr lang="en-US"/>
              <a:t>Mais previsíveis, custo e prazos podem ser estimados com precisão</a:t>
            </a:r>
          </a:p>
          <a:p>
            <a:pPr marL="1344613" lvl="2"/>
            <a:r>
              <a:rPr lang="en-US" i="1"/>
              <a:t>Exercício</a:t>
            </a:r>
            <a:r>
              <a:rPr lang="en-US"/>
              <a:t>: contrate um engenheiro para construir um produto, peça orçamento e prazo, e compare com a realidade!</a:t>
            </a:r>
          </a:p>
        </p:txBody>
      </p:sp>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5611483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4"/>
          <p:cNvSpPr>
            <a:spLocks noGrp="1" noChangeArrowheads="1"/>
          </p:cNvSpPr>
          <p:nvPr>
            <p:ph type="title"/>
          </p:nvPr>
        </p:nvSpPr>
        <p:spPr>
          <a:ln/>
        </p:spPr>
        <p:txBody>
          <a:bodyPr rIns="132080">
            <a:normAutofit fontScale="90000"/>
          </a:bodyPr>
          <a:lstStyle/>
          <a:p>
            <a:r>
              <a:rPr lang="en-US"/>
              <a:t>A construção da casa da Ópera</a:t>
            </a:r>
          </a:p>
        </p:txBody>
      </p:sp>
      <p:sp>
        <p:nvSpPr>
          <p:cNvPr id="19461" name="Rectangle 5"/>
          <p:cNvSpPr>
            <a:spLocks noGrp="1" noChangeArrowheads="1"/>
          </p:cNvSpPr>
          <p:nvPr>
            <p:ph type="body" idx="1"/>
          </p:nvPr>
        </p:nvSpPr>
        <p:spPr>
          <a:ln/>
        </p:spPr>
        <p:txBody>
          <a:bodyPr rIns="132080"/>
          <a:lstStyle/>
          <a:p>
            <a:r>
              <a:rPr lang="en-US"/>
              <a:t>estimado (1956):</a:t>
            </a:r>
          </a:p>
          <a:p>
            <a:pPr marL="947738" lvl="1"/>
            <a:r>
              <a:rPr lang="en-US"/>
              <a:t>custo: A$ 7 milhões</a:t>
            </a:r>
          </a:p>
          <a:p>
            <a:pPr marL="947738" lvl="1"/>
            <a:r>
              <a:rPr lang="en-US"/>
              <a:t>prazo: 5 anos</a:t>
            </a:r>
          </a:p>
          <a:p>
            <a:r>
              <a:rPr lang="en-US"/>
              <a:t>realizado (1973):</a:t>
            </a:r>
          </a:p>
          <a:p>
            <a:pPr marL="947738" lvl="1"/>
            <a:r>
              <a:rPr lang="en-US"/>
              <a:t>custo: A$ 102 milhões</a:t>
            </a:r>
          </a:p>
          <a:p>
            <a:pPr marL="947738" lvl="1"/>
            <a:r>
              <a:rPr lang="en-US"/>
              <a:t>prazo: 17 anos</a:t>
            </a:r>
          </a:p>
        </p:txBody>
      </p:sp>
      <p:sp>
        <p:nvSpPr>
          <p:cNvPr id="19462" name="Text Box 6"/>
          <p:cNvSpPr txBox="1">
            <a:spLocks noChangeArrowheads="1"/>
          </p:cNvSpPr>
          <p:nvPr/>
        </p:nvSpPr>
        <p:spPr bwMode="auto">
          <a:xfrm>
            <a:off x="7388225" y="6245225"/>
            <a:ext cx="3095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a:lstStyle>
            <a:lvl1pPr>
              <a:defRPr sz="1200">
                <a:solidFill>
                  <a:schemeClr val="tx1"/>
                </a:solidFill>
                <a:latin typeface="Times New Roman" charset="0"/>
                <a:ea typeface="ＭＳ Ｐゴシック" charset="0"/>
              </a:defRPr>
            </a:lvl1pPr>
            <a:lvl2pPr>
              <a:defRPr sz="1200">
                <a:solidFill>
                  <a:schemeClr val="tx1"/>
                </a:solidFill>
                <a:latin typeface="Times New Roman" charset="0"/>
                <a:ea typeface="ＭＳ Ｐゴシック" charset="0"/>
              </a:defRPr>
            </a:lvl2pPr>
            <a:lvl3pPr>
              <a:defRPr sz="1200">
                <a:solidFill>
                  <a:schemeClr val="tx1"/>
                </a:solidFill>
                <a:latin typeface="Times New Roman" charset="0"/>
                <a:ea typeface="ＭＳ Ｐゴシック" charset="0"/>
              </a:defRPr>
            </a:lvl3pPr>
            <a:lvl4pPr>
              <a:defRPr sz="1200">
                <a:solidFill>
                  <a:schemeClr val="tx1"/>
                </a:solidFill>
                <a:latin typeface="Times New Roman" charset="0"/>
                <a:ea typeface="ＭＳ Ｐゴシック" charset="0"/>
              </a:defRPr>
            </a:lvl4pPr>
            <a:lvl5pPr>
              <a:defRPr sz="1200">
                <a:solidFill>
                  <a:schemeClr val="tx1"/>
                </a:solidFill>
                <a:latin typeface="Times New Roman" charset="0"/>
                <a:ea typeface="ＭＳ Ｐゴシック" charset="0"/>
              </a:defRPr>
            </a:lvl5pPr>
            <a:lvl6pPr fontAlgn="base">
              <a:spcBef>
                <a:spcPct val="0"/>
              </a:spcBef>
              <a:spcAft>
                <a:spcPct val="0"/>
              </a:spcAft>
              <a:defRPr sz="1200">
                <a:solidFill>
                  <a:schemeClr val="tx1"/>
                </a:solidFill>
                <a:latin typeface="Times New Roman" charset="0"/>
                <a:ea typeface="ＭＳ Ｐゴシック" charset="0"/>
              </a:defRPr>
            </a:lvl6pPr>
            <a:lvl7pPr fontAlgn="base">
              <a:spcBef>
                <a:spcPct val="0"/>
              </a:spcBef>
              <a:spcAft>
                <a:spcPct val="0"/>
              </a:spcAft>
              <a:defRPr sz="1200">
                <a:solidFill>
                  <a:schemeClr val="tx1"/>
                </a:solidFill>
                <a:latin typeface="Times New Roman" charset="0"/>
                <a:ea typeface="ＭＳ Ｐゴシック" charset="0"/>
              </a:defRPr>
            </a:lvl7pPr>
            <a:lvl8pPr fontAlgn="base">
              <a:spcBef>
                <a:spcPct val="0"/>
              </a:spcBef>
              <a:spcAft>
                <a:spcPct val="0"/>
              </a:spcAft>
              <a:defRPr sz="1200">
                <a:solidFill>
                  <a:schemeClr val="tx1"/>
                </a:solidFill>
                <a:latin typeface="Times New Roman" charset="0"/>
                <a:ea typeface="ＭＳ Ｐゴシック" charset="0"/>
              </a:defRPr>
            </a:lvl8pPr>
            <a:lvl9pPr fontAlgn="base">
              <a:spcBef>
                <a:spcPct val="0"/>
              </a:spcBef>
              <a:spcAft>
                <a:spcPct val="0"/>
              </a:spcAft>
              <a:defRPr sz="1200">
                <a:solidFill>
                  <a:schemeClr val="tx1"/>
                </a:solidFill>
                <a:latin typeface="Times New Roman" charset="0"/>
                <a:ea typeface="ＭＳ Ｐゴシック" charset="0"/>
              </a:defRPr>
            </a:lvl9pPr>
          </a:lstStyle>
          <a:p>
            <a:pPr algn="ctr"/>
            <a:fld id="{1DD4EF73-4563-8040-9C08-EBB78B43A73E}" type="slidenum">
              <a:rPr lang="en-US">
                <a:latin typeface="Verdana" charset="0"/>
                <a:cs typeface="Verdana" charset="0"/>
                <a:sym typeface="Verdana" charset="0"/>
              </a:rPr>
              <a:pPr algn="ctr"/>
              <a:t>13</a:t>
            </a:fld>
            <a:endParaRPr lang="en-US">
              <a:latin typeface="Verdana" charset="0"/>
              <a:cs typeface="Verdana" charset="0"/>
              <a:sym typeface="Verdana" charset="0"/>
            </a:endParaRPr>
          </a:p>
        </p:txBody>
      </p:sp>
      <p:pic>
        <p:nvPicPr>
          <p:cNvPr id="19463" name="Picture 7"/>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141390" y="3822005"/>
            <a:ext cx="39624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chemeClr val="tx1"/>
                </a:solidFill>
                <a:round/>
                <a:headEnd/>
                <a:tailEnd/>
              </a14:hiddenLine>
            </a:ext>
          </a:extLst>
        </p:spPr>
      </p:pic>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972675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4"/>
          <p:cNvSpPr>
            <a:spLocks noGrp="1" noChangeArrowheads="1"/>
          </p:cNvSpPr>
          <p:nvPr>
            <p:ph type="title"/>
          </p:nvPr>
        </p:nvSpPr>
        <p:spPr>
          <a:ln/>
        </p:spPr>
        <p:txBody>
          <a:bodyPr rIns="132080">
            <a:normAutofit fontScale="90000"/>
          </a:bodyPr>
          <a:lstStyle/>
          <a:p>
            <a:r>
              <a:rPr lang="en-US"/>
              <a:t>A construção da casa da Ópera</a:t>
            </a:r>
          </a:p>
        </p:txBody>
      </p:sp>
      <p:sp>
        <p:nvSpPr>
          <p:cNvPr id="21509" name="Rectangle 5"/>
          <p:cNvSpPr>
            <a:spLocks noGrp="1" noChangeArrowheads="1"/>
          </p:cNvSpPr>
          <p:nvPr>
            <p:ph type="body" idx="1"/>
          </p:nvPr>
        </p:nvSpPr>
        <p:spPr>
          <a:xfrm>
            <a:off x="1043492" y="2323652"/>
            <a:ext cx="7087496" cy="2545307"/>
          </a:xfrm>
          <a:ln/>
        </p:spPr>
        <p:txBody>
          <a:bodyPr rIns="132080">
            <a:normAutofit fontScale="92500" lnSpcReduction="10000"/>
          </a:bodyPr>
          <a:lstStyle/>
          <a:p>
            <a:r>
              <a:rPr lang="en-US"/>
              <a:t>vários erros de construção e partes refeitas</a:t>
            </a:r>
          </a:p>
          <a:p>
            <a:pPr marL="773113"/>
            <a:r>
              <a:rPr lang="en-US"/>
              <a:t>reprojeto do telhado (1961), </a:t>
            </a:r>
          </a:p>
          <a:p>
            <a:pPr marL="773113"/>
            <a:r>
              <a:rPr lang="en-US"/>
              <a:t>reconstrução das colunas de sustentação devido ao peso, </a:t>
            </a:r>
          </a:p>
          <a:p>
            <a:pPr marL="773113"/>
            <a:r>
              <a:rPr lang="en-US"/>
              <a:t>danificou o piso das </a:t>
            </a:r>
          </a:p>
          <a:p>
            <a:pPr marL="498793" indent="0">
              <a:buNone/>
            </a:pPr>
            <a:r>
              <a:rPr lang="en-US"/>
              <a:t>escadas de 86 </a:t>
            </a:r>
          </a:p>
          <a:p>
            <a:pPr marL="498793" indent="0">
              <a:buNone/>
            </a:pPr>
            <a:r>
              <a:rPr lang="en-US"/>
              <a:t>metros de largura</a:t>
            </a:r>
          </a:p>
        </p:txBody>
      </p:sp>
      <p:sp>
        <p:nvSpPr>
          <p:cNvPr id="21510" name="Text Box 6"/>
          <p:cNvSpPr txBox="1">
            <a:spLocks noChangeArrowheads="1"/>
          </p:cNvSpPr>
          <p:nvPr/>
        </p:nvSpPr>
        <p:spPr bwMode="auto">
          <a:xfrm>
            <a:off x="7388225" y="6245225"/>
            <a:ext cx="3095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wrap="none"/>
          <a:lstStyle>
            <a:lvl1pPr>
              <a:defRPr sz="1200">
                <a:solidFill>
                  <a:schemeClr val="tx1"/>
                </a:solidFill>
                <a:latin typeface="Times New Roman" charset="0"/>
                <a:ea typeface="ＭＳ Ｐゴシック" charset="0"/>
              </a:defRPr>
            </a:lvl1pPr>
            <a:lvl2pPr>
              <a:defRPr sz="1200">
                <a:solidFill>
                  <a:schemeClr val="tx1"/>
                </a:solidFill>
                <a:latin typeface="Times New Roman" charset="0"/>
                <a:ea typeface="ＭＳ Ｐゴシック" charset="0"/>
              </a:defRPr>
            </a:lvl2pPr>
            <a:lvl3pPr>
              <a:defRPr sz="1200">
                <a:solidFill>
                  <a:schemeClr val="tx1"/>
                </a:solidFill>
                <a:latin typeface="Times New Roman" charset="0"/>
                <a:ea typeface="ＭＳ Ｐゴシック" charset="0"/>
              </a:defRPr>
            </a:lvl3pPr>
            <a:lvl4pPr>
              <a:defRPr sz="1200">
                <a:solidFill>
                  <a:schemeClr val="tx1"/>
                </a:solidFill>
                <a:latin typeface="Times New Roman" charset="0"/>
                <a:ea typeface="ＭＳ Ｐゴシック" charset="0"/>
              </a:defRPr>
            </a:lvl4pPr>
            <a:lvl5pPr>
              <a:defRPr sz="1200">
                <a:solidFill>
                  <a:schemeClr val="tx1"/>
                </a:solidFill>
                <a:latin typeface="Times New Roman" charset="0"/>
                <a:ea typeface="ＭＳ Ｐゴシック" charset="0"/>
              </a:defRPr>
            </a:lvl5pPr>
            <a:lvl6pPr fontAlgn="base">
              <a:spcBef>
                <a:spcPct val="0"/>
              </a:spcBef>
              <a:spcAft>
                <a:spcPct val="0"/>
              </a:spcAft>
              <a:defRPr sz="1200">
                <a:solidFill>
                  <a:schemeClr val="tx1"/>
                </a:solidFill>
                <a:latin typeface="Times New Roman" charset="0"/>
                <a:ea typeface="ＭＳ Ｐゴシック" charset="0"/>
              </a:defRPr>
            </a:lvl6pPr>
            <a:lvl7pPr fontAlgn="base">
              <a:spcBef>
                <a:spcPct val="0"/>
              </a:spcBef>
              <a:spcAft>
                <a:spcPct val="0"/>
              </a:spcAft>
              <a:defRPr sz="1200">
                <a:solidFill>
                  <a:schemeClr val="tx1"/>
                </a:solidFill>
                <a:latin typeface="Times New Roman" charset="0"/>
                <a:ea typeface="ＭＳ Ｐゴシック" charset="0"/>
              </a:defRPr>
            </a:lvl7pPr>
            <a:lvl8pPr fontAlgn="base">
              <a:spcBef>
                <a:spcPct val="0"/>
              </a:spcBef>
              <a:spcAft>
                <a:spcPct val="0"/>
              </a:spcAft>
              <a:defRPr sz="1200">
                <a:solidFill>
                  <a:schemeClr val="tx1"/>
                </a:solidFill>
                <a:latin typeface="Times New Roman" charset="0"/>
                <a:ea typeface="ＭＳ Ｐゴシック" charset="0"/>
              </a:defRPr>
            </a:lvl8pPr>
            <a:lvl9pPr fontAlgn="base">
              <a:spcBef>
                <a:spcPct val="0"/>
              </a:spcBef>
              <a:spcAft>
                <a:spcPct val="0"/>
              </a:spcAft>
              <a:defRPr sz="1200">
                <a:solidFill>
                  <a:schemeClr val="tx1"/>
                </a:solidFill>
                <a:latin typeface="Times New Roman" charset="0"/>
                <a:ea typeface="ＭＳ Ｐゴシック" charset="0"/>
              </a:defRPr>
            </a:lvl9pPr>
          </a:lstStyle>
          <a:p>
            <a:pPr algn="ctr"/>
            <a:fld id="{188807EC-7FAE-4446-91A8-F698670228A4}" type="slidenum">
              <a:rPr lang="en-US">
                <a:latin typeface="Verdana" charset="0"/>
                <a:cs typeface="Verdana" charset="0"/>
                <a:sym typeface="Verdana" charset="0"/>
              </a:rPr>
              <a:pPr algn="ctr"/>
              <a:t>14</a:t>
            </a:fld>
            <a:endParaRPr lang="en-US">
              <a:latin typeface="Verdana" charset="0"/>
              <a:cs typeface="Verdana" charset="0"/>
              <a:sym typeface="Verdana" charset="0"/>
            </a:endParaRPr>
          </a:p>
        </p:txBody>
      </p:sp>
      <p:pic>
        <p:nvPicPr>
          <p:cNvPr id="21511" name="Picture 7"/>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449688" y="4057465"/>
            <a:ext cx="3735951" cy="280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chemeClr val="tx1"/>
                </a:solidFill>
                <a:round/>
                <a:headEnd/>
                <a:tailEnd/>
              </a14:hiddenLine>
            </a:ext>
          </a:extLst>
        </p:spPr>
      </p:pic>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7927545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4"/>
          <p:cNvSpPr>
            <a:spLocks noGrp="1" noChangeArrowheads="1"/>
          </p:cNvSpPr>
          <p:nvPr>
            <p:ph type="title"/>
          </p:nvPr>
        </p:nvSpPr>
        <p:spPr>
          <a:xfrm>
            <a:off x="685800" y="670358"/>
            <a:ext cx="7772400" cy="1557338"/>
          </a:xfrm>
          <a:ln/>
        </p:spPr>
        <p:txBody>
          <a:bodyPr rIns="132080"/>
          <a:lstStyle/>
          <a:p>
            <a:r>
              <a:rPr lang="en-US"/>
              <a:t>Como a ES é diferente de outras engenharias?</a:t>
            </a:r>
          </a:p>
        </p:txBody>
      </p:sp>
      <p:sp>
        <p:nvSpPr>
          <p:cNvPr id="23557" name="Rectangle 5"/>
          <p:cNvSpPr>
            <a:spLocks noGrp="1" noChangeArrowheads="1"/>
          </p:cNvSpPr>
          <p:nvPr>
            <p:ph type="body" idx="1"/>
          </p:nvPr>
        </p:nvSpPr>
        <p:spPr>
          <a:xfrm>
            <a:off x="566738" y="2623679"/>
            <a:ext cx="8181975" cy="3180258"/>
          </a:xfrm>
          <a:ln/>
        </p:spPr>
        <p:txBody>
          <a:bodyPr rIns="132080"/>
          <a:lstStyle/>
          <a:p>
            <a:r>
              <a:rPr lang="en-US"/>
              <a:t>Outras engenharias = projeto + construção;</a:t>
            </a:r>
            <a:br>
              <a:rPr lang="en-US"/>
            </a:br>
            <a:r>
              <a:rPr lang="en-US"/>
              <a:t>ES = projeto.</a:t>
            </a:r>
          </a:p>
          <a:p>
            <a:r>
              <a:rPr lang="en-US"/>
              <a:t>Produtos não se desgastam, mas se deterioram</a:t>
            </a:r>
          </a:p>
          <a:p>
            <a:r>
              <a:rPr lang="en-US"/>
              <a:t>A ES é muito geral enquanto as outras são muito específicas</a:t>
            </a:r>
          </a:p>
          <a:p>
            <a:r>
              <a:rPr lang="en-US"/>
              <a:t>Há pouca estratificação e especialização</a:t>
            </a:r>
          </a:p>
        </p:txBody>
      </p:sp>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620920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4"/>
          <p:cNvSpPr>
            <a:spLocks noGrp="1" noChangeArrowheads="1"/>
          </p:cNvSpPr>
          <p:nvPr>
            <p:ph type="title"/>
          </p:nvPr>
        </p:nvSpPr>
        <p:spPr>
          <a:ln/>
        </p:spPr>
        <p:txBody>
          <a:bodyPr rIns="132080">
            <a:normAutofit fontScale="90000"/>
          </a:bodyPr>
          <a:lstStyle/>
          <a:p>
            <a:r>
              <a:rPr lang="en-US"/>
              <a:t>Uma disciplina de descrições</a:t>
            </a:r>
          </a:p>
        </p:txBody>
      </p:sp>
      <p:sp>
        <p:nvSpPr>
          <p:cNvPr id="24581" name="Rectangle 5"/>
          <p:cNvSpPr>
            <a:spLocks noGrp="1" noChangeArrowheads="1"/>
          </p:cNvSpPr>
          <p:nvPr>
            <p:ph type="body" idx="1"/>
          </p:nvPr>
        </p:nvSpPr>
        <p:spPr>
          <a:xfrm>
            <a:off x="685800" y="2458777"/>
            <a:ext cx="7772400" cy="3556852"/>
          </a:xfrm>
          <a:ln/>
        </p:spPr>
        <p:txBody>
          <a:bodyPr rIns="132080"/>
          <a:lstStyle/>
          <a:p>
            <a:r>
              <a:rPr lang="en-US" dirty="0" err="1"/>
              <a:t>Todas</a:t>
            </a:r>
            <a:r>
              <a:rPr lang="en-US" dirty="0"/>
              <a:t> as </a:t>
            </a:r>
            <a:r>
              <a:rPr lang="en-US" dirty="0" err="1"/>
              <a:t>engenharias</a:t>
            </a:r>
            <a:r>
              <a:rPr lang="en-US" dirty="0"/>
              <a:t> </a:t>
            </a:r>
            <a:r>
              <a:rPr lang="en-US" dirty="0" err="1"/>
              <a:t>usam</a:t>
            </a:r>
            <a:r>
              <a:rPr lang="en-US" dirty="0"/>
              <a:t> </a:t>
            </a:r>
            <a:r>
              <a:rPr lang="en-US" dirty="0" err="1"/>
              <a:t>modelos</a:t>
            </a:r>
            <a:endParaRPr lang="en-US" dirty="0"/>
          </a:p>
          <a:p>
            <a:pPr marL="947738" lvl="1"/>
            <a:r>
              <a:rPr lang="en-US" dirty="0" err="1"/>
              <a:t>Primeiro</a:t>
            </a:r>
            <a:r>
              <a:rPr lang="en-US" dirty="0"/>
              <a:t> se </a:t>
            </a:r>
            <a:r>
              <a:rPr lang="en-US" dirty="0" err="1"/>
              <a:t>cria</a:t>
            </a:r>
            <a:r>
              <a:rPr lang="en-US" dirty="0"/>
              <a:t> um </a:t>
            </a:r>
            <a:r>
              <a:rPr lang="en-US" dirty="0" err="1"/>
              <a:t>modelo</a:t>
            </a:r>
            <a:endParaRPr lang="en-US" dirty="0"/>
          </a:p>
          <a:p>
            <a:pPr marL="947738" lvl="1"/>
            <a:r>
              <a:rPr lang="en-US" dirty="0" err="1"/>
              <a:t>Depois</a:t>
            </a:r>
            <a:r>
              <a:rPr lang="en-US" dirty="0"/>
              <a:t> se </a:t>
            </a:r>
            <a:r>
              <a:rPr lang="en-US" i="1" dirty="0" err="1"/>
              <a:t>constrói</a:t>
            </a:r>
            <a:r>
              <a:rPr lang="en-US" dirty="0"/>
              <a:t> o </a:t>
            </a:r>
            <a:r>
              <a:rPr lang="en-US" dirty="0" err="1"/>
              <a:t>produto</a:t>
            </a:r>
            <a:r>
              <a:rPr lang="en-US" dirty="0"/>
              <a:t> de </a:t>
            </a:r>
            <a:r>
              <a:rPr lang="en-US" dirty="0" err="1"/>
              <a:t>acordo</a:t>
            </a:r>
            <a:r>
              <a:rPr lang="en-US" dirty="0"/>
              <a:t> com o </a:t>
            </a:r>
            <a:r>
              <a:rPr lang="en-US" dirty="0" err="1"/>
              <a:t>modelo</a:t>
            </a:r>
            <a:endParaRPr lang="en-US" dirty="0"/>
          </a:p>
          <a:p>
            <a:endParaRPr lang="en-US" sz="2000" i="1" dirty="0"/>
          </a:p>
          <a:p>
            <a:r>
              <a:rPr lang="ja-JP" altLang="en-US" sz="2000" i="1" dirty="0">
                <a:latin typeface="Arial"/>
              </a:rPr>
              <a:t>“</a:t>
            </a:r>
            <a:r>
              <a:rPr lang="en-US" sz="2000" i="1" dirty="0" err="1"/>
              <a:t>Todos</a:t>
            </a:r>
            <a:r>
              <a:rPr lang="en-US" sz="2000" i="1" dirty="0"/>
              <a:t> </a:t>
            </a:r>
            <a:r>
              <a:rPr lang="en-US" sz="2000" i="1" dirty="0" err="1"/>
              <a:t>os</a:t>
            </a:r>
            <a:r>
              <a:rPr lang="en-US" sz="2000" i="1" dirty="0"/>
              <a:t> </a:t>
            </a:r>
            <a:r>
              <a:rPr lang="en-US" sz="2000" i="1" dirty="0" err="1"/>
              <a:t>modelos</a:t>
            </a:r>
            <a:r>
              <a:rPr lang="en-US" sz="2000" i="1" dirty="0"/>
              <a:t> </a:t>
            </a:r>
            <a:r>
              <a:rPr lang="en-US" sz="2000" i="1" dirty="0" err="1"/>
              <a:t>são</a:t>
            </a:r>
            <a:r>
              <a:rPr lang="en-US" sz="2000" i="1" dirty="0"/>
              <a:t> </a:t>
            </a:r>
            <a:r>
              <a:rPr lang="en-US" sz="2000" i="1" dirty="0" err="1"/>
              <a:t>errados</a:t>
            </a:r>
            <a:r>
              <a:rPr lang="en-US" sz="2000" i="1" dirty="0"/>
              <a:t>, mas </a:t>
            </a:r>
            <a:r>
              <a:rPr lang="en-US" sz="2000" i="1" dirty="0" err="1"/>
              <a:t>alguns</a:t>
            </a:r>
            <a:r>
              <a:rPr lang="en-US" sz="2000" i="1" dirty="0"/>
              <a:t> </a:t>
            </a:r>
            <a:r>
              <a:rPr lang="en-US" sz="2000" i="1" dirty="0" err="1"/>
              <a:t>são</a:t>
            </a:r>
            <a:r>
              <a:rPr lang="en-US" sz="2000" i="1" dirty="0"/>
              <a:t> </a:t>
            </a:r>
            <a:r>
              <a:rPr lang="en-US" sz="2000" i="1" dirty="0" err="1"/>
              <a:t>úteis</a:t>
            </a:r>
            <a:r>
              <a:rPr lang="ja-JP" altLang="en-US" sz="2000" i="1" dirty="0">
                <a:latin typeface="Arial"/>
              </a:rPr>
              <a:t>”</a:t>
            </a:r>
            <a:endParaRPr lang="en-US" sz="2000" i="1" dirty="0"/>
          </a:p>
          <a:p>
            <a:pPr marL="68580" indent="0">
              <a:buNone/>
            </a:pPr>
            <a:r>
              <a:rPr lang="en-US" sz="2000" i="1" dirty="0"/>
              <a:t>					  George E. P. Box  </a:t>
            </a:r>
          </a:p>
        </p:txBody>
      </p:sp>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2022435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a:ln/>
        </p:spPr>
        <p:txBody>
          <a:bodyPr rIns="132080">
            <a:normAutofit fontScale="90000"/>
          </a:bodyPr>
          <a:lstStyle/>
          <a:p>
            <a:r>
              <a:rPr lang="en-US"/>
              <a:t>Uma disciplina de descrições</a:t>
            </a:r>
          </a:p>
        </p:txBody>
      </p:sp>
      <p:sp>
        <p:nvSpPr>
          <p:cNvPr id="26629" name="Rectangle 5"/>
          <p:cNvSpPr>
            <a:spLocks noGrp="1" noChangeArrowheads="1"/>
          </p:cNvSpPr>
          <p:nvPr>
            <p:ph type="body" idx="1"/>
          </p:nvPr>
        </p:nvSpPr>
        <p:spPr>
          <a:xfrm>
            <a:off x="566738" y="2633063"/>
            <a:ext cx="8001000" cy="5106987"/>
          </a:xfrm>
          <a:ln/>
        </p:spPr>
        <p:txBody>
          <a:bodyPr rIns="132080"/>
          <a:lstStyle/>
          <a:p>
            <a:r>
              <a:rPr lang="en-US"/>
              <a:t>A Engenharia de Software substitui a </a:t>
            </a:r>
            <a:r>
              <a:rPr lang="en-US" i="1"/>
              <a:t>construção</a:t>
            </a:r>
            <a:r>
              <a:rPr lang="en-US"/>
              <a:t> pelo </a:t>
            </a:r>
            <a:r>
              <a:rPr lang="en-US" i="1"/>
              <a:t>refinamento</a:t>
            </a:r>
            <a:r>
              <a:rPr lang="en-US"/>
              <a:t>:</a:t>
            </a:r>
          </a:p>
          <a:p>
            <a:pPr marL="947738" lvl="1"/>
            <a:r>
              <a:rPr lang="en-US"/>
              <a:t>Primeiro se cria uma descrição (modelo) do produto</a:t>
            </a:r>
          </a:p>
          <a:p>
            <a:pPr marL="947738" lvl="1"/>
            <a:r>
              <a:rPr lang="en-US"/>
              <a:t>Depois se cria outra descrição mais refinada, e outra mais refinada ainda, até conseguir uma descrição muito detalhada.</a:t>
            </a:r>
          </a:p>
          <a:p>
            <a:pPr marL="947738" lvl="1"/>
            <a:r>
              <a:rPr lang="en-US"/>
              <a:t>Nesse ponto, o produto está pronto.</a:t>
            </a:r>
          </a:p>
        </p:txBody>
      </p:sp>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3576946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4"/>
          <p:cNvSpPr>
            <a:spLocks noGrp="1" noChangeArrowheads="1"/>
          </p:cNvSpPr>
          <p:nvPr>
            <p:ph type="title"/>
          </p:nvPr>
        </p:nvSpPr>
        <p:spPr>
          <a:xfrm>
            <a:off x="1043490" y="868895"/>
            <a:ext cx="7024744" cy="1143000"/>
          </a:xfrm>
          <a:ln/>
        </p:spPr>
        <p:txBody>
          <a:bodyPr rIns="132080">
            <a:normAutofit fontScale="90000"/>
          </a:bodyPr>
          <a:lstStyle/>
          <a:p>
            <a:r>
              <a:rPr lang="en-US"/>
              <a:t>Software se deteriora com o tempo</a:t>
            </a:r>
          </a:p>
        </p:txBody>
      </p:sp>
      <p:pic>
        <p:nvPicPr>
          <p:cNvPr id="28677" name="Picture 5"/>
          <p:cNvPicPr>
            <a:picLocks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206625" y="2040868"/>
            <a:ext cx="4113213" cy="308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chemeClr val="tx1"/>
                </a:solidFill>
                <a:miter lim="800000"/>
                <a:headEnd/>
                <a:tailEnd/>
              </a14:hiddenLine>
            </a:ext>
          </a:extLst>
        </p:spPr>
      </p:pic>
      <p:sp>
        <p:nvSpPr>
          <p:cNvPr id="28678" name="Rectangle 6"/>
          <p:cNvSpPr>
            <a:spLocks/>
          </p:cNvSpPr>
          <p:nvPr/>
        </p:nvSpPr>
        <p:spPr bwMode="auto">
          <a:xfrm>
            <a:off x="4530725" y="3132711"/>
            <a:ext cx="987425"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wrap="none" lIns="0" tIns="0" rIns="40639" bIns="0">
            <a:spAutoFit/>
          </a:bodyPr>
          <a:lstStyle/>
          <a:p>
            <a:pPr marL="39688"/>
            <a:r>
              <a:rPr lang="en-US" sz="1600" i="1">
                <a:solidFill>
                  <a:schemeClr val="tx1"/>
                </a:solidFill>
                <a:ea typeface="ＭＳ Ｐゴシック" charset="0"/>
                <a:cs typeface="Times New Roman" charset="0"/>
              </a:rPr>
              <a:t>curva real</a:t>
            </a:r>
          </a:p>
        </p:txBody>
      </p:sp>
      <p:sp>
        <p:nvSpPr>
          <p:cNvPr id="28679" name="Rectangle 7"/>
          <p:cNvSpPr>
            <a:spLocks/>
          </p:cNvSpPr>
          <p:nvPr/>
        </p:nvSpPr>
        <p:spPr bwMode="auto">
          <a:xfrm>
            <a:off x="4948238" y="3893124"/>
            <a:ext cx="107315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wrap="none" lIns="0" tIns="0" rIns="40639" bIns="0">
            <a:spAutoFit/>
          </a:bodyPr>
          <a:lstStyle/>
          <a:p>
            <a:pPr marL="39688"/>
            <a:r>
              <a:rPr lang="en-US" sz="1600" i="1">
                <a:solidFill>
                  <a:schemeClr val="tx1"/>
                </a:solidFill>
                <a:ea typeface="ＭＳ Ｐゴシック" charset="0"/>
                <a:cs typeface="Times New Roman" charset="0"/>
              </a:rPr>
              <a:t>curva ideal</a:t>
            </a:r>
          </a:p>
        </p:txBody>
      </p:sp>
      <p:sp>
        <p:nvSpPr>
          <p:cNvPr id="28680" name="Rectangle 8"/>
          <p:cNvSpPr>
            <a:spLocks/>
          </p:cNvSpPr>
          <p:nvPr/>
        </p:nvSpPr>
        <p:spPr bwMode="auto">
          <a:xfrm>
            <a:off x="4033838" y="4490024"/>
            <a:ext cx="688975"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wrap="none" lIns="0" tIns="0" rIns="40639" bIns="0">
            <a:spAutoFit/>
          </a:bodyPr>
          <a:lstStyle/>
          <a:p>
            <a:pPr marL="39688"/>
            <a:r>
              <a:rPr lang="en-US" sz="1600" i="1">
                <a:solidFill>
                  <a:schemeClr val="tx1"/>
                </a:solidFill>
                <a:ea typeface="ＭＳ Ｐゴシック" charset="0"/>
                <a:cs typeface="Times New Roman" charset="0"/>
              </a:rPr>
              <a:t>Tempo</a:t>
            </a:r>
          </a:p>
        </p:txBody>
      </p:sp>
      <p:sp>
        <p:nvSpPr>
          <p:cNvPr id="28681" name="Rectangle 9"/>
          <p:cNvSpPr>
            <a:spLocks/>
          </p:cNvSpPr>
          <p:nvPr/>
        </p:nvSpPr>
        <p:spPr bwMode="auto">
          <a:xfrm>
            <a:off x="1524000" y="2994599"/>
            <a:ext cx="784225"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wrap="none" lIns="0" tIns="0" rIns="40639" bIns="0">
            <a:spAutoFit/>
          </a:bodyPr>
          <a:lstStyle/>
          <a:p>
            <a:pPr marL="39688"/>
            <a:r>
              <a:rPr lang="en-US" sz="1600" i="1">
                <a:solidFill>
                  <a:schemeClr val="tx1"/>
                </a:solidFill>
                <a:ea typeface="ＭＳ Ｐゴシック" charset="0"/>
                <a:cs typeface="Times New Roman" charset="0"/>
              </a:rPr>
              <a:t>Taxa de</a:t>
            </a:r>
          </a:p>
          <a:p>
            <a:pPr marL="39688"/>
            <a:r>
              <a:rPr lang="en-US" sz="1600" i="1">
                <a:solidFill>
                  <a:schemeClr val="tx1"/>
                </a:solidFill>
                <a:ea typeface="ＭＳ Ｐゴシック" charset="0"/>
                <a:cs typeface="Times New Roman" charset="0"/>
              </a:rPr>
              <a:t>falhas</a:t>
            </a:r>
          </a:p>
        </p:txBody>
      </p:sp>
      <p:sp>
        <p:nvSpPr>
          <p:cNvPr id="28682" name="Rectangle 10"/>
          <p:cNvSpPr>
            <a:spLocks noGrp="1" noChangeArrowheads="1"/>
          </p:cNvSpPr>
          <p:nvPr>
            <p:ph type="body" idx="1"/>
          </p:nvPr>
        </p:nvSpPr>
        <p:spPr>
          <a:xfrm>
            <a:off x="685800" y="4957165"/>
            <a:ext cx="7772400" cy="1900835"/>
          </a:xfrm>
          <a:ln/>
        </p:spPr>
        <p:txBody>
          <a:bodyPr rIns="132080"/>
          <a:lstStyle/>
          <a:p>
            <a:pPr>
              <a:lnSpc>
                <a:spcPct val="90000"/>
              </a:lnSpc>
            </a:pPr>
            <a:r>
              <a:rPr lang="en-US" dirty="0" err="1"/>
              <a:t>Causas</a:t>
            </a:r>
            <a:r>
              <a:rPr lang="en-US" dirty="0"/>
              <a:t> da </a:t>
            </a:r>
            <a:r>
              <a:rPr lang="en-US" dirty="0" err="1"/>
              <a:t>deterioração</a:t>
            </a:r>
            <a:endParaRPr lang="en-US" dirty="0"/>
          </a:p>
          <a:p>
            <a:pPr marL="947738" lvl="1">
              <a:lnSpc>
                <a:spcPct val="90000"/>
              </a:lnSpc>
            </a:pPr>
            <a:r>
              <a:rPr lang="en-US" dirty="0" err="1"/>
              <a:t>Mudanças</a:t>
            </a:r>
            <a:r>
              <a:rPr lang="en-US" dirty="0"/>
              <a:t> no </a:t>
            </a:r>
            <a:r>
              <a:rPr lang="en-US" dirty="0" err="1"/>
              <a:t>ambiente</a:t>
            </a:r>
            <a:r>
              <a:rPr lang="en-US" dirty="0"/>
              <a:t> de </a:t>
            </a:r>
            <a:r>
              <a:rPr lang="en-US" dirty="0" err="1"/>
              <a:t>execução</a:t>
            </a:r>
            <a:endParaRPr lang="en-US" dirty="0"/>
          </a:p>
          <a:p>
            <a:pPr marL="947738" lvl="1">
              <a:lnSpc>
                <a:spcPct val="90000"/>
              </a:lnSpc>
            </a:pPr>
            <a:r>
              <a:rPr lang="en-US" dirty="0" err="1"/>
              <a:t>Novos</a:t>
            </a:r>
            <a:r>
              <a:rPr lang="en-US" dirty="0"/>
              <a:t> </a:t>
            </a:r>
            <a:r>
              <a:rPr lang="en-US" dirty="0" err="1"/>
              <a:t>requisitos</a:t>
            </a:r>
            <a:r>
              <a:rPr lang="en-US" dirty="0"/>
              <a:t> </a:t>
            </a:r>
            <a:r>
              <a:rPr lang="en-US" dirty="0" err="1"/>
              <a:t>levando</a:t>
            </a:r>
            <a:r>
              <a:rPr lang="en-US" dirty="0"/>
              <a:t> a </a:t>
            </a:r>
            <a:r>
              <a:rPr lang="en-US" dirty="0" err="1"/>
              <a:t>mudanças</a:t>
            </a:r>
            <a:r>
              <a:rPr lang="en-US" dirty="0"/>
              <a:t> no software</a:t>
            </a:r>
          </a:p>
        </p:txBody>
      </p:sp>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24987568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4"/>
          <p:cNvSpPr>
            <a:spLocks noGrp="1" noChangeArrowheads="1"/>
          </p:cNvSpPr>
          <p:nvPr>
            <p:ph type="title"/>
          </p:nvPr>
        </p:nvSpPr>
        <p:spPr>
          <a:ln/>
        </p:spPr>
        <p:txBody>
          <a:bodyPr rIns="132080">
            <a:normAutofit fontScale="90000"/>
          </a:bodyPr>
          <a:lstStyle/>
          <a:p>
            <a:r>
              <a:rPr lang="en-US"/>
              <a:t>Especialização por atividade</a:t>
            </a:r>
          </a:p>
        </p:txBody>
      </p:sp>
      <p:sp>
        <p:nvSpPr>
          <p:cNvPr id="29701" name="Rectangle 5"/>
          <p:cNvSpPr>
            <a:spLocks noGrp="1" noChangeArrowheads="1"/>
          </p:cNvSpPr>
          <p:nvPr>
            <p:ph type="body" idx="1"/>
          </p:nvPr>
        </p:nvSpPr>
        <p:spPr>
          <a:ln/>
        </p:spPr>
        <p:txBody>
          <a:bodyPr rIns="132080">
            <a:normAutofit lnSpcReduction="10000"/>
          </a:bodyPr>
          <a:lstStyle/>
          <a:p>
            <a:r>
              <a:rPr lang="en-US"/>
              <a:t>Já existem especializações dentro da engenharia de software</a:t>
            </a:r>
          </a:p>
          <a:p>
            <a:pPr marL="947738" lvl="1"/>
            <a:r>
              <a:rPr lang="en-US"/>
              <a:t>Testadores</a:t>
            </a:r>
          </a:p>
          <a:p>
            <a:pPr marL="947738" lvl="1"/>
            <a:r>
              <a:rPr lang="en-US"/>
              <a:t>Arquitetos</a:t>
            </a:r>
          </a:p>
          <a:p>
            <a:pPr marL="947738" lvl="1"/>
            <a:r>
              <a:rPr lang="en-US"/>
              <a:t>Designers de interfaces</a:t>
            </a:r>
          </a:p>
          <a:p>
            <a:r>
              <a:rPr lang="en-US"/>
              <a:t>As especializações surgem através da experiência</a:t>
            </a:r>
          </a:p>
          <a:p>
            <a:pPr marL="947738" lvl="1"/>
            <a:r>
              <a:rPr lang="en-US"/>
              <a:t>Ainda há pouca formação acadêmica especializada por atividade.</a:t>
            </a:r>
          </a:p>
        </p:txBody>
      </p:sp>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8489844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4"/>
          <p:cNvSpPr>
            <a:spLocks noGrp="1" noChangeArrowheads="1"/>
          </p:cNvSpPr>
          <p:nvPr>
            <p:ph type="title"/>
          </p:nvPr>
        </p:nvSpPr>
        <p:spPr>
          <a:xfrm>
            <a:off x="796065" y="583611"/>
            <a:ext cx="7024744" cy="1143000"/>
          </a:xfrm>
          <a:ln/>
        </p:spPr>
        <p:txBody>
          <a:bodyPr rIns="132080">
            <a:normAutofit fontScale="90000"/>
          </a:bodyPr>
          <a:lstStyle/>
          <a:p>
            <a:r>
              <a:rPr lang="en-US" dirty="0" err="1"/>
              <a:t>Especialização</a:t>
            </a:r>
            <a:r>
              <a:rPr lang="en-US" dirty="0"/>
              <a:t> </a:t>
            </a:r>
            <a:r>
              <a:rPr lang="en-US" dirty="0" err="1"/>
              <a:t>por</a:t>
            </a:r>
            <a:r>
              <a:rPr lang="en-US" dirty="0"/>
              <a:t> </a:t>
            </a:r>
            <a:r>
              <a:rPr lang="en-US" dirty="0" err="1"/>
              <a:t>domínio</a:t>
            </a:r>
            <a:endParaRPr lang="en-US" dirty="0"/>
          </a:p>
        </p:txBody>
      </p:sp>
      <p:sp>
        <p:nvSpPr>
          <p:cNvPr id="30725" name="Rectangle 5"/>
          <p:cNvSpPr>
            <a:spLocks noGrp="1" noChangeArrowheads="1"/>
          </p:cNvSpPr>
          <p:nvPr>
            <p:ph type="body" idx="1"/>
          </p:nvPr>
        </p:nvSpPr>
        <p:spPr>
          <a:xfrm>
            <a:off x="796065" y="1815292"/>
            <a:ext cx="7334923" cy="4534348"/>
          </a:xfrm>
          <a:ln/>
        </p:spPr>
        <p:txBody>
          <a:bodyPr rIns="132080"/>
          <a:lstStyle/>
          <a:p>
            <a:r>
              <a:rPr lang="en-US" dirty="0" err="1"/>
              <a:t>Engenharia</a:t>
            </a:r>
            <a:r>
              <a:rPr lang="en-US" dirty="0"/>
              <a:t> de </a:t>
            </a:r>
            <a:r>
              <a:rPr lang="en-US" i="1" dirty="0"/>
              <a:t>software</a:t>
            </a:r>
            <a:r>
              <a:rPr lang="en-US" dirty="0"/>
              <a:t> é </a:t>
            </a:r>
            <a:r>
              <a:rPr lang="en-US" dirty="0" err="1"/>
              <a:t>muito</a:t>
            </a:r>
            <a:r>
              <a:rPr lang="en-US" dirty="0"/>
              <a:t> </a:t>
            </a:r>
            <a:r>
              <a:rPr lang="en-US" dirty="0" err="1"/>
              <a:t>geral</a:t>
            </a:r>
            <a:r>
              <a:rPr lang="en-US" dirty="0"/>
              <a:t>. </a:t>
            </a:r>
            <a:r>
              <a:rPr lang="en-US" dirty="0" err="1"/>
              <a:t>Por</a:t>
            </a:r>
            <a:r>
              <a:rPr lang="en-US" dirty="0"/>
              <a:t> </a:t>
            </a:r>
            <a:r>
              <a:rPr lang="en-US" dirty="0" err="1" smtClean="0"/>
              <a:t>que</a:t>
            </a:r>
            <a:r>
              <a:rPr lang="en-US" dirty="0" smtClean="0"/>
              <a:t> </a:t>
            </a:r>
            <a:r>
              <a:rPr lang="en-US" dirty="0" err="1" smtClean="0"/>
              <a:t>não</a:t>
            </a:r>
            <a:r>
              <a:rPr lang="en-US" dirty="0" smtClean="0"/>
              <a:t>???</a:t>
            </a:r>
            <a:endParaRPr lang="en-US" dirty="0"/>
          </a:p>
          <a:p>
            <a:pPr marL="947738" lvl="1"/>
            <a:r>
              <a:rPr lang="en-US" dirty="0" err="1"/>
              <a:t>Engenharia</a:t>
            </a:r>
            <a:r>
              <a:rPr lang="en-US" dirty="0"/>
              <a:t> de software </a:t>
            </a:r>
            <a:r>
              <a:rPr lang="en-US" dirty="0" err="1"/>
              <a:t>financeiro</a:t>
            </a:r>
            <a:endParaRPr lang="en-US" dirty="0"/>
          </a:p>
          <a:p>
            <a:pPr marL="947738" lvl="1"/>
            <a:r>
              <a:rPr lang="en-US" dirty="0" err="1"/>
              <a:t>Engenharia</a:t>
            </a:r>
            <a:r>
              <a:rPr lang="en-US" dirty="0"/>
              <a:t> de software </a:t>
            </a:r>
            <a:r>
              <a:rPr lang="en-US" dirty="0" err="1"/>
              <a:t>para</a:t>
            </a:r>
            <a:r>
              <a:rPr lang="en-US" dirty="0"/>
              <a:t> </a:t>
            </a:r>
            <a:r>
              <a:rPr lang="en-US" dirty="0" err="1"/>
              <a:t>comércio</a:t>
            </a:r>
            <a:r>
              <a:rPr lang="en-US" dirty="0"/>
              <a:t> </a:t>
            </a:r>
            <a:r>
              <a:rPr lang="en-US" dirty="0" err="1"/>
              <a:t>eletrônico</a:t>
            </a:r>
            <a:endParaRPr lang="en-US" dirty="0"/>
          </a:p>
          <a:p>
            <a:pPr marL="947738" lvl="1"/>
            <a:r>
              <a:rPr lang="en-US" dirty="0" err="1"/>
              <a:t>Engenharia</a:t>
            </a:r>
            <a:r>
              <a:rPr lang="en-US" dirty="0"/>
              <a:t> de software </a:t>
            </a:r>
            <a:r>
              <a:rPr lang="en-US" dirty="0" err="1"/>
              <a:t>para</a:t>
            </a:r>
            <a:r>
              <a:rPr lang="en-US" dirty="0"/>
              <a:t> </a:t>
            </a:r>
            <a:r>
              <a:rPr lang="en-US" dirty="0" err="1"/>
              <a:t>dom;inios</a:t>
            </a:r>
            <a:r>
              <a:rPr lang="en-US" dirty="0"/>
              <a:t> </a:t>
            </a:r>
            <a:r>
              <a:rPr lang="en-US" dirty="0" err="1"/>
              <a:t>variados</a:t>
            </a:r>
            <a:r>
              <a:rPr lang="is-IS" dirty="0"/>
              <a:t>…</a:t>
            </a:r>
            <a:endParaRPr lang="en-US" dirty="0"/>
          </a:p>
          <a:p>
            <a:pPr marL="947738" lvl="1"/>
            <a:r>
              <a:rPr lang="en-US" dirty="0" err="1"/>
              <a:t>Engenharia</a:t>
            </a:r>
            <a:r>
              <a:rPr lang="en-US" dirty="0"/>
              <a:t> de software de </a:t>
            </a:r>
            <a:r>
              <a:rPr lang="en-US" dirty="0" err="1"/>
              <a:t>controle</a:t>
            </a:r>
            <a:endParaRPr lang="en-US" dirty="0"/>
          </a:p>
          <a:p>
            <a:pPr marL="947738" lvl="1"/>
            <a:r>
              <a:rPr lang="en-US" dirty="0" err="1"/>
              <a:t>Engenharia</a:t>
            </a:r>
            <a:r>
              <a:rPr lang="en-US" dirty="0"/>
              <a:t> de </a:t>
            </a:r>
            <a:r>
              <a:rPr lang="en-US" dirty="0" err="1"/>
              <a:t>sistemas</a:t>
            </a:r>
            <a:r>
              <a:rPr lang="en-US" dirty="0"/>
              <a:t> </a:t>
            </a:r>
            <a:r>
              <a:rPr lang="en-US" dirty="0" err="1"/>
              <a:t>operacionais</a:t>
            </a:r>
            <a:endParaRPr lang="en-US" dirty="0"/>
          </a:p>
          <a:p>
            <a:pPr marL="947738" lvl="1"/>
            <a:r>
              <a:rPr lang="en-US" dirty="0" err="1"/>
              <a:t>Engenharia</a:t>
            </a:r>
            <a:r>
              <a:rPr lang="en-US" dirty="0"/>
              <a:t> de </a:t>
            </a:r>
            <a:r>
              <a:rPr lang="en-US" dirty="0" err="1"/>
              <a:t>sistemas</a:t>
            </a:r>
            <a:r>
              <a:rPr lang="en-US" dirty="0"/>
              <a:t> </a:t>
            </a:r>
            <a:r>
              <a:rPr lang="en-US" dirty="0" err="1"/>
              <a:t>inteligentes</a:t>
            </a:r>
            <a:endParaRPr lang="en-US" dirty="0"/>
          </a:p>
          <a:p>
            <a:pPr marL="947738" lvl="1"/>
            <a:r>
              <a:rPr lang="en-US" dirty="0" err="1"/>
              <a:t>Engenharia</a:t>
            </a:r>
            <a:r>
              <a:rPr lang="en-US" dirty="0"/>
              <a:t> de videogames</a:t>
            </a:r>
          </a:p>
        </p:txBody>
      </p:sp>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7613120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4"/>
          <p:cNvSpPr>
            <a:spLocks noGrp="1" noChangeArrowheads="1"/>
          </p:cNvSpPr>
          <p:nvPr>
            <p:ph type="title"/>
          </p:nvPr>
        </p:nvSpPr>
        <p:spPr>
          <a:ln/>
        </p:spPr>
        <p:txBody>
          <a:bodyPr rIns="132080"/>
          <a:lstStyle/>
          <a:p>
            <a:r>
              <a:rPr lang="en-US"/>
              <a:t>Estratificação</a:t>
            </a:r>
          </a:p>
        </p:txBody>
      </p:sp>
      <p:sp>
        <p:nvSpPr>
          <p:cNvPr id="31749" name="Rectangle 5"/>
          <p:cNvSpPr>
            <a:spLocks noGrp="1" noChangeArrowheads="1"/>
          </p:cNvSpPr>
          <p:nvPr>
            <p:ph type="body" idx="1"/>
          </p:nvPr>
        </p:nvSpPr>
        <p:spPr>
          <a:ln/>
        </p:spPr>
        <p:txBody>
          <a:bodyPr rIns="132080"/>
          <a:lstStyle/>
          <a:p>
            <a:pPr>
              <a:lnSpc>
                <a:spcPct val="90000"/>
              </a:lnSpc>
            </a:pPr>
            <a:r>
              <a:rPr lang="en-US"/>
              <a:t>O desenvolvedor de software realiza todas as funções, desde a especificação até o teste.</a:t>
            </a:r>
          </a:p>
          <a:p>
            <a:pPr>
              <a:lnSpc>
                <a:spcPct val="90000"/>
              </a:lnSpc>
            </a:pPr>
            <a:r>
              <a:rPr lang="en-US"/>
              <a:t>Outras profissões são mais estratificadas:</a:t>
            </a:r>
          </a:p>
          <a:p>
            <a:pPr marL="947738" lvl="1">
              <a:lnSpc>
                <a:spcPct val="90000"/>
              </a:lnSpc>
            </a:pPr>
            <a:r>
              <a:rPr lang="en-US"/>
              <a:t>Construção civil</a:t>
            </a:r>
          </a:p>
          <a:p>
            <a:pPr marL="1344613" lvl="2">
              <a:lnSpc>
                <a:spcPct val="90000"/>
              </a:lnSpc>
            </a:pPr>
            <a:r>
              <a:rPr lang="en-US" sz="2400"/>
              <a:t>arquiteto + engenheiro + mestre-de-obras + pedreiro</a:t>
            </a:r>
          </a:p>
          <a:p>
            <a:pPr marL="947738" lvl="1">
              <a:lnSpc>
                <a:spcPct val="90000"/>
              </a:lnSpc>
            </a:pPr>
            <a:r>
              <a:rPr lang="en-US"/>
              <a:t>Medicina</a:t>
            </a:r>
          </a:p>
          <a:p>
            <a:pPr marL="1344613" lvl="2">
              <a:lnSpc>
                <a:spcPct val="90000"/>
              </a:lnSpc>
            </a:pPr>
            <a:r>
              <a:rPr lang="en-US" sz="2400"/>
              <a:t>Médico + enfermeiro + auxiliar</a:t>
            </a:r>
          </a:p>
        </p:txBody>
      </p:sp>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41601068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4"/>
          <p:cNvSpPr>
            <a:spLocks noGrp="1" noChangeArrowheads="1"/>
          </p:cNvSpPr>
          <p:nvPr>
            <p:ph type="title"/>
          </p:nvPr>
        </p:nvSpPr>
        <p:spPr>
          <a:xfrm>
            <a:off x="940786" y="1195388"/>
            <a:ext cx="7517414" cy="487638"/>
          </a:xfrm>
          <a:ln/>
        </p:spPr>
        <p:txBody>
          <a:bodyPr rIns="132080">
            <a:normAutofit fontScale="90000"/>
          </a:bodyPr>
          <a:lstStyle/>
          <a:p>
            <a:r>
              <a:rPr lang="en-US" dirty="0" err="1"/>
              <a:t>Duas</a:t>
            </a:r>
            <a:r>
              <a:rPr lang="en-US" dirty="0"/>
              <a:t> </a:t>
            </a:r>
            <a:r>
              <a:rPr lang="en-US" dirty="0" err="1"/>
              <a:t>atividades</a:t>
            </a:r>
            <a:r>
              <a:rPr lang="en-US" dirty="0"/>
              <a:t> de </a:t>
            </a:r>
            <a:r>
              <a:rPr lang="en-US" dirty="0" err="1"/>
              <a:t>engenharia</a:t>
            </a:r>
            <a:endParaRPr lang="en-US" dirty="0"/>
          </a:p>
        </p:txBody>
      </p:sp>
      <p:sp>
        <p:nvSpPr>
          <p:cNvPr id="32773" name="Rectangle 5"/>
          <p:cNvSpPr>
            <a:spLocks noGrp="1" noChangeArrowheads="1"/>
          </p:cNvSpPr>
          <p:nvPr>
            <p:ph type="body" idx="1"/>
          </p:nvPr>
        </p:nvSpPr>
        <p:spPr>
          <a:xfrm>
            <a:off x="685800" y="2105089"/>
            <a:ext cx="7772400" cy="4941887"/>
          </a:xfrm>
          <a:ln/>
        </p:spPr>
        <p:txBody>
          <a:bodyPr rIns="132080"/>
          <a:lstStyle/>
          <a:p>
            <a:pPr>
              <a:lnSpc>
                <a:spcPct val="90000"/>
              </a:lnSpc>
            </a:pPr>
            <a:r>
              <a:rPr lang="en-US" dirty="0" err="1"/>
              <a:t>Exploratória</a:t>
            </a:r>
            <a:endParaRPr lang="en-US" dirty="0"/>
          </a:p>
          <a:p>
            <a:pPr marL="947738" lvl="1">
              <a:lnSpc>
                <a:spcPct val="90000"/>
              </a:lnSpc>
            </a:pPr>
            <a:r>
              <a:rPr lang="en-US" dirty="0" err="1"/>
              <a:t>exploração</a:t>
            </a:r>
            <a:r>
              <a:rPr lang="en-US" dirty="0"/>
              <a:t> </a:t>
            </a:r>
            <a:r>
              <a:rPr lang="en-US" dirty="0" err="1"/>
              <a:t>não</a:t>
            </a:r>
            <a:r>
              <a:rPr lang="en-US" dirty="0"/>
              <a:t> </a:t>
            </a:r>
            <a:r>
              <a:rPr lang="en-US" dirty="0" err="1"/>
              <a:t>estruturada</a:t>
            </a:r>
            <a:r>
              <a:rPr lang="en-US" dirty="0"/>
              <a:t> de </a:t>
            </a:r>
            <a:r>
              <a:rPr lang="en-US" dirty="0" err="1"/>
              <a:t>novos</a:t>
            </a:r>
            <a:r>
              <a:rPr lang="en-US" dirty="0"/>
              <a:t> </a:t>
            </a:r>
            <a:r>
              <a:rPr lang="en-US" dirty="0" err="1"/>
              <a:t>tipos</a:t>
            </a:r>
            <a:r>
              <a:rPr lang="en-US" dirty="0"/>
              <a:t> de </a:t>
            </a:r>
            <a:r>
              <a:rPr lang="en-US" dirty="0" err="1"/>
              <a:t>projeto</a:t>
            </a:r>
            <a:endParaRPr lang="en-US" dirty="0"/>
          </a:p>
          <a:p>
            <a:pPr>
              <a:lnSpc>
                <a:spcPct val="90000"/>
              </a:lnSpc>
            </a:pPr>
            <a:r>
              <a:rPr lang="en-US" dirty="0" err="1"/>
              <a:t>Organizada</a:t>
            </a:r>
            <a:endParaRPr lang="en-US" dirty="0"/>
          </a:p>
          <a:p>
            <a:pPr marL="947738" lvl="1">
              <a:lnSpc>
                <a:spcPct val="90000"/>
              </a:lnSpc>
            </a:pPr>
            <a:r>
              <a:rPr lang="en-US" dirty="0" err="1"/>
              <a:t>Baseada</a:t>
            </a:r>
            <a:r>
              <a:rPr lang="en-US" dirty="0"/>
              <a:t> </a:t>
            </a:r>
            <a:r>
              <a:rPr lang="en-US" dirty="0" err="1"/>
              <a:t>na</a:t>
            </a:r>
            <a:r>
              <a:rPr lang="en-US" dirty="0"/>
              <a:t> </a:t>
            </a:r>
            <a:r>
              <a:rPr lang="en-US" dirty="0" err="1"/>
              <a:t>aplicação</a:t>
            </a:r>
            <a:r>
              <a:rPr lang="en-US" dirty="0"/>
              <a:t> e </a:t>
            </a:r>
            <a:r>
              <a:rPr lang="en-US" dirty="0" err="1"/>
              <a:t>variação</a:t>
            </a:r>
            <a:r>
              <a:rPr lang="en-US" dirty="0"/>
              <a:t> de </a:t>
            </a:r>
            <a:r>
              <a:rPr lang="en-US" dirty="0" err="1"/>
              <a:t>padrões</a:t>
            </a:r>
            <a:r>
              <a:rPr lang="en-US" dirty="0"/>
              <a:t> (</a:t>
            </a:r>
            <a:r>
              <a:rPr lang="en-US" i="1" dirty="0"/>
              <a:t>patterns</a:t>
            </a:r>
            <a:r>
              <a:rPr lang="en-US" dirty="0"/>
              <a:t>) </a:t>
            </a:r>
            <a:r>
              <a:rPr lang="en-US" dirty="0" err="1"/>
              <a:t>testados</a:t>
            </a:r>
            <a:r>
              <a:rPr lang="en-US" dirty="0"/>
              <a:t> </a:t>
            </a:r>
            <a:r>
              <a:rPr lang="en-US" dirty="0" err="1"/>
              <a:t>através</a:t>
            </a:r>
            <a:r>
              <a:rPr lang="en-US" dirty="0"/>
              <a:t> da </a:t>
            </a:r>
            <a:r>
              <a:rPr lang="en-US" dirty="0" err="1"/>
              <a:t>experiência</a:t>
            </a:r>
            <a:r>
              <a:rPr lang="en-US" dirty="0"/>
              <a:t>.</a:t>
            </a:r>
          </a:p>
          <a:p>
            <a:pPr marL="947738" lvl="1">
              <a:lnSpc>
                <a:spcPct val="90000"/>
              </a:lnSpc>
            </a:pPr>
            <a:endParaRPr lang="en-US" sz="2000" dirty="0"/>
          </a:p>
          <a:p>
            <a:pPr>
              <a:lnSpc>
                <a:spcPct val="90000"/>
              </a:lnSpc>
            </a:pPr>
            <a:r>
              <a:rPr lang="en-US" dirty="0"/>
              <a:t>A ES </a:t>
            </a:r>
            <a:r>
              <a:rPr lang="en-US" dirty="0" err="1"/>
              <a:t>está</a:t>
            </a:r>
            <a:r>
              <a:rPr lang="en-US" dirty="0"/>
              <a:t> </a:t>
            </a:r>
            <a:r>
              <a:rPr lang="en-US" dirty="0" err="1"/>
              <a:t>mudando</a:t>
            </a:r>
            <a:r>
              <a:rPr lang="en-US" dirty="0"/>
              <a:t> de </a:t>
            </a:r>
            <a:r>
              <a:rPr lang="en-US" dirty="0" err="1"/>
              <a:t>atividade</a:t>
            </a:r>
            <a:r>
              <a:rPr lang="en-US" dirty="0"/>
              <a:t> </a:t>
            </a:r>
            <a:r>
              <a:rPr lang="en-US" dirty="0" err="1"/>
              <a:t>exploratória</a:t>
            </a:r>
            <a:r>
              <a:rPr lang="en-US" dirty="0"/>
              <a:t> </a:t>
            </a:r>
            <a:r>
              <a:rPr lang="en-US" dirty="0" err="1"/>
              <a:t>para</a:t>
            </a:r>
            <a:r>
              <a:rPr lang="en-US" dirty="0"/>
              <a:t> </a:t>
            </a:r>
            <a:r>
              <a:rPr lang="en-US" dirty="0" err="1"/>
              <a:t>atividade</a:t>
            </a:r>
            <a:r>
              <a:rPr lang="en-US" dirty="0"/>
              <a:t> </a:t>
            </a:r>
            <a:r>
              <a:rPr lang="en-US" dirty="0" err="1"/>
              <a:t>organizada</a:t>
            </a:r>
            <a:r>
              <a:rPr lang="en-US" dirty="0"/>
              <a:t>.</a:t>
            </a:r>
          </a:p>
        </p:txBody>
      </p:sp>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28025471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4"/>
          <p:cNvSpPr>
            <a:spLocks noGrp="1" noChangeArrowheads="1"/>
          </p:cNvSpPr>
          <p:nvPr>
            <p:ph type="title"/>
          </p:nvPr>
        </p:nvSpPr>
        <p:spPr>
          <a:ln/>
        </p:spPr>
        <p:txBody>
          <a:bodyPr rIns="132080"/>
          <a:lstStyle/>
          <a:p>
            <a:r>
              <a:rPr lang="en-US"/>
              <a:t>Aspectos legais</a:t>
            </a:r>
          </a:p>
        </p:txBody>
      </p:sp>
      <p:sp>
        <p:nvSpPr>
          <p:cNvPr id="34821" name="Rectangle 5"/>
          <p:cNvSpPr>
            <a:spLocks noGrp="1" noChangeArrowheads="1"/>
          </p:cNvSpPr>
          <p:nvPr>
            <p:ph type="body" idx="1"/>
          </p:nvPr>
        </p:nvSpPr>
        <p:spPr>
          <a:ln/>
        </p:spPr>
        <p:txBody>
          <a:bodyPr rIns="132080"/>
          <a:lstStyle/>
          <a:p>
            <a:r>
              <a:rPr lang="en-US"/>
              <a:t>Licenciamento e certificação</a:t>
            </a:r>
          </a:p>
          <a:p>
            <a:r>
              <a:rPr lang="en-US"/>
              <a:t>Corpo de conhecimento (</a:t>
            </a:r>
            <a:r>
              <a:rPr lang="en-US" i="1"/>
              <a:t>body of knowledge</a:t>
            </a:r>
            <a:r>
              <a:rPr lang="en-US"/>
              <a:t>)</a:t>
            </a:r>
          </a:p>
          <a:p>
            <a:r>
              <a:rPr lang="en-US"/>
              <a:t>Código de ética</a:t>
            </a:r>
          </a:p>
          <a:p>
            <a:r>
              <a:rPr lang="en-US"/>
              <a:t>Associações profissionais</a:t>
            </a:r>
          </a:p>
        </p:txBody>
      </p:sp>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111398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4"/>
          <p:cNvSpPr>
            <a:spLocks noGrp="1" noChangeArrowheads="1"/>
          </p:cNvSpPr>
          <p:nvPr>
            <p:ph type="title"/>
          </p:nvPr>
        </p:nvSpPr>
        <p:spPr>
          <a:xfrm>
            <a:off x="725975" y="745405"/>
            <a:ext cx="8100510" cy="877581"/>
          </a:xfrm>
          <a:ln/>
        </p:spPr>
        <p:txBody>
          <a:bodyPr rIns="132080"/>
          <a:lstStyle/>
          <a:p>
            <a:r>
              <a:rPr lang="en-US"/>
              <a:t>Licenciamento e certificação</a:t>
            </a:r>
          </a:p>
        </p:txBody>
      </p:sp>
      <p:sp>
        <p:nvSpPr>
          <p:cNvPr id="35845" name="Rectangle 5"/>
          <p:cNvSpPr>
            <a:spLocks noGrp="1" noChangeArrowheads="1"/>
          </p:cNvSpPr>
          <p:nvPr>
            <p:ph type="body" idx="1"/>
          </p:nvPr>
        </p:nvSpPr>
        <p:spPr>
          <a:xfrm>
            <a:off x="1043492" y="1794418"/>
            <a:ext cx="7305378" cy="3983530"/>
          </a:xfrm>
          <a:ln/>
        </p:spPr>
        <p:txBody>
          <a:bodyPr rIns="132080">
            <a:normAutofit lnSpcReduction="10000"/>
          </a:bodyPr>
          <a:lstStyle/>
          <a:p>
            <a:pPr algn="just">
              <a:lnSpc>
                <a:spcPct val="80000"/>
              </a:lnSpc>
            </a:pPr>
            <a:r>
              <a:rPr lang="en-US" dirty="0" err="1"/>
              <a:t>Licença</a:t>
            </a:r>
            <a:r>
              <a:rPr lang="en-US" dirty="0"/>
              <a:t> é </a:t>
            </a:r>
          </a:p>
          <a:p>
            <a:pPr marL="947738" lvl="1" algn="just">
              <a:lnSpc>
                <a:spcPct val="80000"/>
              </a:lnSpc>
            </a:pPr>
            <a:r>
              <a:rPr lang="en-US" sz="2000" dirty="0"/>
              <a:t>um </a:t>
            </a:r>
            <a:r>
              <a:rPr lang="en-US" sz="2000" dirty="0" err="1"/>
              <a:t>documento</a:t>
            </a:r>
            <a:r>
              <a:rPr lang="en-US" sz="2000" dirty="0"/>
              <a:t> de valor legal </a:t>
            </a:r>
            <a:r>
              <a:rPr lang="en-US" sz="2000" dirty="0" err="1"/>
              <a:t>que</a:t>
            </a:r>
            <a:r>
              <a:rPr lang="en-US" sz="2000" dirty="0"/>
              <a:t> </a:t>
            </a:r>
            <a:r>
              <a:rPr lang="en-US" sz="2000" dirty="0" err="1"/>
              <a:t>atesta</a:t>
            </a:r>
            <a:r>
              <a:rPr lang="en-US" sz="2000" dirty="0"/>
              <a:t> </a:t>
            </a:r>
            <a:r>
              <a:rPr lang="en-US" sz="2000" dirty="0" err="1"/>
              <a:t>que</a:t>
            </a:r>
            <a:r>
              <a:rPr lang="en-US" sz="2000" dirty="0"/>
              <a:t> </a:t>
            </a:r>
            <a:r>
              <a:rPr lang="en-US" sz="2000" dirty="0" err="1"/>
              <a:t>uma</a:t>
            </a:r>
            <a:r>
              <a:rPr lang="en-US" sz="2000" dirty="0"/>
              <a:t> </a:t>
            </a:r>
            <a:r>
              <a:rPr lang="en-US" sz="2000" dirty="0" err="1"/>
              <a:t>pessoa</a:t>
            </a:r>
            <a:r>
              <a:rPr lang="en-US" sz="2000" dirty="0"/>
              <a:t> </a:t>
            </a:r>
            <a:r>
              <a:rPr lang="en-US" sz="2000" dirty="0" err="1"/>
              <a:t>possui</a:t>
            </a:r>
            <a:r>
              <a:rPr lang="en-US" sz="2000" dirty="0"/>
              <a:t> </a:t>
            </a:r>
            <a:r>
              <a:rPr lang="en-US" sz="2000" dirty="0" err="1"/>
              <a:t>todas</a:t>
            </a:r>
            <a:r>
              <a:rPr lang="en-US" sz="2000" dirty="0"/>
              <a:t> as </a:t>
            </a:r>
            <a:r>
              <a:rPr lang="en-US" sz="2000" dirty="0" err="1"/>
              <a:t>condições</a:t>
            </a:r>
            <a:r>
              <a:rPr lang="en-US" sz="2000" dirty="0"/>
              <a:t> </a:t>
            </a:r>
            <a:r>
              <a:rPr lang="en-US" sz="2000" dirty="0" err="1"/>
              <a:t>exigidas</a:t>
            </a:r>
            <a:r>
              <a:rPr lang="en-US" sz="2000" dirty="0"/>
              <a:t> </a:t>
            </a:r>
            <a:r>
              <a:rPr lang="en-US" sz="2000" dirty="0" err="1"/>
              <a:t>pelo</a:t>
            </a:r>
            <a:r>
              <a:rPr lang="en-US" sz="2000" dirty="0"/>
              <a:t> </a:t>
            </a:r>
            <a:r>
              <a:rPr lang="en-US" sz="2000" dirty="0" err="1"/>
              <a:t>governo</a:t>
            </a:r>
            <a:r>
              <a:rPr lang="en-US" sz="2000" dirty="0"/>
              <a:t>  </a:t>
            </a:r>
            <a:r>
              <a:rPr lang="en-US" sz="2000" dirty="0" err="1"/>
              <a:t>para</a:t>
            </a:r>
            <a:r>
              <a:rPr lang="en-US" sz="2000" dirty="0"/>
              <a:t> </a:t>
            </a:r>
            <a:r>
              <a:rPr lang="en-US" sz="2000" dirty="0" err="1"/>
              <a:t>exercer</a:t>
            </a:r>
            <a:r>
              <a:rPr lang="en-US" sz="2000" dirty="0"/>
              <a:t> </a:t>
            </a:r>
            <a:r>
              <a:rPr lang="en-US" sz="2000" dirty="0" err="1"/>
              <a:t>uma</a:t>
            </a:r>
            <a:r>
              <a:rPr lang="en-US" sz="2000" dirty="0"/>
              <a:t> </a:t>
            </a:r>
            <a:r>
              <a:rPr lang="en-US" sz="2000" dirty="0" err="1"/>
              <a:t>profissão</a:t>
            </a:r>
            <a:r>
              <a:rPr lang="en-US" sz="2000" dirty="0"/>
              <a:t> </a:t>
            </a:r>
          </a:p>
          <a:p>
            <a:pPr marL="947738" lvl="1" algn="just">
              <a:lnSpc>
                <a:spcPct val="80000"/>
              </a:lnSpc>
            </a:pPr>
            <a:r>
              <a:rPr lang="en-US" sz="2000" dirty="0"/>
              <a:t>é </a:t>
            </a:r>
            <a:r>
              <a:rPr lang="en-US" sz="2000" dirty="0" err="1"/>
              <a:t>uma</a:t>
            </a:r>
            <a:r>
              <a:rPr lang="en-US" sz="2000" dirty="0"/>
              <a:t> </a:t>
            </a:r>
            <a:r>
              <a:rPr lang="en-US" sz="2000" dirty="0" err="1"/>
              <a:t>restrição</a:t>
            </a:r>
            <a:r>
              <a:rPr lang="en-US" sz="2000" dirty="0"/>
              <a:t> </a:t>
            </a:r>
            <a:r>
              <a:rPr lang="en-US" sz="2000" dirty="0" err="1"/>
              <a:t>que</a:t>
            </a:r>
            <a:r>
              <a:rPr lang="en-US" sz="2000" dirty="0"/>
              <a:t> </a:t>
            </a:r>
            <a:r>
              <a:rPr lang="en-US" sz="2000" dirty="0" err="1"/>
              <a:t>limita</a:t>
            </a:r>
            <a:r>
              <a:rPr lang="en-US" sz="2000" dirty="0"/>
              <a:t> a </a:t>
            </a:r>
            <a:r>
              <a:rPr lang="en-US" sz="2000" dirty="0" err="1"/>
              <a:t>prática</a:t>
            </a:r>
            <a:r>
              <a:rPr lang="en-US" sz="2000" dirty="0"/>
              <a:t> de </a:t>
            </a:r>
            <a:r>
              <a:rPr lang="en-US" sz="2000" dirty="0" err="1"/>
              <a:t>uma</a:t>
            </a:r>
            <a:r>
              <a:rPr lang="en-US" sz="2000" dirty="0"/>
              <a:t> </a:t>
            </a:r>
            <a:r>
              <a:rPr lang="en-US" sz="2000" dirty="0" err="1"/>
              <a:t>profissão</a:t>
            </a:r>
            <a:r>
              <a:rPr lang="en-US" sz="2000" dirty="0"/>
              <a:t> </a:t>
            </a:r>
            <a:r>
              <a:rPr lang="en-US" sz="2000" dirty="0" err="1" smtClean="0"/>
              <a:t>regulamentada</a:t>
            </a:r>
            <a:r>
              <a:rPr lang="en-US" sz="2000" dirty="0"/>
              <a:t>.</a:t>
            </a:r>
            <a:endParaRPr lang="en-US" sz="2000" dirty="0"/>
          </a:p>
          <a:p>
            <a:pPr algn="just">
              <a:lnSpc>
                <a:spcPct val="80000"/>
              </a:lnSpc>
            </a:pPr>
            <a:r>
              <a:rPr lang="en-US" dirty="0" err="1"/>
              <a:t>Certificado</a:t>
            </a:r>
            <a:r>
              <a:rPr lang="en-US" dirty="0"/>
              <a:t> é </a:t>
            </a:r>
          </a:p>
          <a:p>
            <a:pPr marL="947738" lvl="1" algn="just">
              <a:lnSpc>
                <a:spcPct val="80000"/>
              </a:lnSpc>
            </a:pPr>
            <a:r>
              <a:rPr lang="en-US" sz="2000" dirty="0"/>
              <a:t>um </a:t>
            </a:r>
            <a:r>
              <a:rPr lang="en-US" sz="2000" dirty="0" err="1"/>
              <a:t>documento</a:t>
            </a:r>
            <a:r>
              <a:rPr lang="en-US" sz="2000" dirty="0"/>
              <a:t> </a:t>
            </a:r>
            <a:r>
              <a:rPr lang="en-US" sz="2000" dirty="0" err="1"/>
              <a:t>que</a:t>
            </a:r>
            <a:r>
              <a:rPr lang="en-US" sz="2000" dirty="0"/>
              <a:t> </a:t>
            </a:r>
            <a:r>
              <a:rPr lang="en-US" sz="2000" dirty="0" err="1"/>
              <a:t>atesta</a:t>
            </a:r>
            <a:r>
              <a:rPr lang="en-US" sz="2000" dirty="0"/>
              <a:t> a </a:t>
            </a:r>
            <a:r>
              <a:rPr lang="en-US" sz="2000" dirty="0" err="1"/>
              <a:t>competência</a:t>
            </a:r>
            <a:r>
              <a:rPr lang="en-US" sz="2000" dirty="0"/>
              <a:t> de </a:t>
            </a:r>
            <a:r>
              <a:rPr lang="en-US" sz="2000" dirty="0" err="1"/>
              <a:t>uma</a:t>
            </a:r>
            <a:r>
              <a:rPr lang="en-US" sz="2000" dirty="0"/>
              <a:t> </a:t>
            </a:r>
            <a:r>
              <a:rPr lang="en-US" sz="2000" dirty="0" err="1"/>
              <a:t>pessoa</a:t>
            </a:r>
            <a:r>
              <a:rPr lang="en-US" sz="2000" dirty="0"/>
              <a:t> </a:t>
            </a:r>
            <a:r>
              <a:rPr lang="en-US" sz="2000" dirty="0" err="1"/>
              <a:t>praticante</a:t>
            </a:r>
            <a:r>
              <a:rPr lang="en-US" sz="2000" dirty="0"/>
              <a:t> </a:t>
            </a:r>
            <a:r>
              <a:rPr lang="en-US" sz="2000" dirty="0" err="1"/>
              <a:t>em</a:t>
            </a:r>
            <a:r>
              <a:rPr lang="en-US" sz="2000" dirty="0"/>
              <a:t> um </a:t>
            </a:r>
            <a:r>
              <a:rPr lang="en-US" sz="2000" dirty="0" err="1"/>
              <a:t>determinado</a:t>
            </a:r>
            <a:r>
              <a:rPr lang="en-US" sz="2000" dirty="0"/>
              <a:t> campo de </a:t>
            </a:r>
            <a:r>
              <a:rPr lang="en-US" sz="2000" dirty="0" err="1"/>
              <a:t>trabalho</a:t>
            </a:r>
            <a:r>
              <a:rPr lang="en-US" sz="2000" dirty="0"/>
              <a:t> </a:t>
            </a:r>
            <a:r>
              <a:rPr lang="en-US" sz="2000" dirty="0" err="1"/>
              <a:t>baseado</a:t>
            </a:r>
            <a:r>
              <a:rPr lang="en-US" sz="2000" dirty="0"/>
              <a:t> </a:t>
            </a:r>
            <a:r>
              <a:rPr lang="en-US" sz="2000" dirty="0" err="1"/>
              <a:t>na</a:t>
            </a:r>
            <a:r>
              <a:rPr lang="en-US" sz="2000" dirty="0"/>
              <a:t> </a:t>
            </a:r>
            <a:r>
              <a:rPr lang="en-US" sz="2000" dirty="0" err="1"/>
              <a:t>aprovação</a:t>
            </a:r>
            <a:r>
              <a:rPr lang="en-US" sz="2000" dirty="0"/>
              <a:t> de </a:t>
            </a:r>
            <a:r>
              <a:rPr lang="en-US" sz="2000" dirty="0" err="1"/>
              <a:t>avaliações</a:t>
            </a:r>
            <a:r>
              <a:rPr lang="en-US" sz="2000" dirty="0"/>
              <a:t>, </a:t>
            </a:r>
            <a:r>
              <a:rPr lang="en-US" sz="2000" dirty="0" err="1"/>
              <a:t>anos</a:t>
            </a:r>
            <a:r>
              <a:rPr lang="en-US" sz="2000" dirty="0"/>
              <a:t> de </a:t>
            </a:r>
            <a:r>
              <a:rPr lang="en-US" sz="2000" dirty="0" err="1"/>
              <a:t>experiência</a:t>
            </a:r>
            <a:r>
              <a:rPr lang="en-US" sz="2000" dirty="0"/>
              <a:t>, </a:t>
            </a:r>
            <a:r>
              <a:rPr lang="en-US" sz="2000" dirty="0" err="1"/>
              <a:t>ou</a:t>
            </a:r>
            <a:r>
              <a:rPr lang="en-US" sz="2000" dirty="0"/>
              <a:t> </a:t>
            </a:r>
            <a:r>
              <a:rPr lang="en-US" sz="2000" dirty="0" smtClean="0"/>
              <a:t>ambos.</a:t>
            </a:r>
            <a:endParaRPr lang="en-US" sz="2000" dirty="0"/>
          </a:p>
          <a:p>
            <a:pPr algn="just">
              <a:lnSpc>
                <a:spcPct val="80000"/>
              </a:lnSpc>
            </a:pPr>
            <a:r>
              <a:rPr lang="en-US" dirty="0"/>
              <a:t>Uma </a:t>
            </a:r>
            <a:r>
              <a:rPr lang="en-US" dirty="0" err="1"/>
              <a:t>licença</a:t>
            </a:r>
            <a:r>
              <a:rPr lang="en-US" dirty="0"/>
              <a:t> é </a:t>
            </a:r>
            <a:r>
              <a:rPr lang="en-US" dirty="0" err="1" smtClean="0"/>
              <a:t>requisito</a:t>
            </a:r>
            <a:r>
              <a:rPr lang="en-US" dirty="0" smtClean="0"/>
              <a:t> </a:t>
            </a:r>
            <a:r>
              <a:rPr lang="en-US" dirty="0" err="1"/>
              <a:t>para</a:t>
            </a:r>
            <a:r>
              <a:rPr lang="en-US" dirty="0"/>
              <a:t> a </a:t>
            </a:r>
            <a:r>
              <a:rPr lang="en-US" dirty="0" err="1"/>
              <a:t>prática</a:t>
            </a:r>
            <a:r>
              <a:rPr lang="en-US" dirty="0"/>
              <a:t> de </a:t>
            </a:r>
            <a:r>
              <a:rPr lang="en-US" dirty="0" err="1"/>
              <a:t>uma</a:t>
            </a:r>
            <a:r>
              <a:rPr lang="en-US" dirty="0"/>
              <a:t> </a:t>
            </a:r>
            <a:r>
              <a:rPr lang="en-US" dirty="0" err="1"/>
              <a:t>profissão</a:t>
            </a:r>
            <a:r>
              <a:rPr lang="en-US" dirty="0"/>
              <a:t>; um </a:t>
            </a:r>
            <a:r>
              <a:rPr lang="en-US" dirty="0" err="1"/>
              <a:t>certificado</a:t>
            </a:r>
            <a:r>
              <a:rPr lang="en-US" dirty="0"/>
              <a:t> é </a:t>
            </a:r>
            <a:r>
              <a:rPr lang="en-US" dirty="0" err="1"/>
              <a:t>voluntário</a:t>
            </a:r>
            <a:r>
              <a:rPr lang="en-US" dirty="0"/>
              <a:t> e </a:t>
            </a:r>
            <a:r>
              <a:rPr lang="en-US" dirty="0" err="1"/>
              <a:t>opcional</a:t>
            </a:r>
            <a:r>
              <a:rPr lang="en-US" dirty="0"/>
              <a:t>. </a:t>
            </a:r>
          </a:p>
        </p:txBody>
      </p:sp>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28259306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4"/>
          <p:cNvSpPr>
            <a:spLocks noGrp="1" noChangeArrowheads="1"/>
          </p:cNvSpPr>
          <p:nvPr>
            <p:ph type="title"/>
          </p:nvPr>
        </p:nvSpPr>
        <p:spPr>
          <a:xfrm>
            <a:off x="516835" y="1280180"/>
            <a:ext cx="8123581" cy="593655"/>
          </a:xfrm>
          <a:ln/>
        </p:spPr>
        <p:txBody>
          <a:bodyPr rIns="132080">
            <a:normAutofit fontScale="90000"/>
          </a:bodyPr>
          <a:lstStyle/>
          <a:p>
            <a:r>
              <a:rPr lang="en-US" dirty="0" err="1"/>
              <a:t>Licenciamento</a:t>
            </a:r>
            <a:r>
              <a:rPr lang="en-US" dirty="0"/>
              <a:t> e </a:t>
            </a:r>
            <a:r>
              <a:rPr lang="en-US" dirty="0" err="1"/>
              <a:t>regulamentação</a:t>
            </a:r>
            <a:endParaRPr lang="en-US" dirty="0"/>
          </a:p>
        </p:txBody>
      </p:sp>
      <p:sp>
        <p:nvSpPr>
          <p:cNvPr id="36869" name="Rectangle 5"/>
          <p:cNvSpPr>
            <a:spLocks noGrp="1" noChangeArrowheads="1"/>
          </p:cNvSpPr>
          <p:nvPr>
            <p:ph type="body" idx="1"/>
          </p:nvPr>
        </p:nvSpPr>
        <p:spPr>
          <a:xfrm>
            <a:off x="910971" y="2364167"/>
            <a:ext cx="7451151" cy="2539138"/>
          </a:xfrm>
          <a:ln/>
        </p:spPr>
        <p:txBody>
          <a:bodyPr rIns="132080"/>
          <a:lstStyle/>
          <a:p>
            <a:pPr algn="just"/>
            <a:r>
              <a:rPr lang="en-US" dirty="0" err="1"/>
              <a:t>Por</a:t>
            </a:r>
            <a:r>
              <a:rPr lang="en-US" dirty="0"/>
              <a:t> </a:t>
            </a:r>
            <a:r>
              <a:rPr lang="en-US" dirty="0" err="1"/>
              <a:t>que</a:t>
            </a:r>
            <a:r>
              <a:rPr lang="en-US" dirty="0"/>
              <a:t> </a:t>
            </a:r>
            <a:r>
              <a:rPr lang="en-US" dirty="0" err="1"/>
              <a:t>regulamentar</a:t>
            </a:r>
            <a:endParaRPr lang="en-US" dirty="0"/>
          </a:p>
          <a:p>
            <a:pPr marL="947738" lvl="1" algn="just"/>
            <a:r>
              <a:rPr lang="en-US" dirty="0" err="1"/>
              <a:t>Melhorar</a:t>
            </a:r>
            <a:r>
              <a:rPr lang="en-US" dirty="0"/>
              <a:t> a </a:t>
            </a:r>
            <a:r>
              <a:rPr lang="en-US" dirty="0" err="1"/>
              <a:t>qualidade</a:t>
            </a:r>
            <a:r>
              <a:rPr lang="en-US" dirty="0"/>
              <a:t> do software </a:t>
            </a:r>
            <a:r>
              <a:rPr lang="en-US" dirty="0" err="1"/>
              <a:t>através</a:t>
            </a:r>
            <a:r>
              <a:rPr lang="en-US" dirty="0"/>
              <a:t> da </a:t>
            </a:r>
            <a:r>
              <a:rPr lang="en-US" dirty="0" err="1"/>
              <a:t>maior</a:t>
            </a:r>
            <a:r>
              <a:rPr lang="en-US" dirty="0"/>
              <a:t> </a:t>
            </a:r>
            <a:r>
              <a:rPr lang="en-US" dirty="0" err="1"/>
              <a:t>competência</a:t>
            </a:r>
            <a:r>
              <a:rPr lang="en-US" dirty="0"/>
              <a:t> dos </a:t>
            </a:r>
            <a:r>
              <a:rPr lang="en-US" dirty="0" err="1"/>
              <a:t>desenvolvedores</a:t>
            </a:r>
            <a:endParaRPr lang="en-US" dirty="0"/>
          </a:p>
          <a:p>
            <a:pPr marL="947738" lvl="1" algn="just"/>
            <a:r>
              <a:rPr lang="en-US" dirty="0" err="1"/>
              <a:t>Manter</a:t>
            </a:r>
            <a:r>
              <a:rPr lang="en-US" dirty="0"/>
              <a:t> um </a:t>
            </a:r>
            <a:r>
              <a:rPr lang="en-US" dirty="0" err="1"/>
              <a:t>padrão</a:t>
            </a:r>
            <a:r>
              <a:rPr lang="en-US" dirty="0"/>
              <a:t> </a:t>
            </a:r>
            <a:r>
              <a:rPr lang="en-US" dirty="0" err="1"/>
              <a:t>educacional</a:t>
            </a:r>
            <a:r>
              <a:rPr lang="en-US" dirty="0"/>
              <a:t>/</a:t>
            </a:r>
            <a:r>
              <a:rPr lang="en-US" dirty="0" err="1"/>
              <a:t>profissional</a:t>
            </a:r>
            <a:endParaRPr lang="en-US" dirty="0"/>
          </a:p>
          <a:p>
            <a:pPr marL="947738" lvl="1" algn="just"/>
            <a:r>
              <a:rPr lang="en-US" dirty="0" err="1"/>
              <a:t>Prover</a:t>
            </a:r>
            <a:r>
              <a:rPr lang="en-US" dirty="0"/>
              <a:t> </a:t>
            </a:r>
            <a:r>
              <a:rPr lang="en-US" dirty="0" err="1"/>
              <a:t>garantias</a:t>
            </a:r>
            <a:r>
              <a:rPr lang="en-US" dirty="0"/>
              <a:t> </a:t>
            </a:r>
            <a:r>
              <a:rPr lang="en-US" dirty="0" err="1"/>
              <a:t>aos</a:t>
            </a:r>
            <a:r>
              <a:rPr lang="en-US" dirty="0"/>
              <a:t> </a:t>
            </a:r>
            <a:r>
              <a:rPr lang="en-US" dirty="0" err="1"/>
              <a:t>clientes</a:t>
            </a:r>
            <a:endParaRPr lang="en-US" dirty="0"/>
          </a:p>
        </p:txBody>
      </p:sp>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4430923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4"/>
          <p:cNvSpPr>
            <a:spLocks noGrp="1" noChangeArrowheads="1"/>
          </p:cNvSpPr>
          <p:nvPr>
            <p:ph type="title"/>
          </p:nvPr>
        </p:nvSpPr>
        <p:spPr>
          <a:xfrm>
            <a:off x="530087" y="1099930"/>
            <a:ext cx="7951303" cy="792438"/>
          </a:xfrm>
          <a:ln/>
        </p:spPr>
        <p:txBody>
          <a:bodyPr rIns="132080">
            <a:normAutofit fontScale="90000"/>
          </a:bodyPr>
          <a:lstStyle/>
          <a:p>
            <a:r>
              <a:rPr lang="en-US" dirty="0" err="1"/>
              <a:t>Licenciamento</a:t>
            </a:r>
            <a:r>
              <a:rPr lang="en-US" dirty="0"/>
              <a:t> e </a:t>
            </a:r>
            <a:r>
              <a:rPr lang="en-US" dirty="0" err="1"/>
              <a:t>regulamentação</a:t>
            </a:r>
            <a:endParaRPr lang="en-US" dirty="0"/>
          </a:p>
        </p:txBody>
      </p:sp>
      <p:sp>
        <p:nvSpPr>
          <p:cNvPr id="38917" name="Rectangle 5"/>
          <p:cNvSpPr>
            <a:spLocks noGrp="1" noChangeArrowheads="1"/>
          </p:cNvSpPr>
          <p:nvPr>
            <p:ph type="body" idx="1"/>
          </p:nvPr>
        </p:nvSpPr>
        <p:spPr>
          <a:xfrm>
            <a:off x="844710" y="2098365"/>
            <a:ext cx="7024742" cy="4115371"/>
          </a:xfrm>
          <a:ln/>
        </p:spPr>
        <p:txBody>
          <a:bodyPr rIns="132080"/>
          <a:lstStyle/>
          <a:p>
            <a:pPr algn="just">
              <a:lnSpc>
                <a:spcPct val="90000"/>
              </a:lnSpc>
            </a:pPr>
            <a:r>
              <a:rPr lang="en-US" dirty="0" err="1"/>
              <a:t>Por</a:t>
            </a:r>
            <a:r>
              <a:rPr lang="en-US" dirty="0"/>
              <a:t> </a:t>
            </a:r>
            <a:r>
              <a:rPr lang="en-US" dirty="0" err="1"/>
              <a:t>que</a:t>
            </a:r>
            <a:r>
              <a:rPr lang="en-US" dirty="0"/>
              <a:t> </a:t>
            </a:r>
            <a:r>
              <a:rPr lang="en-US" dirty="0" err="1"/>
              <a:t>não</a:t>
            </a:r>
            <a:r>
              <a:rPr lang="en-US" dirty="0"/>
              <a:t> </a:t>
            </a:r>
            <a:r>
              <a:rPr lang="en-US" dirty="0" err="1"/>
              <a:t>regulamentar</a:t>
            </a:r>
            <a:endParaRPr lang="en-US" dirty="0"/>
          </a:p>
          <a:p>
            <a:pPr marL="947738" lvl="1" algn="just">
              <a:lnSpc>
                <a:spcPct val="90000"/>
              </a:lnSpc>
            </a:pPr>
            <a:r>
              <a:rPr lang="en-US" dirty="0"/>
              <a:t>O software </a:t>
            </a:r>
            <a:r>
              <a:rPr lang="en-US" dirty="0" err="1"/>
              <a:t>deve</a:t>
            </a:r>
            <a:r>
              <a:rPr lang="en-US" dirty="0"/>
              <a:t> </a:t>
            </a:r>
            <a:r>
              <a:rPr lang="en-US" dirty="0" err="1"/>
              <a:t>ser</a:t>
            </a:r>
            <a:r>
              <a:rPr lang="en-US" dirty="0"/>
              <a:t> </a:t>
            </a:r>
            <a:r>
              <a:rPr lang="en-US" dirty="0" err="1"/>
              <a:t>desenvolvido</a:t>
            </a:r>
            <a:r>
              <a:rPr lang="en-US" dirty="0"/>
              <a:t> </a:t>
            </a:r>
            <a:r>
              <a:rPr lang="en-US" dirty="0" err="1"/>
              <a:t>por</a:t>
            </a:r>
            <a:r>
              <a:rPr lang="en-US" dirty="0"/>
              <a:t> </a:t>
            </a:r>
            <a:r>
              <a:rPr lang="en-US" dirty="0" err="1"/>
              <a:t>quem</a:t>
            </a:r>
            <a:r>
              <a:rPr lang="en-US" dirty="0"/>
              <a:t> </a:t>
            </a:r>
            <a:r>
              <a:rPr lang="en-US" dirty="0" err="1"/>
              <a:t>sabe</a:t>
            </a:r>
            <a:r>
              <a:rPr lang="en-US" dirty="0"/>
              <a:t> </a:t>
            </a:r>
            <a:r>
              <a:rPr lang="en-US" dirty="0" err="1"/>
              <a:t>fazê</a:t>
            </a:r>
            <a:r>
              <a:rPr lang="en-US" dirty="0"/>
              <a:t>-lo </a:t>
            </a:r>
            <a:r>
              <a:rPr lang="en-US" dirty="0" err="1"/>
              <a:t>melhor</a:t>
            </a:r>
            <a:r>
              <a:rPr lang="en-US" dirty="0"/>
              <a:t>, e </a:t>
            </a:r>
            <a:r>
              <a:rPr lang="en-US" dirty="0" err="1"/>
              <a:t>não</a:t>
            </a:r>
            <a:r>
              <a:rPr lang="en-US" dirty="0"/>
              <a:t> </a:t>
            </a:r>
            <a:r>
              <a:rPr lang="en-US" dirty="0" err="1"/>
              <a:t>há</a:t>
            </a:r>
            <a:r>
              <a:rPr lang="en-US" dirty="0"/>
              <a:t> </a:t>
            </a:r>
            <a:r>
              <a:rPr lang="en-US" dirty="0" err="1"/>
              <a:t>evidência</a:t>
            </a:r>
            <a:r>
              <a:rPr lang="en-US" dirty="0"/>
              <a:t> de </a:t>
            </a:r>
            <a:r>
              <a:rPr lang="en-US" dirty="0" err="1"/>
              <a:t>quem</a:t>
            </a:r>
            <a:r>
              <a:rPr lang="en-US" dirty="0"/>
              <a:t> </a:t>
            </a:r>
            <a:r>
              <a:rPr lang="en-US" dirty="0" err="1"/>
              <a:t>são</a:t>
            </a:r>
            <a:r>
              <a:rPr lang="en-US" dirty="0"/>
              <a:t> </a:t>
            </a:r>
            <a:r>
              <a:rPr lang="en-US" dirty="0" err="1"/>
              <a:t>melhores</a:t>
            </a:r>
            <a:r>
              <a:rPr lang="en-US" dirty="0"/>
              <a:t> </a:t>
            </a:r>
            <a:r>
              <a:rPr lang="en-US" dirty="0" err="1"/>
              <a:t>profissionais</a:t>
            </a:r>
            <a:r>
              <a:rPr lang="en-US" dirty="0"/>
              <a:t>.</a:t>
            </a:r>
          </a:p>
          <a:p>
            <a:pPr marL="947738" lvl="1" algn="just">
              <a:lnSpc>
                <a:spcPct val="90000"/>
              </a:lnSpc>
            </a:pPr>
            <a:r>
              <a:rPr lang="en-US" dirty="0"/>
              <a:t>A </a:t>
            </a:r>
            <a:r>
              <a:rPr lang="en-US" dirty="0" err="1"/>
              <a:t>regulamentação</a:t>
            </a:r>
            <a:r>
              <a:rPr lang="en-US" dirty="0"/>
              <a:t> </a:t>
            </a:r>
            <a:r>
              <a:rPr lang="en-US" dirty="0" err="1"/>
              <a:t>não</a:t>
            </a:r>
            <a:r>
              <a:rPr lang="en-US" dirty="0"/>
              <a:t> </a:t>
            </a:r>
            <a:r>
              <a:rPr lang="en-US" dirty="0" err="1"/>
              <a:t>aumentará</a:t>
            </a:r>
            <a:r>
              <a:rPr lang="en-US" dirty="0"/>
              <a:t> a </a:t>
            </a:r>
            <a:r>
              <a:rPr lang="en-US" dirty="0" err="1"/>
              <a:t>qualidade</a:t>
            </a:r>
            <a:r>
              <a:rPr lang="en-US" dirty="0"/>
              <a:t> e </a:t>
            </a:r>
            <a:r>
              <a:rPr lang="en-US" dirty="0" err="1"/>
              <a:t>proverá</a:t>
            </a:r>
            <a:r>
              <a:rPr lang="en-US" dirty="0"/>
              <a:t> </a:t>
            </a:r>
            <a:r>
              <a:rPr lang="en-US" dirty="0" err="1"/>
              <a:t>falsas</a:t>
            </a:r>
            <a:r>
              <a:rPr lang="en-US" dirty="0"/>
              <a:t> </a:t>
            </a:r>
            <a:r>
              <a:rPr lang="en-US" dirty="0" err="1"/>
              <a:t>garantias</a:t>
            </a:r>
            <a:r>
              <a:rPr lang="en-US" dirty="0"/>
              <a:t> </a:t>
            </a:r>
            <a:r>
              <a:rPr lang="en-US" dirty="0" err="1"/>
              <a:t>aos</a:t>
            </a:r>
            <a:r>
              <a:rPr lang="en-US" dirty="0"/>
              <a:t> </a:t>
            </a:r>
            <a:r>
              <a:rPr lang="en-US" dirty="0" err="1"/>
              <a:t>clientes</a:t>
            </a:r>
            <a:r>
              <a:rPr lang="en-US" dirty="0"/>
              <a:t>.</a:t>
            </a:r>
          </a:p>
          <a:p>
            <a:pPr marL="947738" lvl="1" algn="just">
              <a:lnSpc>
                <a:spcPct val="90000"/>
              </a:lnSpc>
            </a:pPr>
            <a:r>
              <a:rPr lang="en-US" dirty="0" err="1"/>
              <a:t>Não</a:t>
            </a:r>
            <a:r>
              <a:rPr lang="en-US" dirty="0"/>
              <a:t> </a:t>
            </a:r>
            <a:r>
              <a:rPr lang="en-US" dirty="0" err="1"/>
              <a:t>há</a:t>
            </a:r>
            <a:r>
              <a:rPr lang="en-US" dirty="0"/>
              <a:t> </a:t>
            </a:r>
            <a:r>
              <a:rPr lang="en-US" dirty="0" err="1"/>
              <a:t>corpo</a:t>
            </a:r>
            <a:r>
              <a:rPr lang="en-US" dirty="0"/>
              <a:t> de </a:t>
            </a:r>
            <a:r>
              <a:rPr lang="en-US" dirty="0" err="1"/>
              <a:t>conhecimento</a:t>
            </a:r>
            <a:r>
              <a:rPr lang="en-US" dirty="0"/>
              <a:t> </a:t>
            </a:r>
            <a:r>
              <a:rPr lang="en-US" dirty="0" err="1"/>
              <a:t>aceito</a:t>
            </a:r>
            <a:r>
              <a:rPr lang="en-US" dirty="0"/>
              <a:t> </a:t>
            </a:r>
            <a:r>
              <a:rPr lang="en-US" dirty="0" err="1"/>
              <a:t>pela</a:t>
            </a:r>
            <a:r>
              <a:rPr lang="en-US" dirty="0"/>
              <a:t> </a:t>
            </a:r>
            <a:r>
              <a:rPr lang="en-US" dirty="0" err="1"/>
              <a:t>comunidade</a:t>
            </a:r>
            <a:r>
              <a:rPr lang="en-US" dirty="0"/>
              <a:t>, </a:t>
            </a:r>
            <a:r>
              <a:rPr lang="en-US" dirty="0" err="1"/>
              <a:t>nem</a:t>
            </a:r>
            <a:r>
              <a:rPr lang="en-US" dirty="0"/>
              <a:t> </a:t>
            </a:r>
            <a:r>
              <a:rPr lang="en-US" dirty="0" err="1"/>
              <a:t>código</a:t>
            </a:r>
            <a:r>
              <a:rPr lang="en-US" dirty="0"/>
              <a:t> de </a:t>
            </a:r>
            <a:r>
              <a:rPr lang="en-US" dirty="0" err="1"/>
              <a:t>ética</a:t>
            </a:r>
            <a:r>
              <a:rPr lang="en-US" dirty="0"/>
              <a:t>.</a:t>
            </a:r>
          </a:p>
          <a:p>
            <a:pPr marL="947738" lvl="1" algn="just">
              <a:lnSpc>
                <a:spcPct val="90000"/>
              </a:lnSpc>
            </a:pPr>
            <a:r>
              <a:rPr lang="en-US" dirty="0"/>
              <a:t>É </a:t>
            </a:r>
            <a:r>
              <a:rPr lang="en-US" dirty="0" err="1"/>
              <a:t>melhor</a:t>
            </a:r>
            <a:r>
              <a:rPr lang="en-US" dirty="0"/>
              <a:t> </a:t>
            </a:r>
            <a:r>
              <a:rPr lang="en-US" dirty="0" err="1"/>
              <a:t>certificar</a:t>
            </a:r>
            <a:r>
              <a:rPr lang="en-US" dirty="0"/>
              <a:t> </a:t>
            </a:r>
            <a:r>
              <a:rPr lang="en-US" dirty="0" err="1"/>
              <a:t>os</a:t>
            </a:r>
            <a:r>
              <a:rPr lang="en-US" dirty="0"/>
              <a:t> </a:t>
            </a:r>
            <a:r>
              <a:rPr lang="en-US" dirty="0" err="1"/>
              <a:t>produtos</a:t>
            </a:r>
            <a:r>
              <a:rPr lang="en-US" dirty="0"/>
              <a:t>, e </a:t>
            </a:r>
            <a:r>
              <a:rPr lang="en-US" dirty="0" err="1"/>
              <a:t>não</a:t>
            </a:r>
            <a:r>
              <a:rPr lang="en-US" dirty="0"/>
              <a:t> </a:t>
            </a:r>
            <a:r>
              <a:rPr lang="en-US" dirty="0" err="1"/>
              <a:t>os</a:t>
            </a:r>
            <a:r>
              <a:rPr lang="en-US" dirty="0"/>
              <a:t> </a:t>
            </a:r>
            <a:r>
              <a:rPr lang="en-US" dirty="0" err="1"/>
              <a:t>profissionais</a:t>
            </a:r>
            <a:r>
              <a:rPr lang="en-US" dirty="0"/>
              <a:t>.</a:t>
            </a:r>
          </a:p>
        </p:txBody>
      </p:sp>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6585264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4"/>
          <p:cNvSpPr>
            <a:spLocks noGrp="1" noChangeArrowheads="1"/>
          </p:cNvSpPr>
          <p:nvPr>
            <p:ph type="title"/>
          </p:nvPr>
        </p:nvSpPr>
        <p:spPr>
          <a:xfrm>
            <a:off x="569844" y="1232451"/>
            <a:ext cx="8256103" cy="712925"/>
          </a:xfrm>
          <a:ln/>
        </p:spPr>
        <p:txBody>
          <a:bodyPr rIns="132080">
            <a:normAutofit fontScale="90000"/>
          </a:bodyPr>
          <a:lstStyle/>
          <a:p>
            <a:r>
              <a:rPr lang="en-US" dirty="0" err="1"/>
              <a:t>Licenciamento</a:t>
            </a:r>
            <a:r>
              <a:rPr lang="en-US" dirty="0"/>
              <a:t> e </a:t>
            </a:r>
            <a:r>
              <a:rPr lang="en-US" dirty="0" err="1"/>
              <a:t>regulamentação</a:t>
            </a:r>
            <a:endParaRPr lang="en-US" dirty="0"/>
          </a:p>
        </p:txBody>
      </p:sp>
      <p:sp>
        <p:nvSpPr>
          <p:cNvPr id="40965" name="Rectangle 5"/>
          <p:cNvSpPr>
            <a:spLocks noGrp="1" noChangeArrowheads="1"/>
          </p:cNvSpPr>
          <p:nvPr>
            <p:ph type="body" idx="1"/>
          </p:nvPr>
        </p:nvSpPr>
        <p:spPr>
          <a:xfrm>
            <a:off x="751944" y="2191130"/>
            <a:ext cx="7782456" cy="3508977"/>
          </a:xfrm>
          <a:ln/>
        </p:spPr>
        <p:txBody>
          <a:bodyPr rIns="132080">
            <a:normAutofit/>
          </a:bodyPr>
          <a:lstStyle/>
          <a:p>
            <a:r>
              <a:rPr lang="en-US" dirty="0" err="1"/>
              <a:t>Obstáculos</a:t>
            </a:r>
            <a:r>
              <a:rPr lang="en-US" dirty="0"/>
              <a:t> </a:t>
            </a:r>
            <a:r>
              <a:rPr lang="en-US" dirty="0" err="1"/>
              <a:t>ao</a:t>
            </a:r>
            <a:r>
              <a:rPr lang="en-US" dirty="0"/>
              <a:t> </a:t>
            </a:r>
            <a:r>
              <a:rPr lang="en-US" dirty="0" err="1"/>
              <a:t>licenciamento</a:t>
            </a:r>
            <a:endParaRPr lang="en-US" dirty="0"/>
          </a:p>
          <a:p>
            <a:pPr marL="947738" lvl="1"/>
            <a:r>
              <a:rPr lang="en-US" dirty="0"/>
              <a:t>Se a </a:t>
            </a:r>
            <a:r>
              <a:rPr lang="en-US" dirty="0" err="1"/>
              <a:t>engenharia</a:t>
            </a:r>
            <a:r>
              <a:rPr lang="en-US" dirty="0"/>
              <a:t> de software for </a:t>
            </a:r>
            <a:r>
              <a:rPr lang="en-US" dirty="0" err="1"/>
              <a:t>licenciada</a:t>
            </a:r>
            <a:r>
              <a:rPr lang="en-US" dirty="0"/>
              <a:t> </a:t>
            </a:r>
            <a:r>
              <a:rPr lang="en-US" dirty="0" err="1"/>
              <a:t>como</a:t>
            </a:r>
            <a:r>
              <a:rPr lang="en-US" dirty="0"/>
              <a:t> </a:t>
            </a:r>
            <a:r>
              <a:rPr lang="en-US" dirty="0" err="1"/>
              <a:t>uma</a:t>
            </a:r>
            <a:r>
              <a:rPr lang="en-US" dirty="0"/>
              <a:t> </a:t>
            </a:r>
            <a:r>
              <a:rPr lang="en-US" dirty="0" err="1"/>
              <a:t>engenharia</a:t>
            </a:r>
            <a:r>
              <a:rPr lang="en-US" dirty="0"/>
              <a:t> </a:t>
            </a:r>
            <a:r>
              <a:rPr lang="en-US" dirty="0" err="1"/>
              <a:t>teremos</a:t>
            </a:r>
            <a:r>
              <a:rPr lang="en-US" dirty="0"/>
              <a:t> de </a:t>
            </a:r>
            <a:r>
              <a:rPr lang="en-US" dirty="0" err="1"/>
              <a:t>nos</a:t>
            </a:r>
            <a:r>
              <a:rPr lang="en-US" dirty="0"/>
              <a:t> </a:t>
            </a:r>
            <a:r>
              <a:rPr lang="en-US" dirty="0" err="1"/>
              <a:t>submeter</a:t>
            </a:r>
            <a:r>
              <a:rPr lang="en-US" dirty="0"/>
              <a:t> </a:t>
            </a:r>
            <a:r>
              <a:rPr lang="en-US" dirty="0" err="1"/>
              <a:t>ao</a:t>
            </a:r>
            <a:r>
              <a:rPr lang="en-US" dirty="0"/>
              <a:t> </a:t>
            </a:r>
            <a:r>
              <a:rPr lang="en-US" dirty="0" err="1"/>
              <a:t>currículo</a:t>
            </a:r>
            <a:r>
              <a:rPr lang="en-US" dirty="0"/>
              <a:t> </a:t>
            </a:r>
            <a:r>
              <a:rPr lang="en-US" dirty="0" err="1"/>
              <a:t>básico</a:t>
            </a:r>
            <a:r>
              <a:rPr lang="en-US" dirty="0"/>
              <a:t> de </a:t>
            </a:r>
            <a:r>
              <a:rPr lang="en-US" dirty="0" err="1"/>
              <a:t>engenharia</a:t>
            </a:r>
            <a:endParaRPr lang="en-US" dirty="0"/>
          </a:p>
          <a:p>
            <a:pPr marL="1344613" lvl="2"/>
            <a:r>
              <a:rPr lang="en-US" dirty="0" err="1"/>
              <a:t>física</a:t>
            </a:r>
            <a:r>
              <a:rPr lang="en-US" dirty="0"/>
              <a:t>, </a:t>
            </a:r>
            <a:r>
              <a:rPr lang="en-US" dirty="0" err="1"/>
              <a:t>química</a:t>
            </a:r>
            <a:r>
              <a:rPr lang="en-US" dirty="0"/>
              <a:t>, </a:t>
            </a:r>
            <a:r>
              <a:rPr lang="en-US" dirty="0" err="1"/>
              <a:t>propriedades</a:t>
            </a:r>
            <a:r>
              <a:rPr lang="en-US" dirty="0"/>
              <a:t> de </a:t>
            </a:r>
            <a:r>
              <a:rPr lang="en-US" dirty="0" err="1"/>
              <a:t>materiais</a:t>
            </a:r>
            <a:r>
              <a:rPr lang="en-US" dirty="0"/>
              <a:t>, etc.</a:t>
            </a:r>
          </a:p>
          <a:p>
            <a:pPr marL="1344613" lvl="2"/>
            <a:r>
              <a:rPr lang="en-US" dirty="0"/>
              <a:t>a </a:t>
            </a:r>
            <a:r>
              <a:rPr lang="en-US" dirty="0" err="1"/>
              <a:t>utilidade</a:t>
            </a:r>
            <a:r>
              <a:rPr lang="en-US" dirty="0"/>
              <a:t> </a:t>
            </a:r>
            <a:r>
              <a:rPr lang="en-US" dirty="0" err="1"/>
              <a:t>dessas</a:t>
            </a:r>
            <a:r>
              <a:rPr lang="en-US" dirty="0"/>
              <a:t> </a:t>
            </a:r>
            <a:r>
              <a:rPr lang="en-US" dirty="0" err="1"/>
              <a:t>disciplinas</a:t>
            </a:r>
            <a:r>
              <a:rPr lang="en-US" dirty="0"/>
              <a:t> no </a:t>
            </a:r>
            <a:r>
              <a:rPr lang="en-US" dirty="0" err="1"/>
              <a:t>desenvolvimento</a:t>
            </a:r>
            <a:r>
              <a:rPr lang="en-US" dirty="0"/>
              <a:t> de software é </a:t>
            </a:r>
            <a:r>
              <a:rPr lang="en-US" dirty="0" err="1"/>
              <a:t>bem</a:t>
            </a:r>
            <a:r>
              <a:rPr lang="en-US" dirty="0"/>
              <a:t> </a:t>
            </a:r>
            <a:r>
              <a:rPr lang="en-US" dirty="0" err="1"/>
              <a:t>questionável</a:t>
            </a:r>
            <a:endParaRPr lang="en-US" dirty="0"/>
          </a:p>
        </p:txBody>
      </p:sp>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8165607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4"/>
          <p:cNvSpPr>
            <a:spLocks noGrp="1" noChangeArrowheads="1"/>
          </p:cNvSpPr>
          <p:nvPr>
            <p:ph type="title"/>
          </p:nvPr>
        </p:nvSpPr>
        <p:spPr>
          <a:xfrm>
            <a:off x="1043490" y="410229"/>
            <a:ext cx="7024744" cy="1143000"/>
          </a:xfrm>
          <a:ln/>
        </p:spPr>
        <p:txBody>
          <a:bodyPr rIns="132080"/>
          <a:lstStyle/>
          <a:p>
            <a:r>
              <a:rPr lang="en-US"/>
              <a:t>Corpo de conhecimento</a:t>
            </a:r>
          </a:p>
        </p:txBody>
      </p:sp>
      <p:sp>
        <p:nvSpPr>
          <p:cNvPr id="41989" name="Rectangle 5"/>
          <p:cNvSpPr>
            <a:spLocks noGrp="1" noChangeArrowheads="1"/>
          </p:cNvSpPr>
          <p:nvPr>
            <p:ph type="body" idx="1"/>
          </p:nvPr>
        </p:nvSpPr>
        <p:spPr>
          <a:xfrm>
            <a:off x="1043492" y="1900268"/>
            <a:ext cx="7494142" cy="3508977"/>
          </a:xfrm>
          <a:ln/>
        </p:spPr>
        <p:txBody>
          <a:bodyPr rIns="132080">
            <a:normAutofit fontScale="92500" lnSpcReduction="10000"/>
          </a:bodyPr>
          <a:lstStyle/>
          <a:p>
            <a:pPr algn="just">
              <a:lnSpc>
                <a:spcPct val="90000"/>
              </a:lnSpc>
            </a:pPr>
            <a:r>
              <a:rPr lang="en-US" dirty="0" err="1"/>
              <a:t>Apanhado</a:t>
            </a:r>
            <a:r>
              <a:rPr lang="en-US" dirty="0"/>
              <a:t> dos </a:t>
            </a:r>
            <a:r>
              <a:rPr lang="en-US" dirty="0" err="1"/>
              <a:t>princípios</a:t>
            </a:r>
            <a:r>
              <a:rPr lang="en-US" dirty="0"/>
              <a:t> e </a:t>
            </a:r>
            <a:r>
              <a:rPr lang="en-US" dirty="0" err="1"/>
              <a:t>práticas</a:t>
            </a:r>
            <a:r>
              <a:rPr lang="en-US" dirty="0"/>
              <a:t> da </a:t>
            </a:r>
            <a:r>
              <a:rPr lang="en-US" dirty="0" err="1"/>
              <a:t>profissão</a:t>
            </a:r>
            <a:r>
              <a:rPr lang="en-US" dirty="0"/>
              <a:t>.</a:t>
            </a:r>
          </a:p>
          <a:p>
            <a:pPr marL="947738" lvl="1" algn="just">
              <a:lnSpc>
                <a:spcPct val="90000"/>
              </a:lnSpc>
            </a:pPr>
            <a:r>
              <a:rPr lang="en-US" sz="2000" dirty="0"/>
              <a:t>O </a:t>
            </a:r>
            <a:r>
              <a:rPr lang="en-US" sz="2000" dirty="0" err="1"/>
              <a:t>corpo</a:t>
            </a:r>
            <a:r>
              <a:rPr lang="en-US" sz="2000" dirty="0"/>
              <a:t> de </a:t>
            </a:r>
            <a:r>
              <a:rPr lang="en-US" sz="2000" dirty="0" err="1"/>
              <a:t>conhecimento</a:t>
            </a:r>
            <a:r>
              <a:rPr lang="en-US" sz="2000" dirty="0"/>
              <a:t> </a:t>
            </a:r>
            <a:r>
              <a:rPr lang="en-US" sz="2000" dirty="0" err="1"/>
              <a:t>deve</a:t>
            </a:r>
            <a:r>
              <a:rPr lang="en-US" sz="2000" dirty="0"/>
              <a:t> </a:t>
            </a:r>
            <a:r>
              <a:rPr lang="en-US" sz="2000" dirty="0" err="1"/>
              <a:t>refletir</a:t>
            </a:r>
            <a:r>
              <a:rPr lang="en-US" sz="2000" dirty="0"/>
              <a:t> as boas </a:t>
            </a:r>
            <a:r>
              <a:rPr lang="en-US" sz="2000" dirty="0" err="1"/>
              <a:t>práticas</a:t>
            </a:r>
            <a:r>
              <a:rPr lang="en-US" sz="2000" dirty="0"/>
              <a:t> </a:t>
            </a:r>
            <a:r>
              <a:rPr lang="en-US" sz="2000" dirty="0" err="1"/>
              <a:t>que</a:t>
            </a:r>
            <a:r>
              <a:rPr lang="en-US" sz="2000" dirty="0"/>
              <a:t> </a:t>
            </a:r>
            <a:r>
              <a:rPr lang="en-US" sz="2000" dirty="0" err="1"/>
              <a:t>levem</a:t>
            </a:r>
            <a:r>
              <a:rPr lang="en-US" sz="2000" dirty="0"/>
              <a:t> a </a:t>
            </a:r>
            <a:r>
              <a:rPr lang="en-US" sz="2000" dirty="0" err="1"/>
              <a:t>alguma</a:t>
            </a:r>
            <a:r>
              <a:rPr lang="en-US" sz="2000" dirty="0"/>
              <a:t> </a:t>
            </a:r>
            <a:r>
              <a:rPr lang="en-US" sz="2000" dirty="0" err="1"/>
              <a:t>garantia</a:t>
            </a:r>
            <a:r>
              <a:rPr lang="en-US" sz="2000" dirty="0"/>
              <a:t> de </a:t>
            </a:r>
            <a:r>
              <a:rPr lang="en-US" sz="2000" dirty="0" err="1"/>
              <a:t>qualidade</a:t>
            </a:r>
            <a:r>
              <a:rPr lang="en-US" sz="2000" dirty="0"/>
              <a:t> </a:t>
            </a:r>
            <a:r>
              <a:rPr lang="en-US" sz="2000" dirty="0" err="1"/>
              <a:t>em</a:t>
            </a:r>
            <a:r>
              <a:rPr lang="en-US" sz="2000" dirty="0"/>
              <a:t> </a:t>
            </a:r>
            <a:r>
              <a:rPr lang="en-US" sz="2000" dirty="0" err="1"/>
              <a:t>produtos</a:t>
            </a:r>
            <a:r>
              <a:rPr lang="en-US" sz="2000" dirty="0"/>
              <a:t> de ES</a:t>
            </a:r>
          </a:p>
          <a:p>
            <a:pPr marL="947738" lvl="1" algn="just">
              <a:lnSpc>
                <a:spcPct val="90000"/>
              </a:lnSpc>
            </a:pPr>
            <a:r>
              <a:rPr lang="en-US" sz="2000" dirty="0" err="1"/>
              <a:t>Não</a:t>
            </a:r>
            <a:r>
              <a:rPr lang="en-US" sz="2000" dirty="0"/>
              <a:t> é </a:t>
            </a:r>
            <a:r>
              <a:rPr lang="en-US" sz="2000" dirty="0" err="1"/>
              <a:t>necessário</a:t>
            </a:r>
            <a:r>
              <a:rPr lang="en-US" sz="2000" dirty="0"/>
              <a:t> </a:t>
            </a:r>
            <a:r>
              <a:rPr lang="en-US" sz="2000" dirty="0" err="1"/>
              <a:t>que</a:t>
            </a:r>
            <a:r>
              <a:rPr lang="en-US" sz="2000" dirty="0"/>
              <a:t> as </a:t>
            </a:r>
            <a:r>
              <a:rPr lang="en-US" sz="2000" dirty="0" err="1"/>
              <a:t>práticas</a:t>
            </a:r>
            <a:r>
              <a:rPr lang="en-US" sz="2000" dirty="0"/>
              <a:t> </a:t>
            </a:r>
            <a:r>
              <a:rPr lang="en-US" sz="2000" dirty="0" err="1"/>
              <a:t>garantam</a:t>
            </a:r>
            <a:r>
              <a:rPr lang="en-US" sz="2000" dirty="0"/>
              <a:t> a </a:t>
            </a:r>
            <a:r>
              <a:rPr lang="en-US" sz="2000" dirty="0" err="1"/>
              <a:t>produção</a:t>
            </a:r>
            <a:r>
              <a:rPr lang="en-US" sz="2000" dirty="0"/>
              <a:t> de software </a:t>
            </a:r>
            <a:r>
              <a:rPr lang="en-US" sz="2000" dirty="0" err="1"/>
              <a:t>perfeito</a:t>
            </a:r>
            <a:r>
              <a:rPr lang="en-US" sz="2000" dirty="0"/>
              <a:t>.</a:t>
            </a:r>
          </a:p>
          <a:p>
            <a:pPr algn="just">
              <a:lnSpc>
                <a:spcPct val="90000"/>
              </a:lnSpc>
            </a:pPr>
            <a:r>
              <a:rPr lang="en-US" dirty="0"/>
              <a:t>IEEE</a:t>
            </a:r>
          </a:p>
          <a:p>
            <a:pPr marL="947738" lvl="1" algn="just">
              <a:lnSpc>
                <a:spcPct val="90000"/>
              </a:lnSpc>
            </a:pPr>
            <a:r>
              <a:rPr lang="en-US" sz="2000" dirty="0"/>
              <a:t>Software Engineering Body of Knowledge (SWEBOK)</a:t>
            </a:r>
          </a:p>
          <a:p>
            <a:pPr algn="just">
              <a:lnSpc>
                <a:spcPct val="90000"/>
              </a:lnSpc>
            </a:pPr>
            <a:r>
              <a:rPr lang="en-US" dirty="0"/>
              <a:t>IEEE-CS e ACM </a:t>
            </a:r>
          </a:p>
          <a:p>
            <a:pPr marL="947738" lvl="1" algn="just">
              <a:lnSpc>
                <a:spcPct val="90000"/>
              </a:lnSpc>
            </a:pPr>
            <a:r>
              <a:rPr lang="en-US" sz="2000" dirty="0"/>
              <a:t>Software Engineering Education Knowledge (SEEK)</a:t>
            </a:r>
          </a:p>
          <a:p>
            <a:pPr algn="just">
              <a:lnSpc>
                <a:spcPct val="90000"/>
              </a:lnSpc>
            </a:pPr>
            <a:r>
              <a:rPr lang="en-US" dirty="0"/>
              <a:t>Canadian Engineering Qualifications Board</a:t>
            </a:r>
          </a:p>
        </p:txBody>
      </p:sp>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005438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4"/>
          <p:cNvSpPr>
            <a:spLocks noGrp="1" noChangeArrowheads="1"/>
          </p:cNvSpPr>
          <p:nvPr>
            <p:ph type="title"/>
          </p:nvPr>
        </p:nvSpPr>
        <p:spPr>
          <a:xfrm>
            <a:off x="1043490" y="480793"/>
            <a:ext cx="7024744" cy="1143000"/>
          </a:xfrm>
          <a:ln/>
        </p:spPr>
        <p:txBody>
          <a:bodyPr rIns="132080"/>
          <a:lstStyle/>
          <a:p>
            <a:r>
              <a:rPr lang="en-US"/>
              <a:t>Código de ética</a:t>
            </a:r>
          </a:p>
        </p:txBody>
      </p:sp>
      <p:sp>
        <p:nvSpPr>
          <p:cNvPr id="43013" name="Rectangle 5"/>
          <p:cNvSpPr>
            <a:spLocks noGrp="1" noChangeArrowheads="1"/>
          </p:cNvSpPr>
          <p:nvPr>
            <p:ph type="body" idx="1"/>
          </p:nvPr>
        </p:nvSpPr>
        <p:spPr>
          <a:xfrm>
            <a:off x="611188" y="2056367"/>
            <a:ext cx="8316912" cy="3748085"/>
          </a:xfrm>
          <a:ln/>
        </p:spPr>
        <p:txBody>
          <a:bodyPr rIns="132080"/>
          <a:lstStyle/>
          <a:p>
            <a:r>
              <a:rPr lang="en-US" dirty="0"/>
              <a:t>ACM/IEEE Software Engineering Code of Ethics</a:t>
            </a:r>
          </a:p>
          <a:p>
            <a:pPr marL="869950" lvl="1" indent="-285750"/>
            <a:r>
              <a:rPr lang="en-US" i="1" dirty="0"/>
              <a:t>Leia!</a:t>
            </a:r>
          </a:p>
          <a:p>
            <a:endParaRPr lang="en-US" i="1" dirty="0"/>
          </a:p>
          <a:p>
            <a:r>
              <a:rPr lang="ja-JP" altLang="en-US" sz="2000" dirty="0">
                <a:latin typeface="Arial"/>
              </a:rPr>
              <a:t>“</a:t>
            </a:r>
            <a:r>
              <a:rPr lang="en-US" sz="2000" dirty="0"/>
              <a:t>the technical way in which you currently look at programming is almost as if you were willing to be </a:t>
            </a:r>
            <a:r>
              <a:rPr lang="ja-JP" altLang="en-US" sz="2000" dirty="0">
                <a:latin typeface="Arial"/>
              </a:rPr>
              <a:t>‘</a:t>
            </a:r>
            <a:r>
              <a:rPr lang="en-US" sz="2000" dirty="0"/>
              <a:t>guns for hire.</a:t>
            </a:r>
            <a:r>
              <a:rPr lang="ja-JP" altLang="en-US" sz="2000" dirty="0">
                <a:latin typeface="Arial"/>
              </a:rPr>
              <a:t>’</a:t>
            </a:r>
            <a:r>
              <a:rPr lang="en-US" sz="2000" dirty="0"/>
              <a:t> …. Tell us what to do, daddy, and we'll do it.</a:t>
            </a:r>
            <a:r>
              <a:rPr lang="ja-JP" altLang="en-US" sz="2000" dirty="0">
                <a:latin typeface="Arial"/>
              </a:rPr>
              <a:t>”</a:t>
            </a:r>
            <a:endParaRPr lang="en-US" sz="2000" dirty="0"/>
          </a:p>
          <a:p>
            <a:pPr marL="1277938" lvl="2" indent="-228600"/>
            <a:r>
              <a:rPr lang="en-US" sz="1800" dirty="0"/>
              <a:t>Christopher Alexander, OOPSLA 1996 keynote speech</a:t>
            </a:r>
            <a:r>
              <a:rPr lang="en-US" i="1" dirty="0"/>
              <a:t> </a:t>
            </a:r>
          </a:p>
        </p:txBody>
      </p:sp>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8179050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33669"/>
            <a:ext cx="7024744" cy="731251"/>
          </a:xfrm>
        </p:spPr>
        <p:txBody>
          <a:bodyPr/>
          <a:lstStyle/>
          <a:p>
            <a:r>
              <a:rPr lang="en-US" dirty="0"/>
              <a:t>Leis da </a:t>
            </a:r>
            <a:r>
              <a:rPr lang="en-US" dirty="0" err="1"/>
              <a:t>Robótica</a:t>
            </a:r>
            <a:endParaRPr lang="en-US" dirty="0"/>
          </a:p>
        </p:txBody>
      </p:sp>
      <p:sp>
        <p:nvSpPr>
          <p:cNvPr id="3" name="Content Placeholder 2"/>
          <p:cNvSpPr>
            <a:spLocks noGrp="1"/>
          </p:cNvSpPr>
          <p:nvPr>
            <p:ph idx="1"/>
          </p:nvPr>
        </p:nvSpPr>
        <p:spPr>
          <a:xfrm>
            <a:off x="813243" y="2014634"/>
            <a:ext cx="7535627" cy="3723557"/>
          </a:xfrm>
        </p:spPr>
        <p:txBody>
          <a:bodyPr>
            <a:noAutofit/>
          </a:bodyPr>
          <a:lstStyle/>
          <a:p>
            <a:pPr algn="just"/>
            <a:r>
              <a:rPr lang="en-US" sz="2000" dirty="0"/>
              <a:t>1ª Lei: Um </a:t>
            </a:r>
            <a:r>
              <a:rPr lang="en-US" sz="2000" dirty="0" err="1"/>
              <a:t>robô</a:t>
            </a:r>
            <a:r>
              <a:rPr lang="en-US" sz="2000" dirty="0"/>
              <a:t> </a:t>
            </a:r>
            <a:r>
              <a:rPr lang="en-US" sz="2000" dirty="0" err="1"/>
              <a:t>não</a:t>
            </a:r>
            <a:r>
              <a:rPr lang="en-US" sz="2000" dirty="0"/>
              <a:t> </a:t>
            </a:r>
            <a:r>
              <a:rPr lang="en-US" sz="2000" dirty="0" err="1"/>
              <a:t>pode</a:t>
            </a:r>
            <a:r>
              <a:rPr lang="en-US" sz="2000" dirty="0"/>
              <a:t> </a:t>
            </a:r>
            <a:r>
              <a:rPr lang="en-US" sz="2000" dirty="0" err="1"/>
              <a:t>ferir</a:t>
            </a:r>
            <a:r>
              <a:rPr lang="en-US" sz="2000" dirty="0"/>
              <a:t> um </a:t>
            </a:r>
            <a:r>
              <a:rPr lang="en-US" sz="2000" dirty="0" err="1"/>
              <a:t>ser</a:t>
            </a:r>
            <a:r>
              <a:rPr lang="en-US" sz="2000" dirty="0"/>
              <a:t> </a:t>
            </a:r>
            <a:r>
              <a:rPr lang="en-US" sz="2000" dirty="0" err="1"/>
              <a:t>humano</a:t>
            </a:r>
            <a:r>
              <a:rPr lang="en-US" sz="2000" dirty="0"/>
              <a:t> </a:t>
            </a:r>
            <a:r>
              <a:rPr lang="en-US" sz="2000" dirty="0" err="1"/>
              <a:t>ou</a:t>
            </a:r>
            <a:r>
              <a:rPr lang="en-US" sz="2000" dirty="0"/>
              <a:t>, </a:t>
            </a:r>
            <a:r>
              <a:rPr lang="en-US" sz="2000" dirty="0" err="1"/>
              <a:t>por</a:t>
            </a:r>
            <a:r>
              <a:rPr lang="en-US" sz="2000" dirty="0"/>
              <a:t> </a:t>
            </a:r>
            <a:r>
              <a:rPr lang="en-US" sz="2000" dirty="0" err="1"/>
              <a:t>inação</a:t>
            </a:r>
            <a:r>
              <a:rPr lang="en-US" sz="2000" dirty="0"/>
              <a:t>, </a:t>
            </a:r>
            <a:r>
              <a:rPr lang="en-US" sz="2000" dirty="0" err="1"/>
              <a:t>permitir</a:t>
            </a:r>
            <a:r>
              <a:rPr lang="en-US" sz="2000" dirty="0"/>
              <a:t> </a:t>
            </a:r>
            <a:r>
              <a:rPr lang="en-US" sz="2000" dirty="0" err="1"/>
              <a:t>que</a:t>
            </a:r>
            <a:r>
              <a:rPr lang="en-US" sz="2000" dirty="0"/>
              <a:t> um </a:t>
            </a:r>
            <a:r>
              <a:rPr lang="en-US" sz="2000" dirty="0" err="1"/>
              <a:t>ser</a:t>
            </a:r>
            <a:r>
              <a:rPr lang="en-US" sz="2000" dirty="0"/>
              <a:t> </a:t>
            </a:r>
            <a:r>
              <a:rPr lang="en-US" sz="2000" dirty="0" err="1"/>
              <a:t>humano</a:t>
            </a:r>
            <a:r>
              <a:rPr lang="en-US" sz="2000" dirty="0"/>
              <a:t> </a:t>
            </a:r>
            <a:r>
              <a:rPr lang="en-US" sz="2000" dirty="0" err="1"/>
              <a:t>sofra</a:t>
            </a:r>
            <a:r>
              <a:rPr lang="en-US" sz="2000" dirty="0"/>
              <a:t> </a:t>
            </a:r>
            <a:r>
              <a:rPr lang="en-US" sz="2000" dirty="0" err="1"/>
              <a:t>algum</a:t>
            </a:r>
            <a:r>
              <a:rPr lang="en-US" sz="2000" dirty="0"/>
              <a:t> mal.</a:t>
            </a:r>
          </a:p>
          <a:p>
            <a:pPr algn="just"/>
            <a:r>
              <a:rPr lang="en-US" sz="2000" dirty="0"/>
              <a:t>2ª Lei: Um </a:t>
            </a:r>
            <a:r>
              <a:rPr lang="en-US" sz="2000" dirty="0" err="1"/>
              <a:t>robô</a:t>
            </a:r>
            <a:r>
              <a:rPr lang="en-US" sz="2000" dirty="0"/>
              <a:t> </a:t>
            </a:r>
            <a:r>
              <a:rPr lang="en-US" sz="2000" dirty="0" err="1"/>
              <a:t>deve</a:t>
            </a:r>
            <a:r>
              <a:rPr lang="en-US" sz="2000" dirty="0"/>
              <a:t> </a:t>
            </a:r>
            <a:r>
              <a:rPr lang="en-US" sz="2000" dirty="0" err="1"/>
              <a:t>obedecer</a:t>
            </a:r>
            <a:r>
              <a:rPr lang="en-US" sz="2000" dirty="0"/>
              <a:t> as </a:t>
            </a:r>
            <a:r>
              <a:rPr lang="en-US" sz="2000" dirty="0" err="1"/>
              <a:t>ordens</a:t>
            </a:r>
            <a:r>
              <a:rPr lang="en-US" sz="2000" dirty="0"/>
              <a:t> </a:t>
            </a:r>
            <a:r>
              <a:rPr lang="en-US" sz="2000" dirty="0" err="1"/>
              <a:t>que</a:t>
            </a:r>
            <a:r>
              <a:rPr lang="en-US" sz="2000" dirty="0"/>
              <a:t> </a:t>
            </a:r>
            <a:r>
              <a:rPr lang="en-US" sz="2000" dirty="0" err="1"/>
              <a:t>lhe</a:t>
            </a:r>
            <a:r>
              <a:rPr lang="en-US" sz="2000" dirty="0"/>
              <a:t> </a:t>
            </a:r>
            <a:r>
              <a:rPr lang="en-US" sz="2000" dirty="0" err="1"/>
              <a:t>sejam</a:t>
            </a:r>
            <a:r>
              <a:rPr lang="en-US" sz="2000" dirty="0"/>
              <a:t> </a:t>
            </a:r>
            <a:r>
              <a:rPr lang="en-US" sz="2000" dirty="0" err="1"/>
              <a:t>dadas</a:t>
            </a:r>
            <a:r>
              <a:rPr lang="en-US" sz="2000" dirty="0"/>
              <a:t> </a:t>
            </a:r>
            <a:r>
              <a:rPr lang="en-US" sz="2000" dirty="0" err="1"/>
              <a:t>por</a:t>
            </a:r>
            <a:r>
              <a:rPr lang="en-US" sz="2000" dirty="0"/>
              <a:t> </a:t>
            </a:r>
            <a:r>
              <a:rPr lang="en-US" sz="2000" dirty="0" err="1"/>
              <a:t>seres</a:t>
            </a:r>
            <a:r>
              <a:rPr lang="en-US" sz="2000" dirty="0"/>
              <a:t> </a:t>
            </a:r>
            <a:r>
              <a:rPr lang="en-US" sz="2000" dirty="0" err="1"/>
              <a:t>humanos</a:t>
            </a:r>
            <a:r>
              <a:rPr lang="en-US" sz="2000" dirty="0"/>
              <a:t> </a:t>
            </a:r>
            <a:r>
              <a:rPr lang="en-US" sz="2000" dirty="0" err="1"/>
              <a:t>exceto</a:t>
            </a:r>
            <a:r>
              <a:rPr lang="en-US" sz="2000" dirty="0"/>
              <a:t> </a:t>
            </a:r>
            <a:r>
              <a:rPr lang="en-US" sz="2000" dirty="0" err="1"/>
              <a:t>nos</a:t>
            </a:r>
            <a:r>
              <a:rPr lang="en-US" sz="2000" dirty="0"/>
              <a:t> </a:t>
            </a:r>
            <a:r>
              <a:rPr lang="en-US" sz="2000" dirty="0" err="1"/>
              <a:t>casos</a:t>
            </a:r>
            <a:r>
              <a:rPr lang="en-US" sz="2000" dirty="0"/>
              <a:t> </a:t>
            </a:r>
            <a:r>
              <a:rPr lang="en-US" sz="2000" dirty="0" err="1"/>
              <a:t>em</a:t>
            </a:r>
            <a:r>
              <a:rPr lang="en-US" sz="2000" dirty="0"/>
              <a:t> </a:t>
            </a:r>
            <a:r>
              <a:rPr lang="en-US" sz="2000" dirty="0" err="1"/>
              <a:t>que</a:t>
            </a:r>
            <a:r>
              <a:rPr lang="en-US" sz="2000" dirty="0"/>
              <a:t> </a:t>
            </a:r>
            <a:r>
              <a:rPr lang="en-US" sz="2000" dirty="0" err="1"/>
              <a:t>tais</a:t>
            </a:r>
            <a:r>
              <a:rPr lang="en-US" sz="2000" dirty="0"/>
              <a:t> </a:t>
            </a:r>
            <a:r>
              <a:rPr lang="en-US" sz="2000" dirty="0" err="1"/>
              <a:t>ordens</a:t>
            </a:r>
            <a:r>
              <a:rPr lang="en-US" sz="2000" dirty="0"/>
              <a:t> </a:t>
            </a:r>
            <a:r>
              <a:rPr lang="en-US" sz="2000" dirty="0" err="1"/>
              <a:t>entrem</a:t>
            </a:r>
            <a:r>
              <a:rPr lang="en-US" sz="2000" dirty="0"/>
              <a:t> </a:t>
            </a:r>
            <a:r>
              <a:rPr lang="en-US" sz="2000" dirty="0" err="1"/>
              <a:t>em</a:t>
            </a:r>
            <a:r>
              <a:rPr lang="en-US" sz="2000" dirty="0"/>
              <a:t> </a:t>
            </a:r>
            <a:r>
              <a:rPr lang="en-US" sz="2000" dirty="0" err="1"/>
              <a:t>conflito</a:t>
            </a:r>
            <a:r>
              <a:rPr lang="en-US" sz="2000" dirty="0"/>
              <a:t> com a </a:t>
            </a:r>
            <a:r>
              <a:rPr lang="en-US" sz="2000" dirty="0" err="1"/>
              <a:t>Primeira</a:t>
            </a:r>
            <a:r>
              <a:rPr lang="en-US" sz="2000" dirty="0"/>
              <a:t> Lei.</a:t>
            </a:r>
          </a:p>
          <a:p>
            <a:pPr algn="just"/>
            <a:r>
              <a:rPr lang="en-US" sz="2000" dirty="0"/>
              <a:t>3ª Lei: Um </a:t>
            </a:r>
            <a:r>
              <a:rPr lang="en-US" sz="2000" dirty="0" err="1"/>
              <a:t>robô</a:t>
            </a:r>
            <a:r>
              <a:rPr lang="en-US" sz="2000" dirty="0"/>
              <a:t> </a:t>
            </a:r>
            <a:r>
              <a:rPr lang="en-US" sz="2000" dirty="0" err="1"/>
              <a:t>deve</a:t>
            </a:r>
            <a:r>
              <a:rPr lang="en-US" sz="2000" dirty="0"/>
              <a:t> </a:t>
            </a:r>
            <a:r>
              <a:rPr lang="en-US" sz="2000" dirty="0" err="1"/>
              <a:t>proteger</a:t>
            </a:r>
            <a:r>
              <a:rPr lang="en-US" sz="2000" dirty="0"/>
              <a:t> </a:t>
            </a:r>
            <a:r>
              <a:rPr lang="en-US" sz="2000" dirty="0" err="1"/>
              <a:t>sua</a:t>
            </a:r>
            <a:r>
              <a:rPr lang="en-US" sz="2000" dirty="0"/>
              <a:t> </a:t>
            </a:r>
            <a:r>
              <a:rPr lang="en-US" sz="2000" dirty="0" err="1"/>
              <a:t>própria</a:t>
            </a:r>
            <a:r>
              <a:rPr lang="en-US" sz="2000" dirty="0"/>
              <a:t> </a:t>
            </a:r>
            <a:r>
              <a:rPr lang="en-US" sz="2000" dirty="0" err="1"/>
              <a:t>existência</a:t>
            </a:r>
            <a:r>
              <a:rPr lang="en-US" sz="2000" dirty="0"/>
              <a:t> </a:t>
            </a:r>
            <a:r>
              <a:rPr lang="en-US" sz="2000" dirty="0" err="1"/>
              <a:t>desde</a:t>
            </a:r>
            <a:r>
              <a:rPr lang="en-US" sz="2000" dirty="0"/>
              <a:t> </a:t>
            </a:r>
            <a:r>
              <a:rPr lang="en-US" sz="2000" dirty="0" err="1"/>
              <a:t>que</a:t>
            </a:r>
            <a:r>
              <a:rPr lang="en-US" sz="2000" dirty="0"/>
              <a:t> </a:t>
            </a:r>
            <a:r>
              <a:rPr lang="en-US" sz="2000" dirty="0" err="1"/>
              <a:t>tal</a:t>
            </a:r>
            <a:r>
              <a:rPr lang="en-US" sz="2000" dirty="0"/>
              <a:t> </a:t>
            </a:r>
            <a:r>
              <a:rPr lang="en-US" sz="2000" dirty="0" err="1"/>
              <a:t>proteção</a:t>
            </a:r>
            <a:r>
              <a:rPr lang="en-US" sz="2000" dirty="0"/>
              <a:t> </a:t>
            </a:r>
            <a:r>
              <a:rPr lang="en-US" sz="2000" dirty="0" err="1"/>
              <a:t>não</a:t>
            </a:r>
            <a:r>
              <a:rPr lang="en-US" sz="2000" dirty="0"/>
              <a:t> entre </a:t>
            </a:r>
            <a:r>
              <a:rPr lang="en-US" sz="2000" dirty="0" err="1"/>
              <a:t>em</a:t>
            </a:r>
            <a:r>
              <a:rPr lang="en-US" sz="2000" dirty="0"/>
              <a:t> </a:t>
            </a:r>
            <a:r>
              <a:rPr lang="en-US" sz="2000" dirty="0" err="1"/>
              <a:t>conflito</a:t>
            </a:r>
            <a:r>
              <a:rPr lang="en-US" sz="2000" dirty="0"/>
              <a:t> com a </a:t>
            </a:r>
            <a:r>
              <a:rPr lang="en-US" sz="2000" dirty="0" err="1"/>
              <a:t>Primeira</a:t>
            </a:r>
            <a:r>
              <a:rPr lang="en-US" sz="2000" dirty="0"/>
              <a:t> </a:t>
            </a:r>
            <a:r>
              <a:rPr lang="en-US" sz="2000" dirty="0" err="1"/>
              <a:t>ou</a:t>
            </a:r>
            <a:r>
              <a:rPr lang="en-US" sz="2000" dirty="0"/>
              <a:t> </a:t>
            </a:r>
            <a:r>
              <a:rPr lang="en-US" sz="2000" dirty="0" err="1"/>
              <a:t>Segunda</a:t>
            </a:r>
            <a:r>
              <a:rPr lang="en-US" sz="2000" dirty="0"/>
              <a:t> Leis.</a:t>
            </a:r>
          </a:p>
          <a:p>
            <a:pPr algn="just"/>
            <a:r>
              <a:rPr lang="en-US" sz="2000" dirty="0"/>
              <a:t>“Lei Zero”: um </a:t>
            </a:r>
            <a:r>
              <a:rPr lang="en-US" sz="2000" dirty="0" err="1"/>
              <a:t>robô</a:t>
            </a:r>
            <a:r>
              <a:rPr lang="en-US" sz="2000" dirty="0"/>
              <a:t> </a:t>
            </a:r>
            <a:r>
              <a:rPr lang="en-US" sz="2000" dirty="0" err="1"/>
              <a:t>não</a:t>
            </a:r>
            <a:r>
              <a:rPr lang="en-US" sz="2000" dirty="0"/>
              <a:t> </a:t>
            </a:r>
            <a:r>
              <a:rPr lang="en-US" sz="2000" dirty="0" err="1"/>
              <a:t>pode</a:t>
            </a:r>
            <a:r>
              <a:rPr lang="en-US" sz="2000" dirty="0"/>
              <a:t> </a:t>
            </a:r>
            <a:r>
              <a:rPr lang="en-US" sz="2000" dirty="0" err="1"/>
              <a:t>causar</a:t>
            </a:r>
            <a:r>
              <a:rPr lang="en-US" sz="2000" dirty="0"/>
              <a:t> mal à </a:t>
            </a:r>
            <a:r>
              <a:rPr lang="en-US" sz="2000" dirty="0" err="1"/>
              <a:t>humanidade</a:t>
            </a:r>
            <a:r>
              <a:rPr lang="en-US" sz="2000" dirty="0"/>
              <a:t> </a:t>
            </a:r>
            <a:r>
              <a:rPr lang="en-US" sz="2000" dirty="0" err="1"/>
              <a:t>ou</a:t>
            </a:r>
            <a:r>
              <a:rPr lang="en-US" sz="2000" dirty="0"/>
              <a:t>, </a:t>
            </a:r>
            <a:r>
              <a:rPr lang="en-US" sz="2000" dirty="0" err="1"/>
              <a:t>por</a:t>
            </a:r>
            <a:r>
              <a:rPr lang="en-US" sz="2000" dirty="0"/>
              <a:t> </a:t>
            </a:r>
            <a:r>
              <a:rPr lang="en-US" sz="2000" dirty="0" err="1"/>
              <a:t>omissão</a:t>
            </a:r>
            <a:r>
              <a:rPr lang="en-US" sz="2000" dirty="0"/>
              <a:t>, </a:t>
            </a:r>
            <a:r>
              <a:rPr lang="en-US" sz="2000" dirty="0" err="1"/>
              <a:t>permitir</a:t>
            </a:r>
            <a:r>
              <a:rPr lang="en-US" sz="2000" dirty="0"/>
              <a:t> </a:t>
            </a:r>
            <a:r>
              <a:rPr lang="en-US" sz="2000" dirty="0" err="1"/>
              <a:t>que</a:t>
            </a:r>
            <a:r>
              <a:rPr lang="en-US" sz="2000" dirty="0"/>
              <a:t> a </a:t>
            </a:r>
            <a:r>
              <a:rPr lang="en-US" sz="2000" dirty="0" err="1"/>
              <a:t>humanidade</a:t>
            </a:r>
            <a:r>
              <a:rPr lang="en-US" sz="2000" dirty="0"/>
              <a:t> </a:t>
            </a:r>
            <a:r>
              <a:rPr lang="en-US" sz="2000" dirty="0" err="1"/>
              <a:t>sofra</a:t>
            </a:r>
            <a:r>
              <a:rPr lang="en-US" sz="2000" dirty="0"/>
              <a:t> </a:t>
            </a:r>
            <a:r>
              <a:rPr lang="en-US" sz="2000" dirty="0" err="1"/>
              <a:t>algum</a:t>
            </a:r>
            <a:r>
              <a:rPr lang="en-US" sz="2000" dirty="0"/>
              <a:t> mal.</a:t>
            </a:r>
          </a:p>
        </p:txBody>
      </p:sp>
      <p:sp>
        <p:nvSpPr>
          <p:cNvPr id="4" name="Date Placeholder 3"/>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267069447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4"/>
          <p:cNvSpPr>
            <a:spLocks noGrp="1" noChangeArrowheads="1"/>
          </p:cNvSpPr>
          <p:nvPr>
            <p:ph type="title"/>
          </p:nvPr>
        </p:nvSpPr>
        <p:spPr>
          <a:xfrm>
            <a:off x="1008210" y="657203"/>
            <a:ext cx="7024744" cy="1143000"/>
          </a:xfrm>
          <a:ln/>
        </p:spPr>
        <p:txBody>
          <a:bodyPr rIns="132080">
            <a:normAutofit fontScale="90000"/>
          </a:bodyPr>
          <a:lstStyle/>
          <a:p>
            <a:r>
              <a:rPr lang="en-US"/>
              <a:t>ACM/IEEE Software Engineering Code of Ethics</a:t>
            </a:r>
          </a:p>
        </p:txBody>
      </p:sp>
      <p:sp>
        <p:nvSpPr>
          <p:cNvPr id="45061" name="Rectangle 5"/>
          <p:cNvSpPr>
            <a:spLocks noGrp="1" noChangeArrowheads="1"/>
          </p:cNvSpPr>
          <p:nvPr>
            <p:ph type="body" idx="1"/>
          </p:nvPr>
        </p:nvSpPr>
        <p:spPr>
          <a:xfrm>
            <a:off x="478666" y="1851430"/>
            <a:ext cx="8102843" cy="5013325"/>
          </a:xfrm>
          <a:ln/>
        </p:spPr>
        <p:txBody>
          <a:bodyPr rIns="132080"/>
          <a:lstStyle/>
          <a:p>
            <a:pPr marL="573088" indent="-533400" algn="just"/>
            <a:r>
              <a:rPr lang="en-US" sz="1600" dirty="0"/>
              <a:t>Software engineers shall act consistently with the public interest.</a:t>
            </a:r>
          </a:p>
          <a:p>
            <a:pPr marL="573088" indent="-533400" algn="just"/>
            <a:r>
              <a:rPr lang="en-US" sz="1600" dirty="0"/>
              <a:t>Software engineers shall act in a manner that is in the best interests of their client and employer, consistent with the public interest.</a:t>
            </a:r>
          </a:p>
          <a:p>
            <a:pPr marL="573088" indent="-533400" algn="just"/>
            <a:r>
              <a:rPr lang="en-US" sz="1600" dirty="0"/>
              <a:t>Software engineers shall ensure that their products and related modifications meet the highest professional standards possible.</a:t>
            </a:r>
          </a:p>
          <a:p>
            <a:pPr marL="573088" indent="-533400" algn="just"/>
            <a:r>
              <a:rPr lang="en-US" sz="1600" dirty="0"/>
              <a:t>Software engineers shall maintain integrity and independence in their professional judgment.</a:t>
            </a:r>
          </a:p>
          <a:p>
            <a:pPr marL="573088" indent="-533400" algn="just"/>
            <a:r>
              <a:rPr lang="en-US" sz="1600" dirty="0"/>
              <a:t>Software engineering managers and leaders shall subscribe to and promote an ethical approach to the management of software development and maintenance.</a:t>
            </a:r>
          </a:p>
          <a:p>
            <a:pPr marL="573088" indent="-533400" algn="just"/>
            <a:r>
              <a:rPr lang="en-US" sz="1600" dirty="0"/>
              <a:t>Software engineers shall advance the integrity and reputation of the profession consistent with the public interest.</a:t>
            </a:r>
          </a:p>
          <a:p>
            <a:pPr marL="573088" indent="-533400" algn="just"/>
            <a:r>
              <a:rPr lang="en-US" sz="1600" dirty="0"/>
              <a:t>Software engineers shall be fair to and supportive of their colleagues.</a:t>
            </a:r>
          </a:p>
          <a:p>
            <a:pPr marL="573088" indent="-533400" algn="just"/>
            <a:r>
              <a:rPr lang="en-US" sz="1600" dirty="0"/>
              <a:t>Software engineers shall participate in lifelong learning regarding the practice of their profession and shall promote an ethical approach to the practice of the profession.</a:t>
            </a:r>
          </a:p>
        </p:txBody>
      </p:sp>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5882362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833613"/>
            <a:ext cx="7024744" cy="1143000"/>
          </a:xfrm>
        </p:spPr>
        <p:txBody>
          <a:bodyPr/>
          <a:lstStyle/>
          <a:p>
            <a:r>
              <a:rPr lang="en-US"/>
              <a:t>Conselhos de profissão</a:t>
            </a:r>
          </a:p>
        </p:txBody>
      </p:sp>
      <p:sp>
        <p:nvSpPr>
          <p:cNvPr id="3" name="Content Placeholder 2"/>
          <p:cNvSpPr>
            <a:spLocks noGrp="1"/>
          </p:cNvSpPr>
          <p:nvPr>
            <p:ph idx="1"/>
          </p:nvPr>
        </p:nvSpPr>
        <p:spPr>
          <a:xfrm>
            <a:off x="1043492" y="2164883"/>
            <a:ext cx="6777317" cy="3508977"/>
          </a:xfrm>
        </p:spPr>
        <p:txBody>
          <a:bodyPr>
            <a:normAutofit fontScale="85000" lnSpcReduction="20000"/>
          </a:bodyPr>
          <a:lstStyle/>
          <a:p>
            <a:pPr algn="just"/>
            <a:r>
              <a:rPr lang="en-US" dirty="0" err="1"/>
              <a:t>Os</a:t>
            </a:r>
            <a:r>
              <a:rPr lang="en-US" dirty="0"/>
              <a:t> </a:t>
            </a:r>
            <a:r>
              <a:rPr lang="en-US" dirty="0" err="1"/>
              <a:t>conselhos</a:t>
            </a:r>
            <a:r>
              <a:rPr lang="en-US" dirty="0"/>
              <a:t> de </a:t>
            </a:r>
            <a:r>
              <a:rPr lang="en-US" dirty="0" err="1"/>
              <a:t>profissão</a:t>
            </a:r>
            <a:r>
              <a:rPr lang="en-US" dirty="0"/>
              <a:t> </a:t>
            </a:r>
            <a:r>
              <a:rPr lang="en-US" dirty="0" err="1"/>
              <a:t>impõe</a:t>
            </a:r>
            <a:r>
              <a:rPr lang="en-US" dirty="0"/>
              <a:t> </a:t>
            </a:r>
            <a:r>
              <a:rPr lang="en-US" dirty="0" err="1"/>
              <a:t>reserva</a:t>
            </a:r>
            <a:r>
              <a:rPr lang="en-US" dirty="0"/>
              <a:t> de </a:t>
            </a:r>
            <a:r>
              <a:rPr lang="en-US" dirty="0" err="1"/>
              <a:t>mercado</a:t>
            </a:r>
            <a:endParaRPr lang="en-US" dirty="0"/>
          </a:p>
          <a:p>
            <a:pPr algn="just"/>
            <a:r>
              <a:rPr lang="en-US" dirty="0"/>
              <a:t>A </a:t>
            </a:r>
            <a:r>
              <a:rPr lang="en-US" dirty="0" err="1"/>
              <a:t>função</a:t>
            </a:r>
            <a:r>
              <a:rPr lang="en-US" dirty="0"/>
              <a:t> é </a:t>
            </a:r>
            <a:r>
              <a:rPr lang="en-US" dirty="0" err="1"/>
              <a:t>proteger</a:t>
            </a:r>
            <a:r>
              <a:rPr lang="en-US" dirty="0"/>
              <a:t> a </a:t>
            </a:r>
            <a:r>
              <a:rPr lang="en-US" dirty="0" err="1"/>
              <a:t>sociedade</a:t>
            </a:r>
            <a:r>
              <a:rPr lang="en-US" dirty="0"/>
              <a:t> contra o </a:t>
            </a:r>
            <a:r>
              <a:rPr lang="en-US" dirty="0" err="1"/>
              <a:t>mau</a:t>
            </a:r>
            <a:r>
              <a:rPr lang="en-US" dirty="0"/>
              <a:t> </a:t>
            </a:r>
            <a:r>
              <a:rPr lang="en-US" dirty="0" err="1"/>
              <a:t>profissional</a:t>
            </a:r>
            <a:r>
              <a:rPr lang="en-US" dirty="0"/>
              <a:t>.</a:t>
            </a:r>
          </a:p>
          <a:p>
            <a:pPr algn="just"/>
            <a:r>
              <a:rPr lang="en-US" dirty="0" err="1"/>
              <a:t>Criados</a:t>
            </a:r>
            <a:r>
              <a:rPr lang="en-US" dirty="0"/>
              <a:t> </a:t>
            </a:r>
            <a:r>
              <a:rPr lang="en-US" dirty="0" err="1"/>
              <a:t>em</a:t>
            </a:r>
            <a:r>
              <a:rPr lang="en-US" dirty="0"/>
              <a:t> </a:t>
            </a:r>
            <a:r>
              <a:rPr lang="en-US" dirty="0" err="1"/>
              <a:t>aprovação</a:t>
            </a:r>
            <a:r>
              <a:rPr lang="en-US" dirty="0"/>
              <a:t> no </a:t>
            </a:r>
            <a:r>
              <a:rPr lang="en-US" dirty="0" err="1"/>
              <a:t>Congresso</a:t>
            </a:r>
            <a:r>
              <a:rPr lang="en-US" dirty="0"/>
              <a:t> </a:t>
            </a:r>
            <a:r>
              <a:rPr lang="en-US" dirty="0" err="1"/>
              <a:t>Nacional</a:t>
            </a:r>
            <a:endParaRPr lang="en-US" dirty="0"/>
          </a:p>
          <a:p>
            <a:pPr algn="just"/>
            <a:r>
              <a:rPr lang="en-US" dirty="0"/>
              <a:t>O </a:t>
            </a:r>
            <a:r>
              <a:rPr lang="en-US" dirty="0" err="1"/>
              <a:t>conselho</a:t>
            </a:r>
            <a:r>
              <a:rPr lang="en-US" dirty="0"/>
              <a:t> </a:t>
            </a:r>
            <a:r>
              <a:rPr lang="en-US" dirty="0" err="1"/>
              <a:t>não</a:t>
            </a:r>
            <a:r>
              <a:rPr lang="en-US" dirty="0"/>
              <a:t> é um </a:t>
            </a:r>
            <a:r>
              <a:rPr lang="en-US" dirty="0" err="1"/>
              <a:t>orgão</a:t>
            </a:r>
            <a:r>
              <a:rPr lang="en-US" dirty="0"/>
              <a:t> </a:t>
            </a:r>
            <a:r>
              <a:rPr lang="en-US" dirty="0" err="1"/>
              <a:t>para</a:t>
            </a:r>
            <a:r>
              <a:rPr lang="en-US" dirty="0"/>
              <a:t> </a:t>
            </a:r>
            <a:r>
              <a:rPr lang="en-US" dirty="0" err="1"/>
              <a:t>proteger</a:t>
            </a:r>
            <a:r>
              <a:rPr lang="en-US" dirty="0"/>
              <a:t> o </a:t>
            </a:r>
            <a:r>
              <a:rPr lang="en-US" dirty="0" err="1"/>
              <a:t>profissional</a:t>
            </a:r>
            <a:r>
              <a:rPr lang="en-US" dirty="0"/>
              <a:t> </a:t>
            </a:r>
          </a:p>
          <a:p>
            <a:pPr lvl="1" algn="just"/>
            <a:r>
              <a:rPr lang="en-US" dirty="0" err="1"/>
              <a:t>para</a:t>
            </a:r>
            <a:r>
              <a:rPr lang="en-US" dirty="0"/>
              <a:t> </a:t>
            </a:r>
            <a:r>
              <a:rPr lang="en-US" dirty="0" err="1"/>
              <a:t>isso</a:t>
            </a:r>
            <a:r>
              <a:rPr lang="en-US" dirty="0"/>
              <a:t> </a:t>
            </a:r>
            <a:r>
              <a:rPr lang="en-US" dirty="0" err="1"/>
              <a:t>existem</a:t>
            </a:r>
            <a:r>
              <a:rPr lang="en-US" dirty="0"/>
              <a:t> </a:t>
            </a:r>
            <a:r>
              <a:rPr lang="en-US" dirty="0" err="1"/>
              <a:t>os</a:t>
            </a:r>
            <a:r>
              <a:rPr lang="en-US" dirty="0"/>
              <a:t> </a:t>
            </a:r>
            <a:r>
              <a:rPr lang="en-US" dirty="0" err="1"/>
              <a:t>sindicatos</a:t>
            </a:r>
            <a:endParaRPr lang="en-US" dirty="0"/>
          </a:p>
          <a:p>
            <a:pPr lvl="1" algn="just"/>
            <a:r>
              <a:rPr lang="en-US" dirty="0" err="1"/>
              <a:t>não</a:t>
            </a:r>
            <a:r>
              <a:rPr lang="en-US" dirty="0"/>
              <a:t> </a:t>
            </a:r>
            <a:r>
              <a:rPr lang="en-US" dirty="0" err="1"/>
              <a:t>são</a:t>
            </a:r>
            <a:r>
              <a:rPr lang="en-US" dirty="0"/>
              <a:t> </a:t>
            </a:r>
            <a:r>
              <a:rPr lang="en-US" dirty="0" err="1"/>
              <a:t>conselhos</a:t>
            </a:r>
            <a:r>
              <a:rPr lang="en-US" dirty="0"/>
              <a:t> de </a:t>
            </a:r>
            <a:r>
              <a:rPr lang="en-US" dirty="0" err="1"/>
              <a:t>profissionais</a:t>
            </a:r>
            <a:endParaRPr lang="en-US" dirty="0"/>
          </a:p>
          <a:p>
            <a:pPr marL="365760" lvl="1" indent="0" algn="just">
              <a:buNone/>
            </a:pPr>
            <a:endParaRPr lang="en-US" dirty="0"/>
          </a:p>
          <a:p>
            <a:pPr algn="just"/>
            <a:endParaRPr lang="en-US" dirty="0"/>
          </a:p>
          <a:p>
            <a:pPr marL="68580" indent="0" algn="just">
              <a:buNone/>
            </a:pPr>
            <a:r>
              <a:rPr lang="en-US" dirty="0"/>
              <a:t> </a:t>
            </a:r>
          </a:p>
          <a:p>
            <a:pPr algn="just"/>
            <a:endParaRPr lang="en-US" dirty="0"/>
          </a:p>
        </p:txBody>
      </p:sp>
      <p:sp>
        <p:nvSpPr>
          <p:cNvPr id="4" name="Date Placeholder 3"/>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17858062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286742"/>
            <a:ext cx="7494144" cy="1143000"/>
          </a:xfrm>
        </p:spPr>
        <p:txBody>
          <a:bodyPr/>
          <a:lstStyle/>
          <a:p>
            <a:r>
              <a:rPr lang="en-US"/>
              <a:t>Conselho de Auto-regulação</a:t>
            </a:r>
          </a:p>
        </p:txBody>
      </p:sp>
      <p:sp>
        <p:nvSpPr>
          <p:cNvPr id="3" name="Content Placeholder 2"/>
          <p:cNvSpPr>
            <a:spLocks noGrp="1"/>
          </p:cNvSpPr>
          <p:nvPr>
            <p:ph idx="1"/>
          </p:nvPr>
        </p:nvSpPr>
        <p:spPr>
          <a:xfrm>
            <a:off x="1043492" y="1711194"/>
            <a:ext cx="7141347" cy="4015590"/>
          </a:xfrm>
        </p:spPr>
        <p:txBody>
          <a:bodyPr>
            <a:normAutofit fontScale="92500"/>
          </a:bodyPr>
          <a:lstStyle/>
          <a:p>
            <a:pPr algn="just"/>
            <a:r>
              <a:rPr lang="en-US"/>
              <a:t>Preservar o livre exercício da profissão</a:t>
            </a:r>
          </a:p>
          <a:p>
            <a:pPr algn="just"/>
            <a:r>
              <a:rPr lang="en-US"/>
              <a:t>Controlar a qualidade das atividades profissionais e monitoramento de possíveis desvios de conduta </a:t>
            </a:r>
            <a:r>
              <a:rPr lang="en-US" b="1"/>
              <a:t>ética</a:t>
            </a:r>
            <a:r>
              <a:rPr lang="en-US"/>
              <a:t>.</a:t>
            </a:r>
          </a:p>
          <a:p>
            <a:pPr algn="just"/>
            <a:r>
              <a:rPr lang="en-US"/>
              <a:t>Resultado de um ato espontâneo da sociedade sem aprovação formal no Congresso Nacional</a:t>
            </a:r>
          </a:p>
          <a:p>
            <a:pPr lvl="1" algn="just"/>
            <a:r>
              <a:rPr lang="en-US"/>
              <a:t>não teria poder de sanção penal, mas somente as de cunho moral e ético</a:t>
            </a:r>
          </a:p>
          <a:p>
            <a:pPr algn="just"/>
            <a:r>
              <a:rPr lang="en-US"/>
              <a:t>Criar, rever e divulgar periodicamente à Sociedade padrões de referência de qualidade</a:t>
            </a:r>
          </a:p>
          <a:p>
            <a:pPr algn="just"/>
            <a:endParaRPr lang="en-US"/>
          </a:p>
        </p:txBody>
      </p:sp>
      <p:sp>
        <p:nvSpPr>
          <p:cNvPr id="4" name="Date Placeholder 3"/>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211648277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t>
            </a:r>
            <a:r>
              <a:rPr lang="pt-BR" dirty="0"/>
              <a:t> 4408/2016</a:t>
            </a:r>
            <a:endParaRPr lang="en-US" dirty="0"/>
          </a:p>
        </p:txBody>
      </p:sp>
      <p:sp>
        <p:nvSpPr>
          <p:cNvPr id="3" name="Content Placeholder 2"/>
          <p:cNvSpPr>
            <a:spLocks noGrp="1"/>
          </p:cNvSpPr>
          <p:nvPr>
            <p:ph idx="1"/>
          </p:nvPr>
        </p:nvSpPr>
        <p:spPr/>
        <p:txBody>
          <a:bodyPr/>
          <a:lstStyle/>
          <a:p>
            <a:pPr algn="just"/>
            <a:r>
              <a:rPr lang="pt-BR" dirty="0"/>
              <a:t>17/fevereiro/2016</a:t>
            </a:r>
          </a:p>
          <a:p>
            <a:pPr algn="just"/>
            <a:r>
              <a:rPr lang="pt-BR" sz="2000" dirty="0"/>
              <a:t>1. Defender a liberdade de exercício profissional estabelecida no Art. 5º, inciso XIII da Constituição Federal, evitando-se a nociva reserva de mercado imposta por conselhos de profissão;</a:t>
            </a:r>
          </a:p>
          <a:p>
            <a:pPr algn="just"/>
            <a:r>
              <a:rPr lang="pt-BR" sz="2000" dirty="0"/>
              <a:t>2. Garantir as condições de liberdade necessárias ao desenvolvimento tecnológico de diversas áreas de atuação profissional, com engenharia, administração e medicina, que dentre outras têm a Informática como atividade-meio;</a:t>
            </a:r>
            <a:endParaRPr lang="en-US" sz="2000" dirty="0"/>
          </a:p>
        </p:txBody>
      </p:sp>
      <p:sp>
        <p:nvSpPr>
          <p:cNvPr id="4" name="Date Placeholder 3"/>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9944096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PL</a:t>
            </a:r>
            <a:r>
              <a:rPr lang="pt-BR"/>
              <a:t> 4408/2016</a:t>
            </a:r>
            <a:endParaRPr lang="en-US"/>
          </a:p>
        </p:txBody>
      </p:sp>
      <p:sp>
        <p:nvSpPr>
          <p:cNvPr id="3" name="Content Placeholder 2"/>
          <p:cNvSpPr>
            <a:spLocks noGrp="1"/>
          </p:cNvSpPr>
          <p:nvPr>
            <p:ph idx="1"/>
          </p:nvPr>
        </p:nvSpPr>
        <p:spPr/>
        <p:txBody>
          <a:bodyPr/>
          <a:lstStyle/>
          <a:p>
            <a:pPr algn="just"/>
            <a:r>
              <a:rPr lang="pt-BR" sz="2000" dirty="0"/>
              <a:t>3. Garantir os meios para a atuação no mercado de trabalho de pessoal qualificado e de formação multidisciplinar, indispensável para o pleno desenvolvimento do País; </a:t>
            </a:r>
          </a:p>
          <a:p>
            <a:pPr algn="just"/>
            <a:r>
              <a:rPr lang="pt-BR" sz="2000" dirty="0"/>
              <a:t>4. Assegurar condições isonômicas de concorrência no mercado internacional de informática com os países centrais , com os Estados Unidos, França, Inglaterra, etc., onde o exercício da profissão de informática é livre; </a:t>
            </a:r>
          </a:p>
        </p:txBody>
      </p:sp>
      <p:sp>
        <p:nvSpPr>
          <p:cNvPr id="4" name="Date Placeholder 3"/>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371640208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PL</a:t>
            </a:r>
            <a:r>
              <a:rPr lang="pt-BR"/>
              <a:t> 4408/2016</a:t>
            </a:r>
            <a:endParaRPr lang="en-US"/>
          </a:p>
        </p:txBody>
      </p:sp>
      <p:sp>
        <p:nvSpPr>
          <p:cNvPr id="3" name="Content Placeholder 2"/>
          <p:cNvSpPr>
            <a:spLocks noGrp="1"/>
          </p:cNvSpPr>
          <p:nvPr>
            <p:ph idx="1"/>
          </p:nvPr>
        </p:nvSpPr>
        <p:spPr/>
        <p:txBody>
          <a:bodyPr/>
          <a:lstStyle/>
          <a:p>
            <a:pPr algn="just"/>
            <a:r>
              <a:rPr lang="pt-BR" sz="2000" dirty="0"/>
              <a:t>5. Defender a área de informática contra as potenciais invasões por parte de conselhos de profissão já estabelecidos, que insistem em definir como de sua exclusiva alçada atribuições consagradas dos profissionais de informática, naturalmente decorrente do caráter multidisciplinar da Área; </a:t>
            </a:r>
          </a:p>
          <a:p>
            <a:pPr algn="just"/>
            <a:r>
              <a:rPr lang="pt-BR" sz="2000" dirty="0"/>
              <a:t>6. Pacificar relações de conflitos recorrentes em Editais de Concurso Público e Licitações, que insistem em exigir registros dos profissionais liberais em conselhos de profissão; </a:t>
            </a:r>
          </a:p>
        </p:txBody>
      </p:sp>
      <p:sp>
        <p:nvSpPr>
          <p:cNvPr id="4" name="Date Placeholder 3"/>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68174636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PL</a:t>
            </a:r>
            <a:r>
              <a:rPr lang="pt-BR"/>
              <a:t> 4408/2016</a:t>
            </a:r>
            <a:endParaRPr lang="en-US"/>
          </a:p>
        </p:txBody>
      </p:sp>
      <p:sp>
        <p:nvSpPr>
          <p:cNvPr id="3" name="Content Placeholder 2"/>
          <p:cNvSpPr>
            <a:spLocks noGrp="1"/>
          </p:cNvSpPr>
          <p:nvPr>
            <p:ph idx="1"/>
          </p:nvPr>
        </p:nvSpPr>
        <p:spPr/>
        <p:txBody>
          <a:bodyPr/>
          <a:lstStyle/>
          <a:p>
            <a:pPr marL="68580" indent="0" algn="just">
              <a:buNone/>
            </a:pPr>
            <a:endParaRPr lang="pt-BR" sz="2000" dirty="0"/>
          </a:p>
          <a:p>
            <a:pPr algn="just"/>
            <a:r>
              <a:rPr lang="pt-BR" sz="2000" dirty="0"/>
              <a:t>7. Preservar os interesses da Sociedade no uso de bens e serviços de Informática; </a:t>
            </a:r>
          </a:p>
          <a:p>
            <a:pPr algn="just"/>
            <a:r>
              <a:rPr lang="pt-BR" sz="2000" dirty="0"/>
              <a:t>8. Valorizar a posse da competência profissional e não a de um diploma específico.</a:t>
            </a:r>
            <a:endParaRPr lang="en-US" sz="2000" dirty="0"/>
          </a:p>
        </p:txBody>
      </p:sp>
      <p:sp>
        <p:nvSpPr>
          <p:cNvPr id="4" name="Date Placeholder 3"/>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218584706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PL 3065/2015</a:t>
            </a:r>
            <a:endParaRPr lang="en-US"/>
          </a:p>
        </p:txBody>
      </p:sp>
      <p:sp>
        <p:nvSpPr>
          <p:cNvPr id="3" name="Content Placeholder 2"/>
          <p:cNvSpPr>
            <a:spLocks noGrp="1"/>
          </p:cNvSpPr>
          <p:nvPr>
            <p:ph idx="1"/>
          </p:nvPr>
        </p:nvSpPr>
        <p:spPr/>
        <p:txBody>
          <a:bodyPr/>
          <a:lstStyle/>
          <a:p>
            <a:pPr algn="just"/>
            <a:r>
              <a:rPr lang="en-US" dirty="0" err="1"/>
              <a:t>propõe</a:t>
            </a:r>
            <a:r>
              <a:rPr lang="en-US" dirty="0"/>
              <a:t> a </a:t>
            </a:r>
            <a:r>
              <a:rPr lang="en-US" dirty="0" err="1"/>
              <a:t>criação</a:t>
            </a:r>
            <a:r>
              <a:rPr lang="en-US" dirty="0"/>
              <a:t> de </a:t>
            </a:r>
            <a:r>
              <a:rPr lang="en-US" dirty="0" err="1"/>
              <a:t>conselhos</a:t>
            </a:r>
            <a:r>
              <a:rPr lang="en-US" dirty="0"/>
              <a:t> </a:t>
            </a:r>
            <a:r>
              <a:rPr lang="en-US" dirty="0" err="1"/>
              <a:t>para</a:t>
            </a:r>
            <a:r>
              <a:rPr lang="en-US" dirty="0"/>
              <a:t> a </a:t>
            </a:r>
            <a:r>
              <a:rPr lang="en-US" dirty="0" err="1"/>
              <a:t>profissão</a:t>
            </a:r>
            <a:r>
              <a:rPr lang="en-US" dirty="0"/>
              <a:t> e, </a:t>
            </a:r>
            <a:r>
              <a:rPr lang="en-US" dirty="0" err="1"/>
              <a:t>consequentemente</a:t>
            </a:r>
            <a:r>
              <a:rPr lang="en-US" dirty="0"/>
              <a:t>, </a:t>
            </a:r>
            <a:r>
              <a:rPr lang="en-US" dirty="0" err="1"/>
              <a:t>reserva</a:t>
            </a:r>
            <a:r>
              <a:rPr lang="en-US" dirty="0"/>
              <a:t> de </a:t>
            </a:r>
            <a:r>
              <a:rPr lang="en-US" dirty="0" err="1"/>
              <a:t>mercado</a:t>
            </a:r>
            <a:r>
              <a:rPr lang="en-US" dirty="0"/>
              <a:t> de </a:t>
            </a:r>
            <a:r>
              <a:rPr lang="en-US" dirty="0" err="1"/>
              <a:t>trabalho</a:t>
            </a:r>
            <a:r>
              <a:rPr lang="en-US" dirty="0"/>
              <a:t> </a:t>
            </a:r>
            <a:r>
              <a:rPr lang="en-US" dirty="0" err="1"/>
              <a:t>para</a:t>
            </a:r>
            <a:r>
              <a:rPr lang="en-US" dirty="0"/>
              <a:t> </a:t>
            </a:r>
            <a:r>
              <a:rPr lang="en-US" dirty="0" err="1"/>
              <a:t>os</a:t>
            </a:r>
            <a:r>
              <a:rPr lang="en-US" dirty="0"/>
              <a:t> </a:t>
            </a:r>
            <a:r>
              <a:rPr lang="en-US" dirty="0" err="1"/>
              <a:t>diplomados</a:t>
            </a:r>
            <a:r>
              <a:rPr lang="en-US" dirty="0"/>
              <a:t> </a:t>
            </a:r>
            <a:r>
              <a:rPr lang="en-US" dirty="0" err="1"/>
              <a:t>em</a:t>
            </a:r>
            <a:r>
              <a:rPr lang="en-US" dirty="0"/>
              <a:t> </a:t>
            </a:r>
            <a:r>
              <a:rPr lang="en-US" dirty="0" err="1"/>
              <a:t>curso</a:t>
            </a:r>
            <a:r>
              <a:rPr lang="en-US" dirty="0"/>
              <a:t> superior da </a:t>
            </a:r>
            <a:r>
              <a:rPr lang="en-US" dirty="0" err="1"/>
              <a:t>área</a:t>
            </a:r>
            <a:r>
              <a:rPr lang="en-US" dirty="0"/>
              <a:t> de </a:t>
            </a:r>
            <a:r>
              <a:rPr lang="en-US" dirty="0" err="1"/>
              <a:t>informática</a:t>
            </a:r>
            <a:endParaRPr lang="en-US" dirty="0"/>
          </a:p>
          <a:p>
            <a:pPr algn="just"/>
            <a:endParaRPr lang="en-US" dirty="0"/>
          </a:p>
          <a:p>
            <a:pPr algn="just"/>
            <a:r>
              <a:rPr lang="en-US" dirty="0"/>
              <a:t>A SBC </a:t>
            </a:r>
            <a:r>
              <a:rPr lang="en-US" dirty="0" err="1"/>
              <a:t>não</a:t>
            </a:r>
            <a:r>
              <a:rPr lang="en-US" dirty="0"/>
              <a:t> </a:t>
            </a:r>
            <a:r>
              <a:rPr lang="en-US" dirty="0" err="1"/>
              <a:t>apoia</a:t>
            </a:r>
            <a:r>
              <a:rPr lang="en-US" dirty="0"/>
              <a:t> </a:t>
            </a:r>
            <a:r>
              <a:rPr lang="en-US" dirty="0" err="1"/>
              <a:t>este</a:t>
            </a:r>
            <a:r>
              <a:rPr lang="en-US" dirty="0"/>
              <a:t> PL </a:t>
            </a:r>
          </a:p>
          <a:p>
            <a:pPr algn="just"/>
            <a:r>
              <a:rPr lang="en-US" dirty="0"/>
              <a:t>A SBC </a:t>
            </a:r>
            <a:r>
              <a:rPr lang="en-US" dirty="0" err="1"/>
              <a:t>apoia</a:t>
            </a:r>
            <a:r>
              <a:rPr lang="en-US" dirty="0"/>
              <a:t> o PL </a:t>
            </a:r>
            <a:r>
              <a:rPr lang="is-IS" dirty="0"/>
              <a:t>4408/2016</a:t>
            </a:r>
            <a:endParaRPr lang="en-US" dirty="0"/>
          </a:p>
        </p:txBody>
      </p:sp>
      <p:sp>
        <p:nvSpPr>
          <p:cNvPr id="4" name="Date Placeholder 3"/>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46137931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Consulta</a:t>
            </a:r>
            <a:r>
              <a:rPr lang="en-US" dirty="0"/>
              <a:t> </a:t>
            </a:r>
            <a:r>
              <a:rPr lang="en-US" dirty="0" err="1"/>
              <a:t>Pública</a:t>
            </a:r>
            <a:endParaRPr lang="en-US" dirty="0"/>
          </a:p>
        </p:txBody>
      </p:sp>
      <p:sp>
        <p:nvSpPr>
          <p:cNvPr id="3" name="Content Placeholder 2"/>
          <p:cNvSpPr>
            <a:spLocks noGrp="1"/>
          </p:cNvSpPr>
          <p:nvPr>
            <p:ph idx="1"/>
          </p:nvPr>
        </p:nvSpPr>
        <p:spPr/>
        <p:txBody>
          <a:bodyPr/>
          <a:lstStyle/>
          <a:p>
            <a:pPr algn="just"/>
            <a:r>
              <a:rPr lang="en-US" dirty="0" err="1"/>
              <a:t>Confea</a:t>
            </a:r>
            <a:r>
              <a:rPr lang="en-US" dirty="0"/>
              <a:t> </a:t>
            </a:r>
            <a:r>
              <a:rPr lang="en-US" dirty="0" err="1"/>
              <a:t>faz</a:t>
            </a:r>
            <a:r>
              <a:rPr lang="en-US" dirty="0"/>
              <a:t> </a:t>
            </a:r>
            <a:r>
              <a:rPr lang="en-US" dirty="0" err="1"/>
              <a:t>consulta</a:t>
            </a:r>
            <a:r>
              <a:rPr lang="en-US" dirty="0"/>
              <a:t> </a:t>
            </a:r>
            <a:r>
              <a:rPr lang="en-US" dirty="0" err="1"/>
              <a:t>pública</a:t>
            </a:r>
            <a:r>
              <a:rPr lang="en-US" dirty="0"/>
              <a:t> </a:t>
            </a:r>
            <a:r>
              <a:rPr lang="en-US" dirty="0" err="1"/>
              <a:t>em</a:t>
            </a:r>
            <a:r>
              <a:rPr lang="en-US" dirty="0"/>
              <a:t> </a:t>
            </a:r>
            <a:r>
              <a:rPr lang="en-US" dirty="0" err="1"/>
              <a:t>setembro</a:t>
            </a:r>
            <a:r>
              <a:rPr lang="en-US" dirty="0"/>
              <a:t> de 2017</a:t>
            </a:r>
          </a:p>
          <a:p>
            <a:pPr algn="just"/>
            <a:r>
              <a:rPr lang="en-US" dirty="0" err="1"/>
              <a:t>Anteprojeto</a:t>
            </a:r>
            <a:r>
              <a:rPr lang="en-US" dirty="0"/>
              <a:t> de </a:t>
            </a:r>
            <a:r>
              <a:rPr lang="en-US" dirty="0" err="1"/>
              <a:t>Resolução</a:t>
            </a:r>
            <a:r>
              <a:rPr lang="en-US" dirty="0"/>
              <a:t> nº 005/2017 - </a:t>
            </a:r>
            <a:r>
              <a:rPr lang="en-US" dirty="0" err="1"/>
              <a:t>Discrimina</a:t>
            </a:r>
            <a:r>
              <a:rPr lang="en-US" dirty="0"/>
              <a:t> as </a:t>
            </a:r>
            <a:r>
              <a:rPr lang="en-US" dirty="0" err="1"/>
              <a:t>atividades</a:t>
            </a:r>
            <a:r>
              <a:rPr lang="en-US" dirty="0"/>
              <a:t> e </a:t>
            </a:r>
            <a:r>
              <a:rPr lang="en-US" dirty="0" err="1"/>
              <a:t>competências</a:t>
            </a:r>
            <a:r>
              <a:rPr lang="en-US" dirty="0"/>
              <a:t> </a:t>
            </a:r>
            <a:r>
              <a:rPr lang="en-US" dirty="0" err="1"/>
              <a:t>profissionais</a:t>
            </a:r>
            <a:r>
              <a:rPr lang="en-US" dirty="0"/>
              <a:t> do </a:t>
            </a:r>
            <a:r>
              <a:rPr lang="en-US" dirty="0" err="1"/>
              <a:t>engenheiro</a:t>
            </a:r>
            <a:r>
              <a:rPr lang="en-US" dirty="0"/>
              <a:t> de software e </a:t>
            </a:r>
            <a:r>
              <a:rPr lang="en-US" dirty="0" err="1"/>
              <a:t>insere</a:t>
            </a:r>
            <a:r>
              <a:rPr lang="en-US" dirty="0"/>
              <a:t> o </a:t>
            </a:r>
            <a:r>
              <a:rPr lang="en-US" dirty="0" err="1"/>
              <a:t>respectivo</a:t>
            </a:r>
            <a:r>
              <a:rPr lang="en-US" dirty="0"/>
              <a:t> </a:t>
            </a:r>
            <a:r>
              <a:rPr lang="en-US" dirty="0" err="1"/>
              <a:t>título</a:t>
            </a:r>
            <a:r>
              <a:rPr lang="en-US" dirty="0"/>
              <a:t> </a:t>
            </a:r>
            <a:r>
              <a:rPr lang="en-US" dirty="0" err="1"/>
              <a:t>na</a:t>
            </a:r>
            <a:r>
              <a:rPr lang="en-US" dirty="0"/>
              <a:t> </a:t>
            </a:r>
            <a:r>
              <a:rPr lang="en-US" dirty="0" err="1"/>
              <a:t>Tabela</a:t>
            </a:r>
            <a:r>
              <a:rPr lang="en-US" dirty="0"/>
              <a:t> de </a:t>
            </a:r>
            <a:r>
              <a:rPr lang="en-US" dirty="0" err="1"/>
              <a:t>Títulos</a:t>
            </a:r>
            <a:r>
              <a:rPr lang="en-US" dirty="0"/>
              <a:t> </a:t>
            </a:r>
            <a:r>
              <a:rPr lang="en-US" dirty="0" err="1"/>
              <a:t>Profissionais</a:t>
            </a:r>
            <a:r>
              <a:rPr lang="en-US" dirty="0"/>
              <a:t> do </a:t>
            </a:r>
            <a:r>
              <a:rPr lang="en-US" dirty="0" err="1"/>
              <a:t>Sistema</a:t>
            </a:r>
            <a:r>
              <a:rPr lang="en-US" dirty="0"/>
              <a:t> </a:t>
            </a:r>
            <a:r>
              <a:rPr lang="en-US" dirty="0" err="1"/>
              <a:t>Confea</a:t>
            </a:r>
            <a:r>
              <a:rPr lang="en-US" dirty="0"/>
              <a:t>/</a:t>
            </a:r>
            <a:r>
              <a:rPr lang="en-US" dirty="0" err="1"/>
              <a:t>Crea</a:t>
            </a:r>
            <a:r>
              <a:rPr lang="en-US" dirty="0"/>
              <a:t>, </a:t>
            </a:r>
            <a:r>
              <a:rPr lang="en-US" dirty="0" err="1"/>
              <a:t>para</a:t>
            </a:r>
            <a:r>
              <a:rPr lang="en-US" dirty="0"/>
              <a:t> </a:t>
            </a:r>
            <a:r>
              <a:rPr lang="en-US" dirty="0" err="1"/>
              <a:t>efeito</a:t>
            </a:r>
            <a:r>
              <a:rPr lang="en-US" dirty="0"/>
              <a:t> de </a:t>
            </a:r>
            <a:r>
              <a:rPr lang="en-US" dirty="0" err="1"/>
              <a:t>fiscalização</a:t>
            </a:r>
            <a:r>
              <a:rPr lang="en-US" dirty="0"/>
              <a:t> do </a:t>
            </a:r>
            <a:r>
              <a:rPr lang="en-US" dirty="0" err="1"/>
              <a:t>exercício</a:t>
            </a:r>
            <a:r>
              <a:rPr lang="en-US" dirty="0"/>
              <a:t> </a:t>
            </a:r>
            <a:r>
              <a:rPr lang="en-US" dirty="0" err="1"/>
              <a:t>profissional</a:t>
            </a:r>
            <a:r>
              <a:rPr lang="en-US" dirty="0"/>
              <a:t>.</a:t>
            </a:r>
          </a:p>
        </p:txBody>
      </p:sp>
      <p:sp>
        <p:nvSpPr>
          <p:cNvPr id="4" name="Date Placeholder 3"/>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6113950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SBC se posiciona contra</a:t>
            </a:r>
          </a:p>
        </p:txBody>
      </p:sp>
      <p:sp>
        <p:nvSpPr>
          <p:cNvPr id="3" name="Content Placeholder 2"/>
          <p:cNvSpPr>
            <a:spLocks noGrp="1"/>
          </p:cNvSpPr>
          <p:nvPr>
            <p:ph idx="1"/>
          </p:nvPr>
        </p:nvSpPr>
        <p:spPr/>
        <p:txBody>
          <a:bodyPr/>
          <a:lstStyle/>
          <a:p>
            <a:pPr algn="just"/>
            <a:r>
              <a:rPr lang="en-US" dirty="0"/>
              <a:t>A </a:t>
            </a:r>
            <a:r>
              <a:rPr lang="en-US" dirty="0" err="1"/>
              <a:t>Sociedade</a:t>
            </a:r>
            <a:r>
              <a:rPr lang="en-US" dirty="0"/>
              <a:t> </a:t>
            </a:r>
            <a:r>
              <a:rPr lang="en-US" dirty="0" err="1"/>
              <a:t>Brasileira</a:t>
            </a:r>
            <a:r>
              <a:rPr lang="en-US" dirty="0"/>
              <a:t> de </a:t>
            </a:r>
            <a:r>
              <a:rPr lang="en-US" dirty="0" err="1"/>
              <a:t>Computação</a:t>
            </a:r>
            <a:r>
              <a:rPr lang="en-US" dirty="0"/>
              <a:t> - SBC, </a:t>
            </a:r>
            <a:r>
              <a:rPr lang="en-US" dirty="0" err="1"/>
              <a:t>entidade</a:t>
            </a:r>
            <a:r>
              <a:rPr lang="en-US" dirty="0"/>
              <a:t> </a:t>
            </a:r>
            <a:r>
              <a:rPr lang="en-US" dirty="0" err="1"/>
              <a:t>privada</a:t>
            </a:r>
            <a:r>
              <a:rPr lang="en-US" dirty="0"/>
              <a:t> </a:t>
            </a:r>
            <a:r>
              <a:rPr lang="en-US" dirty="0" err="1"/>
              <a:t>sem</a:t>
            </a:r>
            <a:r>
              <a:rPr lang="en-US" dirty="0"/>
              <a:t> fins </a:t>
            </a:r>
            <a:r>
              <a:rPr lang="en-US" dirty="0" err="1"/>
              <a:t>lucrativos</a:t>
            </a:r>
            <a:r>
              <a:rPr lang="en-US" dirty="0"/>
              <a:t> </a:t>
            </a:r>
            <a:r>
              <a:rPr lang="en-US" dirty="0" err="1"/>
              <a:t>vem</a:t>
            </a:r>
            <a:r>
              <a:rPr lang="en-US" dirty="0"/>
              <a:t> </a:t>
            </a:r>
            <a:r>
              <a:rPr lang="en-US" dirty="0" err="1"/>
              <a:t>respeitosamente</a:t>
            </a:r>
            <a:r>
              <a:rPr lang="en-US" dirty="0"/>
              <a:t> se </a:t>
            </a:r>
            <a:r>
              <a:rPr lang="en-US" dirty="0" err="1"/>
              <a:t>posicionar</a:t>
            </a:r>
            <a:r>
              <a:rPr lang="en-US" dirty="0"/>
              <a:t> </a:t>
            </a:r>
            <a:r>
              <a:rPr lang="en-US" dirty="0" err="1"/>
              <a:t>contrária</a:t>
            </a:r>
            <a:r>
              <a:rPr lang="en-US" dirty="0"/>
              <a:t> </a:t>
            </a:r>
            <a:r>
              <a:rPr lang="en-US" dirty="0" err="1"/>
              <a:t>ao</a:t>
            </a:r>
            <a:r>
              <a:rPr lang="en-US" dirty="0"/>
              <a:t> </a:t>
            </a:r>
            <a:r>
              <a:rPr lang="en-US" dirty="0" err="1"/>
              <a:t>anteprojeto</a:t>
            </a:r>
            <a:r>
              <a:rPr lang="en-US" dirty="0"/>
              <a:t> de </a:t>
            </a:r>
            <a:r>
              <a:rPr lang="en-US" dirty="0" err="1"/>
              <a:t>Resolução</a:t>
            </a:r>
            <a:r>
              <a:rPr lang="en-US" dirty="0"/>
              <a:t> nº 005/2017 do </a:t>
            </a:r>
            <a:r>
              <a:rPr lang="en-US" dirty="0" err="1"/>
              <a:t>Conselho</a:t>
            </a:r>
            <a:r>
              <a:rPr lang="en-US" dirty="0"/>
              <a:t> Federal de </a:t>
            </a:r>
            <a:r>
              <a:rPr lang="en-US" dirty="0" err="1"/>
              <a:t>Engenharia</a:t>
            </a:r>
            <a:r>
              <a:rPr lang="en-US" dirty="0"/>
              <a:t> e </a:t>
            </a:r>
            <a:r>
              <a:rPr lang="en-US" dirty="0" err="1"/>
              <a:t>Agronomia</a:t>
            </a:r>
            <a:r>
              <a:rPr lang="en-US" dirty="0"/>
              <a:t> (CONFEA), </a:t>
            </a:r>
            <a:r>
              <a:rPr lang="en-US" dirty="0" err="1"/>
              <a:t>que</a:t>
            </a:r>
            <a:r>
              <a:rPr lang="en-US" dirty="0"/>
              <a:t> </a:t>
            </a:r>
            <a:r>
              <a:rPr lang="en-US" dirty="0" err="1"/>
              <a:t>propõe</a:t>
            </a:r>
            <a:r>
              <a:rPr lang="en-US" dirty="0"/>
              <a:t> </a:t>
            </a:r>
            <a:r>
              <a:rPr lang="en-US" dirty="0" err="1"/>
              <a:t>discriminar</a:t>
            </a:r>
            <a:r>
              <a:rPr lang="en-US" dirty="0"/>
              <a:t> as </a:t>
            </a:r>
            <a:r>
              <a:rPr lang="en-US" dirty="0" err="1"/>
              <a:t>atividades</a:t>
            </a:r>
            <a:r>
              <a:rPr lang="en-US" dirty="0"/>
              <a:t> e </a:t>
            </a:r>
            <a:r>
              <a:rPr lang="en-US" dirty="0" err="1"/>
              <a:t>competências</a:t>
            </a:r>
            <a:r>
              <a:rPr lang="en-US" dirty="0"/>
              <a:t> do </a:t>
            </a:r>
            <a:r>
              <a:rPr lang="en-US" dirty="0" err="1"/>
              <a:t>profissional</a:t>
            </a:r>
            <a:r>
              <a:rPr lang="en-US" dirty="0"/>
              <a:t> de </a:t>
            </a:r>
            <a:r>
              <a:rPr lang="en-US" dirty="0" err="1"/>
              <a:t>Engenharia</a:t>
            </a:r>
            <a:r>
              <a:rPr lang="en-US" dirty="0"/>
              <a:t> de Software.</a:t>
            </a:r>
          </a:p>
        </p:txBody>
      </p:sp>
      <p:sp>
        <p:nvSpPr>
          <p:cNvPr id="4" name="Date Placeholder 3"/>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1140096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CONFEA </a:t>
            </a:r>
          </a:p>
        </p:txBody>
      </p:sp>
      <p:sp>
        <p:nvSpPr>
          <p:cNvPr id="3" name="Content Placeholder 2"/>
          <p:cNvSpPr>
            <a:spLocks noGrp="1"/>
          </p:cNvSpPr>
          <p:nvPr>
            <p:ph idx="1"/>
          </p:nvPr>
        </p:nvSpPr>
        <p:spPr/>
        <p:txBody>
          <a:bodyPr>
            <a:normAutofit lnSpcReduction="10000"/>
          </a:bodyPr>
          <a:lstStyle/>
          <a:p>
            <a:pPr algn="just"/>
            <a:r>
              <a:rPr lang="en-US" sz="2200" dirty="0"/>
              <a:t>RESOLUÇÃO Nº 1.100, DE 24 DE MAIO DE 2018</a:t>
            </a:r>
          </a:p>
          <a:p>
            <a:pPr algn="just"/>
            <a:endParaRPr lang="en-US" sz="2200" dirty="0"/>
          </a:p>
          <a:p>
            <a:pPr algn="just"/>
            <a:r>
              <a:rPr lang="en-US" sz="2200" dirty="0" err="1"/>
              <a:t>Discrimina</a:t>
            </a:r>
            <a:r>
              <a:rPr lang="en-US" sz="2200" dirty="0"/>
              <a:t> as </a:t>
            </a:r>
            <a:r>
              <a:rPr lang="en-US" sz="2200" dirty="0" err="1"/>
              <a:t>atividades</a:t>
            </a:r>
            <a:r>
              <a:rPr lang="en-US" sz="2200" dirty="0"/>
              <a:t> e </a:t>
            </a:r>
            <a:r>
              <a:rPr lang="en-US" sz="2200" dirty="0" err="1"/>
              <a:t>competências</a:t>
            </a:r>
            <a:r>
              <a:rPr lang="en-US" sz="2200" dirty="0"/>
              <a:t> </a:t>
            </a:r>
            <a:r>
              <a:rPr lang="en-US" sz="2200" dirty="0" err="1"/>
              <a:t>profissionais</a:t>
            </a:r>
            <a:r>
              <a:rPr lang="en-US" sz="2200" dirty="0"/>
              <a:t> do </a:t>
            </a:r>
            <a:r>
              <a:rPr lang="en-US" sz="2200" dirty="0" err="1"/>
              <a:t>engenheiro</a:t>
            </a:r>
            <a:r>
              <a:rPr lang="en-US" sz="2200" dirty="0"/>
              <a:t> de software e </a:t>
            </a:r>
            <a:r>
              <a:rPr lang="en-US" sz="2200" dirty="0" err="1"/>
              <a:t>insere</a:t>
            </a:r>
            <a:r>
              <a:rPr lang="en-US" sz="2200" dirty="0"/>
              <a:t> o </a:t>
            </a:r>
            <a:r>
              <a:rPr lang="en-US" sz="2200" dirty="0" err="1"/>
              <a:t>respectivo</a:t>
            </a:r>
            <a:r>
              <a:rPr lang="en-US" sz="2200" dirty="0"/>
              <a:t> </a:t>
            </a:r>
            <a:r>
              <a:rPr lang="en-US" sz="2200" dirty="0" err="1"/>
              <a:t>título</a:t>
            </a:r>
            <a:r>
              <a:rPr lang="en-US" sz="2200" dirty="0"/>
              <a:t> </a:t>
            </a:r>
            <a:r>
              <a:rPr lang="en-US" sz="2200" dirty="0" err="1"/>
              <a:t>na</a:t>
            </a:r>
            <a:r>
              <a:rPr lang="en-US" sz="2200" dirty="0"/>
              <a:t> </a:t>
            </a:r>
            <a:r>
              <a:rPr lang="en-US" sz="2200" dirty="0" err="1"/>
              <a:t>Tabela</a:t>
            </a:r>
            <a:r>
              <a:rPr lang="en-US" sz="2200" dirty="0"/>
              <a:t> de </a:t>
            </a:r>
            <a:r>
              <a:rPr lang="en-US" sz="2200" dirty="0" err="1"/>
              <a:t>Títulos</a:t>
            </a:r>
            <a:r>
              <a:rPr lang="en-US" sz="2200" dirty="0"/>
              <a:t> </a:t>
            </a:r>
            <a:r>
              <a:rPr lang="en-US" sz="2200" dirty="0" err="1"/>
              <a:t>Profissionais</a:t>
            </a:r>
            <a:r>
              <a:rPr lang="en-US" sz="2200" dirty="0"/>
              <a:t> do </a:t>
            </a:r>
            <a:r>
              <a:rPr lang="en-US" sz="2200" dirty="0" err="1"/>
              <a:t>Sistema</a:t>
            </a:r>
            <a:r>
              <a:rPr lang="en-US" sz="2200" dirty="0"/>
              <a:t> </a:t>
            </a:r>
            <a:r>
              <a:rPr lang="en-US" sz="2200" dirty="0" err="1"/>
              <a:t>Confea</a:t>
            </a:r>
            <a:r>
              <a:rPr lang="en-US" sz="2200" dirty="0"/>
              <a:t>/</a:t>
            </a:r>
            <a:r>
              <a:rPr lang="en-US" sz="2200" dirty="0" err="1"/>
              <a:t>Crea</a:t>
            </a:r>
            <a:r>
              <a:rPr lang="en-US" sz="2200" dirty="0"/>
              <a:t>, </a:t>
            </a:r>
            <a:r>
              <a:rPr lang="en-US" sz="2200" dirty="0" err="1"/>
              <a:t>para</a:t>
            </a:r>
            <a:r>
              <a:rPr lang="en-US" sz="2200" dirty="0"/>
              <a:t> </a:t>
            </a:r>
            <a:r>
              <a:rPr lang="en-US" sz="2200" dirty="0" err="1"/>
              <a:t>efeito</a:t>
            </a:r>
            <a:r>
              <a:rPr lang="en-US" sz="2200" dirty="0"/>
              <a:t> de </a:t>
            </a:r>
            <a:r>
              <a:rPr lang="en-US" sz="2200" dirty="0" err="1"/>
              <a:t>fiscalização</a:t>
            </a:r>
            <a:r>
              <a:rPr lang="en-US" sz="2200" dirty="0"/>
              <a:t> do </a:t>
            </a:r>
            <a:r>
              <a:rPr lang="en-US" sz="2200" dirty="0" err="1"/>
              <a:t>exercício</a:t>
            </a:r>
            <a:r>
              <a:rPr lang="en-US" sz="2200" dirty="0"/>
              <a:t> </a:t>
            </a:r>
            <a:r>
              <a:rPr lang="en-US" sz="2200" dirty="0" err="1"/>
              <a:t>profissional</a:t>
            </a:r>
            <a:r>
              <a:rPr lang="en-US" sz="2200" dirty="0"/>
              <a:t>.</a:t>
            </a:r>
          </a:p>
          <a:p>
            <a:pPr algn="just"/>
            <a:endParaRPr lang="en-US" sz="2200" dirty="0"/>
          </a:p>
          <a:p>
            <a:pPr algn="just"/>
            <a:r>
              <a:rPr lang="en-US" sz="2200" dirty="0" err="1"/>
              <a:t>Publicado</a:t>
            </a:r>
            <a:r>
              <a:rPr lang="en-US" sz="2200" dirty="0"/>
              <a:t> no DOU </a:t>
            </a:r>
            <a:r>
              <a:rPr lang="en-US" sz="2200" dirty="0" err="1"/>
              <a:t>em</a:t>
            </a:r>
            <a:r>
              <a:rPr lang="en-US" sz="2200" dirty="0"/>
              <a:t> 8 </a:t>
            </a:r>
            <a:r>
              <a:rPr lang="en-US" sz="2200" dirty="0" err="1"/>
              <a:t>jun</a:t>
            </a:r>
            <a:r>
              <a:rPr lang="en-US" sz="2200" dirty="0"/>
              <a:t> 2018</a:t>
            </a:r>
          </a:p>
        </p:txBody>
      </p:sp>
      <p:sp>
        <p:nvSpPr>
          <p:cNvPr id="4" name="Date Placeholder 3"/>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5667625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4"/>
          <p:cNvSpPr>
            <a:spLocks noGrp="1" noChangeArrowheads="1"/>
          </p:cNvSpPr>
          <p:nvPr>
            <p:ph type="title"/>
          </p:nvPr>
        </p:nvSpPr>
        <p:spPr>
          <a:xfrm>
            <a:off x="1043490" y="498434"/>
            <a:ext cx="7024744" cy="1143000"/>
          </a:xfrm>
          <a:ln/>
        </p:spPr>
        <p:txBody>
          <a:bodyPr rIns="132080"/>
          <a:lstStyle/>
          <a:p>
            <a:r>
              <a:rPr lang="en-US"/>
              <a:t>Associações profissionais</a:t>
            </a:r>
          </a:p>
        </p:txBody>
      </p:sp>
      <p:sp>
        <p:nvSpPr>
          <p:cNvPr id="47109" name="Rectangle 5"/>
          <p:cNvSpPr>
            <a:spLocks noGrp="1" noChangeArrowheads="1"/>
          </p:cNvSpPr>
          <p:nvPr>
            <p:ph type="body" idx="1"/>
          </p:nvPr>
        </p:nvSpPr>
        <p:spPr>
          <a:xfrm>
            <a:off x="1043492" y="2023755"/>
            <a:ext cx="6777317" cy="3508977"/>
          </a:xfrm>
          <a:ln/>
        </p:spPr>
        <p:txBody>
          <a:bodyPr rIns="132080">
            <a:normAutofit lnSpcReduction="10000"/>
          </a:bodyPr>
          <a:lstStyle/>
          <a:p>
            <a:pPr algn="just"/>
            <a:r>
              <a:rPr lang="en-US" dirty="0" err="1"/>
              <a:t>Internacionais</a:t>
            </a:r>
            <a:endParaRPr lang="en-US" dirty="0"/>
          </a:p>
          <a:p>
            <a:pPr marL="947738" lvl="1" algn="just"/>
            <a:r>
              <a:rPr lang="en-US" dirty="0"/>
              <a:t>ACM</a:t>
            </a:r>
          </a:p>
          <a:p>
            <a:pPr marL="947738" lvl="1" algn="just"/>
            <a:r>
              <a:rPr lang="en-US" dirty="0"/>
              <a:t>IEEE</a:t>
            </a:r>
          </a:p>
          <a:p>
            <a:pPr algn="just"/>
            <a:r>
              <a:rPr lang="en-US" dirty="0" err="1"/>
              <a:t>Brasileiras</a:t>
            </a:r>
            <a:r>
              <a:rPr lang="en-US" dirty="0"/>
              <a:t> </a:t>
            </a:r>
          </a:p>
          <a:p>
            <a:pPr lvl="1" algn="just"/>
            <a:r>
              <a:rPr lang="en-US" dirty="0" err="1"/>
              <a:t>Sociedade</a:t>
            </a:r>
            <a:r>
              <a:rPr lang="en-US" dirty="0"/>
              <a:t> </a:t>
            </a:r>
            <a:r>
              <a:rPr lang="en-US" dirty="0" err="1"/>
              <a:t>científica</a:t>
            </a:r>
            <a:endParaRPr lang="en-US" dirty="0"/>
          </a:p>
          <a:p>
            <a:pPr lvl="2" algn="just"/>
            <a:r>
              <a:rPr lang="en-US" sz="2400" dirty="0" err="1"/>
              <a:t>Sociedade</a:t>
            </a:r>
            <a:r>
              <a:rPr lang="en-US" sz="2400" dirty="0"/>
              <a:t> </a:t>
            </a:r>
            <a:r>
              <a:rPr lang="en-US" sz="2400" dirty="0" err="1"/>
              <a:t>Brasileira</a:t>
            </a:r>
            <a:r>
              <a:rPr lang="en-US" sz="2400" dirty="0"/>
              <a:t> de </a:t>
            </a:r>
            <a:r>
              <a:rPr lang="en-US" sz="2400" dirty="0" err="1"/>
              <a:t>Computação</a:t>
            </a:r>
            <a:endParaRPr lang="en-US" sz="2400" dirty="0"/>
          </a:p>
          <a:p>
            <a:pPr lvl="1" algn="just"/>
            <a:r>
              <a:rPr lang="en-US" sz="2400" dirty="0" err="1"/>
              <a:t>Conselhos</a:t>
            </a:r>
            <a:r>
              <a:rPr lang="en-US" sz="2400" dirty="0"/>
              <a:t> de </a:t>
            </a:r>
            <a:r>
              <a:rPr lang="en-US" sz="2400" dirty="0" err="1"/>
              <a:t>fiscalização</a:t>
            </a:r>
            <a:r>
              <a:rPr lang="en-US" sz="2400" dirty="0"/>
              <a:t> da </a:t>
            </a:r>
            <a:r>
              <a:rPr lang="en-US" sz="2400" dirty="0" err="1"/>
              <a:t>atividade</a:t>
            </a:r>
            <a:r>
              <a:rPr lang="en-US" sz="2400" dirty="0"/>
              <a:t> </a:t>
            </a:r>
            <a:r>
              <a:rPr lang="en-US" sz="2400" dirty="0" err="1"/>
              <a:t>profissional</a:t>
            </a:r>
            <a:r>
              <a:rPr lang="en-US" sz="2400" dirty="0"/>
              <a:t> </a:t>
            </a:r>
          </a:p>
          <a:p>
            <a:pPr marL="947738" lvl="1" algn="just"/>
            <a:r>
              <a:rPr lang="en-US" dirty="0"/>
              <a:t>CONFEA/CREA</a:t>
            </a:r>
          </a:p>
        </p:txBody>
      </p:sp>
      <p:sp>
        <p:nvSpPr>
          <p:cNvPr id="2" name="Date Placeholder 1"/>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2361424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Austin.thmx</Template>
  <TotalTime>54189</TotalTime>
  <Words>4012</Words>
  <Application>Microsoft Office PowerPoint</Application>
  <PresentationFormat>Apresentação na tela (4:3)</PresentationFormat>
  <Paragraphs>286</Paragraphs>
  <Slides>42</Slides>
  <Notes>18</Notes>
  <HiddenSlides>0</HiddenSlides>
  <MMClips>0</MMClips>
  <ScaleCrop>false</ScaleCrop>
  <HeadingPairs>
    <vt:vector size="4" baseType="variant">
      <vt:variant>
        <vt:lpstr>Tema</vt:lpstr>
      </vt:variant>
      <vt:variant>
        <vt:i4>1</vt:i4>
      </vt:variant>
      <vt:variant>
        <vt:lpstr>Títulos de slides</vt:lpstr>
      </vt:variant>
      <vt:variant>
        <vt:i4>42</vt:i4>
      </vt:variant>
    </vt:vector>
  </HeadingPairs>
  <TitlesOfParts>
    <vt:vector size="43" baseType="lpstr">
      <vt:lpstr>Austin</vt:lpstr>
      <vt:lpstr>O que é Engenharia de Software?</vt:lpstr>
      <vt:lpstr>Engenharia de software =  ciência da computação?</vt:lpstr>
      <vt:lpstr>A engenharia de software tolhe a arte?</vt:lpstr>
      <vt:lpstr>A engenharia de software é uma engenharia?</vt:lpstr>
      <vt:lpstr>Definição de “Engenharia”</vt:lpstr>
      <vt:lpstr>Definição de “Engenharia de Software”</vt:lpstr>
      <vt:lpstr>Como a ES se assemelha a outras engenharias?</vt:lpstr>
      <vt:lpstr>Engenharia de software =  ciência da computação?</vt:lpstr>
      <vt:lpstr>Histórico</vt:lpstr>
      <vt:lpstr>Evolução de uma engenharia</vt:lpstr>
      <vt:lpstr>Evolução da ES</vt:lpstr>
      <vt:lpstr>Mitos</vt:lpstr>
      <vt:lpstr>A construção da casa da Ópera</vt:lpstr>
      <vt:lpstr>A construção da casa da Ópera</vt:lpstr>
      <vt:lpstr>Como a ES é diferente de outras engenharias?</vt:lpstr>
      <vt:lpstr>Uma disciplina de descrições</vt:lpstr>
      <vt:lpstr>Uma disciplina de descrições</vt:lpstr>
      <vt:lpstr>Software se deteriora com o tempo</vt:lpstr>
      <vt:lpstr>Especialização por atividade</vt:lpstr>
      <vt:lpstr>Especialização por domínio</vt:lpstr>
      <vt:lpstr>Estratificação</vt:lpstr>
      <vt:lpstr>Duas atividades de engenharia</vt:lpstr>
      <vt:lpstr>Aspectos legais</vt:lpstr>
      <vt:lpstr>Licenciamento e certificação</vt:lpstr>
      <vt:lpstr>Licenciamento e regulamentação</vt:lpstr>
      <vt:lpstr>Licenciamento e regulamentação</vt:lpstr>
      <vt:lpstr>Licenciamento e regulamentação</vt:lpstr>
      <vt:lpstr>Corpo de conhecimento</vt:lpstr>
      <vt:lpstr>Código de ética</vt:lpstr>
      <vt:lpstr>Leis da Robótica</vt:lpstr>
      <vt:lpstr>ACM/IEEE Software Engineering Code of Ethics</vt:lpstr>
      <vt:lpstr>Conselhos de profissão</vt:lpstr>
      <vt:lpstr>Conselho de Auto-regulação</vt:lpstr>
      <vt:lpstr>PL 4408/2016</vt:lpstr>
      <vt:lpstr>PL 4408/2016</vt:lpstr>
      <vt:lpstr>PL 4408/2016</vt:lpstr>
      <vt:lpstr>PL 4408/2016</vt:lpstr>
      <vt:lpstr>PL 3065/2015</vt:lpstr>
      <vt:lpstr>Consulta Pública</vt:lpstr>
      <vt:lpstr>SBC se posiciona contra</vt:lpstr>
      <vt:lpstr>CONFEA </vt:lpstr>
      <vt:lpstr>Associações profissionais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Fundamentos de Engenharia de Software</dc:title>
  <dc:creator>Anonymous Reviewer</dc:creator>
  <cp:lastModifiedBy>Hp</cp:lastModifiedBy>
  <cp:revision>223</cp:revision>
  <cp:lastPrinted>2016-10-07T22:52:54Z</cp:lastPrinted>
  <dcterms:created xsi:type="dcterms:W3CDTF">2016-02-04T13:02:28Z</dcterms:created>
  <dcterms:modified xsi:type="dcterms:W3CDTF">2021-11-22T13:41:47Z</dcterms:modified>
</cp:coreProperties>
</file>