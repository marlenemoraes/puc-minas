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7"/>
  </p:notesMasterIdLst>
  <p:handoutMasterIdLst>
    <p:handoutMasterId r:id="rId18"/>
  </p:handoutMasterIdLst>
  <p:sldIdLst>
    <p:sldId id="25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5" r:id="rId10"/>
    <p:sldId id="406" r:id="rId11"/>
    <p:sldId id="407" r:id="rId12"/>
    <p:sldId id="408" r:id="rId13"/>
    <p:sldId id="412" r:id="rId14"/>
    <p:sldId id="413" r:id="rId15"/>
    <p:sldId id="39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0FF5C-CF59-81E0-72CA-F5177762B27A}" v="168" dt="2020-06-01T21:03:22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132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Augusta Vieira Nelson" userId="S::442644@sga.pucminas.br::8d683c79-37cc-4624-9ea7-8f42da2488cf" providerId="AD" clId="Web-{F6A0FF5C-CF59-81E0-72CA-F5177762B27A}"/>
    <pc:docChg chg="modSld">
      <pc:chgData name="Maria Augusta Vieira Nelson" userId="S::442644@sga.pucminas.br::8d683c79-37cc-4624-9ea7-8f42da2488cf" providerId="AD" clId="Web-{F6A0FF5C-CF59-81E0-72CA-F5177762B27A}" dt="2020-06-01T21:03:22.244" v="167" actId="20577"/>
      <pc:docMkLst>
        <pc:docMk/>
      </pc:docMkLst>
      <pc:sldChg chg="modSp">
        <pc:chgData name="Maria Augusta Vieira Nelson" userId="S::442644@sga.pucminas.br::8d683c79-37cc-4624-9ea7-8f42da2488cf" providerId="AD" clId="Web-{F6A0FF5C-CF59-81E0-72CA-F5177762B27A}" dt="2020-06-01T21:03:22.244" v="166" actId="20577"/>
        <pc:sldMkLst>
          <pc:docMk/>
          <pc:sldMk cId="0" sldId="396"/>
        </pc:sldMkLst>
        <pc:spChg chg="mod">
          <ac:chgData name="Maria Augusta Vieira Nelson" userId="S::442644@sga.pucminas.br::8d683c79-37cc-4624-9ea7-8f42da2488cf" providerId="AD" clId="Web-{F6A0FF5C-CF59-81E0-72CA-F5177762B27A}" dt="2020-06-01T21:03:22.244" v="166" actId="20577"/>
          <ac:spMkLst>
            <pc:docMk/>
            <pc:sldMk cId="0" sldId="396"/>
            <ac:spMk id="23040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6AE0-4810-5348-A8AB-5F6ECB8E3C81}" type="datetimeFigureOut">
              <a:t>6/1/2020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12E94-63E8-B147-ACF0-C6EAF51DAF16}" type="datetimeFigureOut">
              <a:t>6/1/2020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BA6FDD-8115-904F-A55C-44E337E17C41}" type="slidenum">
              <a:rPr lang="en-US"/>
              <a:pPr/>
              <a:t>2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Zuse e Horst 1991 – “</a:t>
            </a:r>
            <a:r>
              <a:rPr lang="en-US"/>
              <a:t>Software Complexity: Measures and Methods</a:t>
            </a:r>
            <a:r>
              <a:rPr lang="ja-JP" altLang="en-US">
                <a:latin typeface="Arial"/>
              </a:rPr>
              <a:t>”</a:t>
            </a:r>
            <a:endParaRPr lang="en-US"/>
          </a:p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B4C04-6B2E-B24A-8BA6-B772BB71D7F4}" type="slidenum">
              <a:rPr lang="en-US"/>
              <a:pPr/>
              <a:t>3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F8900D-9A34-8540-B9D7-428E5928DD3E}" type="slidenum">
              <a:rPr lang="en-US"/>
              <a:pPr/>
              <a:t>4</a:t>
            </a:fld>
            <a:endParaRPr 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C82E25-755F-7C40-B6A6-6C884E8AA20D}" type="slidenum">
              <a:rPr lang="en-US"/>
              <a:pPr/>
              <a:t>5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6F67F2-D151-EC45-9473-734EEDB3ADA3}" type="slidenum">
              <a:rPr lang="en-US"/>
              <a:pPr/>
              <a:t>6</a:t>
            </a:fld>
            <a:endParaRPr lang="en-US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008A19-7C32-E541-8A61-376D3480D845}" type="slidenum">
              <a:rPr lang="en-US"/>
              <a:pPr/>
              <a:t>7</a:t>
            </a:fld>
            <a:endParaRPr lang="en-US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BF7DB-2BB6-F24D-9F3F-6C3D0357F097}" type="slidenum">
              <a:rPr lang="en-US"/>
              <a:pPr/>
              <a:t>8</a:t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73677-0C02-194C-9036-A84BD4161574}" type="slidenum">
              <a:rPr lang="en-US"/>
              <a:pPr/>
              <a:t>9</a:t>
            </a:fld>
            <a:endParaRPr lang="en-US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BC7B4A-6F9B-3943-B914-B8128D11F2FE}" type="slidenum">
              <a:rPr lang="en-US"/>
              <a:pPr/>
              <a:t>10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5EA9FF-B0FA-C94B-9249-F86644416ECA}" type="slidenum">
              <a:rPr lang="en-US"/>
              <a:pPr/>
              <a:t>11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90C747-0C7F-6C48-BA0C-A78128E7FC25}" type="slidenum">
              <a:rPr lang="en-US"/>
              <a:pPr/>
              <a:t>12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November 29, 2021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D24919B4-1272-1748-ABD2-10D0CB5F2370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72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November 29,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1" y="2505518"/>
            <a:ext cx="4547547" cy="2179694"/>
          </a:xfrm>
        </p:spPr>
        <p:txBody>
          <a:bodyPr/>
          <a:lstStyle/>
          <a:p>
            <a:r>
              <a:rPr lang="en-US"/>
              <a:t>Métricas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/>
          <a:lstStyle/>
          <a:p>
            <a:r>
              <a:rPr lang="en-US"/>
              <a:t>Maria Augusta Vieira Nelson</a:t>
            </a:r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912812"/>
            <a:ext cx="8001000" cy="1216025"/>
          </a:xfrm>
        </p:spPr>
        <p:txBody>
          <a:bodyPr/>
          <a:lstStyle/>
          <a:p>
            <a:r>
              <a:rPr lang="en-US" sz="3200"/>
              <a:t>Propriedades desejáveis de uma métrica</a:t>
            </a:r>
            <a:endParaRPr lang="pt-BR" sz="320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4818" y="2599368"/>
            <a:ext cx="7230027" cy="2992871"/>
          </a:xfrm>
        </p:spPr>
        <p:txBody>
          <a:bodyPr/>
          <a:lstStyle/>
          <a:p>
            <a:pPr marL="342900" indent="-342900"/>
            <a:r>
              <a:rPr lang="pt-BR" sz="2400"/>
              <a:t>Fácil de computar, compreender e testar</a:t>
            </a:r>
          </a:p>
          <a:p>
            <a:pPr marL="342900" indent="-342900"/>
            <a:r>
              <a:rPr lang="pt-BR" sz="2400"/>
              <a:t>Passível de análise estatística</a:t>
            </a:r>
          </a:p>
          <a:p>
            <a:pPr marL="342900" indent="-342900"/>
            <a:r>
              <a:rPr lang="pt-BR" sz="2400"/>
              <a:t>Passível de automação</a:t>
            </a:r>
          </a:p>
          <a:p>
            <a:pPr marL="342900" indent="-342900"/>
            <a:r>
              <a:rPr lang="pt-BR" sz="2400"/>
              <a:t>Repetível</a:t>
            </a:r>
          </a:p>
          <a:p>
            <a:pPr marL="342900" indent="-342900"/>
            <a:r>
              <a:rPr lang="pt-BR" sz="2400"/>
              <a:t>Independente do observador</a:t>
            </a:r>
          </a:p>
          <a:p>
            <a:pPr marL="342900" indent="-342900"/>
            <a:r>
              <a:rPr lang="pt-BR" sz="2400"/>
              <a:t>Indicativa de estratégias de melhoria</a:t>
            </a:r>
            <a:endParaRPr lang="en-CA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e medições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9538" y="1805523"/>
            <a:ext cx="7230027" cy="4267200"/>
          </a:xfrm>
        </p:spPr>
        <p:txBody>
          <a:bodyPr/>
          <a:lstStyle/>
          <a:p>
            <a:pPr marL="342900" indent="-342900"/>
            <a:r>
              <a:rPr lang="pt-BR" sz="2400"/>
              <a:t>... coletar medida é difícil...</a:t>
            </a:r>
          </a:p>
          <a:p>
            <a:pPr marL="342900" indent="-342900"/>
            <a:r>
              <a:rPr lang="pt-BR" sz="2400"/>
              <a:t>... demora muito...</a:t>
            </a:r>
          </a:p>
          <a:p>
            <a:pPr marL="342900" indent="-342900"/>
            <a:r>
              <a:rPr lang="pt-BR" sz="2400"/>
              <a:t>... é uma tarefa política ...</a:t>
            </a:r>
          </a:p>
          <a:p>
            <a:pPr marL="342900" indent="-342900"/>
            <a:r>
              <a:rPr lang="pt-BR" sz="2400"/>
              <a:t>... não serei capaz de provar nada ...</a:t>
            </a:r>
          </a:p>
          <a:p>
            <a:pPr marL="342900" indent="-342900"/>
            <a:endParaRPr lang="pt-BR" sz="2400"/>
          </a:p>
          <a:p>
            <a:pPr marL="342900" indent="-342900"/>
            <a:r>
              <a:rPr lang="pt-BR" sz="2400"/>
              <a:t>Qualquer coisa que você precisa quantificar pode ser medido de alguma forma que é uma medida melhor do que medida nenhuma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8037512" cy="4267200"/>
          </a:xfrm>
        </p:spPr>
        <p:txBody>
          <a:bodyPr/>
          <a:lstStyle/>
          <a:p>
            <a:pPr marL="342900" indent="-342900"/>
            <a:r>
              <a:rPr lang="en-US" sz="2400"/>
              <a:t>Para caracterizar</a:t>
            </a:r>
          </a:p>
          <a:p>
            <a:pPr marL="342900" indent="-342900"/>
            <a:r>
              <a:rPr lang="en-US" sz="2400"/>
              <a:t>Para avaliar</a:t>
            </a:r>
          </a:p>
          <a:p>
            <a:pPr marL="342900" indent="-342900"/>
            <a:r>
              <a:rPr lang="en-US" sz="2400"/>
              <a:t>Para estimar</a:t>
            </a:r>
          </a:p>
          <a:p>
            <a:pPr marL="342900" indent="-342900"/>
            <a:r>
              <a:rPr lang="en-US" sz="2400"/>
              <a:t>Para melhorar</a:t>
            </a:r>
          </a:p>
          <a:p>
            <a:pPr marL="342900" indent="-342900"/>
            <a:endParaRPr lang="en-US" sz="2400"/>
          </a:p>
          <a:p>
            <a:pPr marL="342900" indent="-342900">
              <a:buFont typeface="Wingdings" charset="0"/>
              <a:buNone/>
            </a:pPr>
            <a:r>
              <a:rPr lang="en-US" sz="3200">
                <a:solidFill>
                  <a:schemeClr val="bg2">
                    <a:lumMod val="50000"/>
                  </a:schemeClr>
                </a:solidFill>
              </a:rPr>
              <a:t>O que medir?</a:t>
            </a:r>
          </a:p>
          <a:p>
            <a:pPr marL="342900" indent="-342900"/>
            <a:r>
              <a:rPr lang="en-US" sz="2400"/>
              <a:t>processo</a:t>
            </a:r>
          </a:p>
          <a:p>
            <a:pPr marL="342900" indent="-342900"/>
            <a:r>
              <a:rPr lang="en-US" sz="2400"/>
              <a:t>projeto</a:t>
            </a:r>
          </a:p>
          <a:p>
            <a:pPr marL="342900" indent="-342900"/>
            <a:r>
              <a:rPr lang="en-US" sz="2400"/>
              <a:t>produto</a:t>
            </a:r>
          </a:p>
          <a:p>
            <a:pPr marL="342900" indent="-342900"/>
            <a:endParaRPr lang="en-US" sz="2400"/>
          </a:p>
          <a:p>
            <a:pPr marL="342900" indent="-342900"/>
            <a:endParaRPr lang="pt-BR" sz="3200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Por quê medir?</a:t>
            </a:r>
          </a:p>
        </p:txBody>
      </p:sp>
      <p:sp>
        <p:nvSpPr>
          <p:cNvPr id="279556" name="Text Box 4"/>
          <p:cNvSpPr txBox="1">
            <a:spLocks noChangeArrowheads="1"/>
          </p:cNvSpPr>
          <p:nvPr/>
        </p:nvSpPr>
        <p:spPr bwMode="auto">
          <a:xfrm>
            <a:off x="5019675" y="4210050"/>
            <a:ext cx="3297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BR"/>
          </a:p>
        </p:txBody>
      </p:sp>
      <p:sp>
        <p:nvSpPr>
          <p:cNvPr id="279557" name="Text Box 5"/>
          <p:cNvSpPr txBox="1">
            <a:spLocks noChangeArrowheads="1"/>
          </p:cNvSpPr>
          <p:nvPr/>
        </p:nvSpPr>
        <p:spPr bwMode="auto">
          <a:xfrm>
            <a:off x="5292725" y="2852738"/>
            <a:ext cx="2879725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3200">
                <a:solidFill>
                  <a:schemeClr val="accent1">
                    <a:lumMod val="75000"/>
                  </a:schemeClr>
                </a:solidFill>
              </a:rPr>
              <a:t>O que usar como base?</a:t>
            </a:r>
          </a:p>
          <a:p>
            <a:pPr marL="342900" indent="-342900">
              <a:spcBef>
                <a:spcPct val="50000"/>
              </a:spcBef>
              <a:buClr>
                <a:schemeClr val="accent2"/>
              </a:buClr>
              <a:buFont typeface="Arial"/>
              <a:buChar char="•"/>
            </a:pPr>
            <a:r>
              <a:rPr lang="pt-BR" sz="2400"/>
              <a:t>Tamanho</a:t>
            </a:r>
          </a:p>
          <a:p>
            <a:pPr marL="342900" indent="-342900">
              <a:spcBef>
                <a:spcPct val="50000"/>
              </a:spcBef>
              <a:buClr>
                <a:schemeClr val="accent2"/>
              </a:buClr>
              <a:buFont typeface="Arial"/>
              <a:buChar char="•"/>
            </a:pPr>
            <a:r>
              <a:rPr lang="pt-BR" sz="2400"/>
              <a:t>funcionalidade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de processo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2452" y="1752600"/>
            <a:ext cx="6983071" cy="4267200"/>
          </a:xfrm>
        </p:spPr>
        <p:txBody>
          <a:bodyPr/>
          <a:lstStyle/>
          <a:p>
            <a:pPr marL="342900" indent="-342900"/>
            <a:r>
              <a:rPr lang="en-US" sz="2400"/>
              <a:t>a maioria concentra-se na qualidade obtida como consequência de um processo repetível e gerenciado </a:t>
            </a:r>
          </a:p>
          <a:p>
            <a:pPr marL="342900" indent="-342900"/>
            <a:r>
              <a:rPr lang="en-US" sz="2400"/>
              <a:t>análise estatística de dados obtidos nas atividades de garantia da qualidade do software</a:t>
            </a:r>
          </a:p>
          <a:p>
            <a:pPr marL="742950" lvl="1" indent="-285750"/>
            <a:r>
              <a:rPr lang="en-US" sz="2000"/>
              <a:t> categorização e análise de erros</a:t>
            </a:r>
          </a:p>
          <a:p>
            <a:pPr marL="342900" indent="-342900"/>
            <a:r>
              <a:rPr lang="en-US" sz="2400"/>
              <a:t>eficiência na remoção de defeitos</a:t>
            </a:r>
          </a:p>
          <a:p>
            <a:pPr marL="342900" indent="-342900"/>
            <a:r>
              <a:rPr lang="en-US" sz="2400"/>
              <a:t>dados sobre reutilização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de projeto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25371" y="1752600"/>
            <a:ext cx="6806673" cy="4267200"/>
          </a:xfrm>
        </p:spPr>
        <p:txBody>
          <a:bodyPr/>
          <a:lstStyle/>
          <a:p>
            <a:pPr marL="342900" indent="-342900"/>
            <a:r>
              <a:rPr lang="en-US" sz="2400"/>
              <a:t>Esforço/tempo por tarefa da engenharia de software</a:t>
            </a:r>
          </a:p>
          <a:p>
            <a:pPr marL="342900" indent="-342900"/>
            <a:r>
              <a:rPr lang="en-US" sz="2400"/>
              <a:t>Erros revelados por hora de revisão</a:t>
            </a:r>
          </a:p>
          <a:p>
            <a:pPr marL="342900" indent="-342900"/>
            <a:r>
              <a:rPr lang="en-US" sz="2400"/>
              <a:t>datas de marcos planejadas X reais</a:t>
            </a:r>
          </a:p>
          <a:p>
            <a:pPr marL="342900" indent="-342900"/>
            <a:r>
              <a:rPr lang="en-US" sz="2400"/>
              <a:t>Número de mudanças e suas características</a:t>
            </a:r>
          </a:p>
          <a:p>
            <a:pPr marL="342900" indent="-342900"/>
            <a:r>
              <a:rPr lang="en-US" sz="2400"/>
              <a:t>Distribuição do esforço nas tarefas de engenharia de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de produto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66618" y="1752600"/>
            <a:ext cx="7141828" cy="4267200"/>
          </a:xfrm>
        </p:spPr>
        <p:txBody>
          <a:bodyPr/>
          <a:lstStyle/>
          <a:p>
            <a:pPr marL="342900" indent="-342900"/>
            <a:r>
              <a:rPr lang="en-US" sz="2400"/>
              <a:t>concentram-se na qualidade dos artefatos a serem entregues</a:t>
            </a:r>
          </a:p>
          <a:p>
            <a:pPr marL="342900" indent="-342900"/>
            <a:r>
              <a:rPr lang="en-US" sz="2400"/>
              <a:t>medições feitas no modelo de análise</a:t>
            </a:r>
          </a:p>
          <a:p>
            <a:pPr marL="342900" indent="-342900"/>
            <a:r>
              <a:rPr lang="en-US" sz="2400"/>
              <a:t>medições da complexidade do projeto </a:t>
            </a:r>
          </a:p>
          <a:p>
            <a:pPr marL="742950" lvl="1" indent="-285750"/>
            <a:r>
              <a:rPr lang="en-US" sz="2000"/>
              <a:t>complexidade interna do algoritmo</a:t>
            </a:r>
          </a:p>
          <a:p>
            <a:pPr marL="742950" lvl="1" indent="-285750">
              <a:lnSpc>
                <a:spcPct val="60000"/>
              </a:lnSpc>
            </a:pPr>
            <a:r>
              <a:rPr lang="en-US" sz="2000"/>
              <a:t>complexidade arquitetural</a:t>
            </a:r>
          </a:p>
          <a:p>
            <a:pPr marL="742950" lvl="1" indent="-285750">
              <a:lnSpc>
                <a:spcPct val="60000"/>
              </a:lnSpc>
            </a:pPr>
            <a:r>
              <a:rPr lang="en-US" sz="2000"/>
              <a:t>complexidade do fluxo de dados</a:t>
            </a:r>
          </a:p>
          <a:p>
            <a:pPr marL="342900" indent="-342900"/>
            <a:r>
              <a:rPr lang="en-US" sz="2400"/>
              <a:t>medições de código </a:t>
            </a:r>
          </a:p>
          <a:p>
            <a:pPr marL="342900" indent="-342900"/>
            <a:r>
              <a:rPr lang="en-US" sz="2400"/>
              <a:t>medições da eficiência do processo</a:t>
            </a:r>
          </a:p>
          <a:p>
            <a:pPr marL="742950" lvl="1" indent="-285750"/>
            <a:r>
              <a:rPr lang="en-US" sz="2000"/>
              <a:t>ex.: eficiência da remoção de defeitos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Diretrizes para as Métricas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1334" y="1579874"/>
            <a:ext cx="7547542" cy="4629150"/>
          </a:xfrm>
        </p:spPr>
        <p:txBody>
          <a:bodyPr/>
          <a:lstStyle/>
          <a:p>
            <a:pPr marL="342900" indent="-342900"/>
            <a:r>
              <a:rPr lang="en-US" sz="2000"/>
              <a:t>Use o bom senso ao interpretar dados de métricas.</a:t>
            </a:r>
          </a:p>
          <a:p>
            <a:pPr marL="342900" indent="-342900"/>
            <a:r>
              <a:rPr lang="en-US" sz="2000"/>
              <a:t>Forneça feedback regularmente aos indivíduos e aos times que trabalham na coleta das medições e métricas</a:t>
            </a:r>
          </a:p>
          <a:p>
            <a:pPr marL="342900" indent="-342900"/>
            <a:r>
              <a:rPr lang="en-US" sz="2000"/>
              <a:t>Não use as métricas para vangloriar indivíduos</a:t>
            </a:r>
          </a:p>
          <a:p>
            <a:pPr marL="342900" indent="-342900"/>
            <a:r>
              <a:rPr lang="en-US" sz="2000"/>
              <a:t>Não use as métricas para pressionar pessoas</a:t>
            </a:r>
          </a:p>
          <a:p>
            <a:pPr marL="342900" indent="-342900"/>
            <a:r>
              <a:rPr lang="en-US" sz="2000"/>
              <a:t>Trabalhe com desenvolvedores e equipes para estabelecer metas claras e métricas que serão usadas para alcançá-las</a:t>
            </a:r>
          </a:p>
          <a:p>
            <a:pPr marL="342900" indent="-342900"/>
            <a:r>
              <a:rPr lang="en-US" sz="2000"/>
              <a:t>Dados de métricas que indicam problemas não devem ser considerados </a:t>
            </a:r>
            <a:r>
              <a:rPr lang="ja-JP" altLang="en-US" sz="2000">
                <a:latin typeface="Arial"/>
              </a:rPr>
              <a:t>“</a:t>
            </a:r>
            <a:r>
              <a:rPr lang="en-US" sz="2000"/>
              <a:t>negativos</a:t>
            </a:r>
            <a:r>
              <a:rPr lang="ja-JP" altLang="en-US" sz="2000">
                <a:latin typeface="Arial"/>
              </a:rPr>
              <a:t>”</a:t>
            </a:r>
            <a:r>
              <a:rPr lang="en-US" sz="2000"/>
              <a:t>. Os dados são apenas indicadores para melhorias no processo.</a:t>
            </a:r>
          </a:p>
          <a:p>
            <a:pPr marL="342900" indent="-342900"/>
            <a:r>
              <a:rPr lang="en-US" sz="2000"/>
              <a:t>Não fique obcecado com uma única métrica e ignore outras métricas importantes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3435" y="854116"/>
            <a:ext cx="7716003" cy="1216025"/>
          </a:xfrm>
        </p:spPr>
        <p:txBody>
          <a:bodyPr/>
          <a:lstStyle/>
          <a:p>
            <a:r>
              <a:rPr lang="pt-BR"/>
              <a:t>Métricas orientadas por tamanho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7731" y="2070141"/>
            <a:ext cx="7124188" cy="4124325"/>
          </a:xfrm>
        </p:spPr>
        <p:txBody>
          <a:bodyPr/>
          <a:lstStyle/>
          <a:p>
            <a:pPr marL="342900" indent="-342900"/>
            <a:r>
              <a:rPr lang="en-US" sz="2400" dirty="0" err="1"/>
              <a:t>erros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KLOC (thousand lines of code)</a:t>
            </a:r>
          </a:p>
          <a:p>
            <a:pPr marL="342900" indent="-342900"/>
            <a:r>
              <a:rPr lang="en-US" sz="2400" dirty="0" err="1"/>
              <a:t>defeitos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KLOC</a:t>
            </a:r>
          </a:p>
          <a:p>
            <a:pPr marL="342900" indent="-342900"/>
            <a:r>
              <a:rPr lang="en-US" sz="2400" dirty="0"/>
              <a:t>$ </a:t>
            </a:r>
            <a:r>
              <a:rPr lang="en-US" sz="2400" dirty="0" err="1"/>
              <a:t>por</a:t>
            </a:r>
            <a:r>
              <a:rPr lang="en-US" sz="2400" dirty="0"/>
              <a:t> LOC</a:t>
            </a:r>
          </a:p>
          <a:p>
            <a:pPr marL="342900" indent="-342900"/>
            <a:r>
              <a:rPr lang="en-US" sz="2400" dirty="0" err="1"/>
              <a:t>página</a:t>
            </a:r>
            <a:r>
              <a:rPr lang="en-US" sz="2400" dirty="0"/>
              <a:t> de </a:t>
            </a:r>
            <a:r>
              <a:rPr lang="en-US" sz="2400" dirty="0" err="1"/>
              <a:t>documentação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KLOC</a:t>
            </a:r>
          </a:p>
          <a:p>
            <a:pPr marL="342900" indent="-342900"/>
            <a:r>
              <a:rPr lang="en-US" sz="2400" dirty="0" err="1"/>
              <a:t>erros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pessoa-mês</a:t>
            </a:r>
            <a:endParaRPr lang="en-US" sz="2400" dirty="0"/>
          </a:p>
          <a:p>
            <a:pPr marL="342900" indent="-342900"/>
            <a:r>
              <a:rPr lang="en-US" sz="2400" dirty="0"/>
              <a:t>LOC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pessoa-mês</a:t>
            </a:r>
            <a:endParaRPr lang="en-US" sz="2400" dirty="0"/>
          </a:p>
          <a:p>
            <a:pPr marL="342900" indent="-342900"/>
            <a:r>
              <a:rPr lang="en-US" sz="2400" dirty="0"/>
              <a:t>$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página</a:t>
            </a:r>
            <a:r>
              <a:rPr lang="en-US" sz="2400" dirty="0"/>
              <a:t> de </a:t>
            </a:r>
            <a:r>
              <a:rPr lang="en-US" sz="2400" dirty="0" err="1"/>
              <a:t>documentação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de tamanho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25498" y="1840805"/>
            <a:ext cx="7494623" cy="4267200"/>
          </a:xfrm>
        </p:spPr>
        <p:txBody>
          <a:bodyPr/>
          <a:lstStyle/>
          <a:p>
            <a:pPr marL="342900" indent="-342900"/>
            <a:r>
              <a:rPr lang="pt-BR" sz="2400"/>
              <a:t>Uma boa métrica de tamanho deve:</a:t>
            </a:r>
          </a:p>
          <a:p>
            <a:pPr marL="742950" lvl="1" indent="-285750"/>
            <a:r>
              <a:rPr lang="pt-BR" sz="2000"/>
              <a:t>poder ser deduzida dos requisitos;</a:t>
            </a:r>
          </a:p>
          <a:p>
            <a:pPr marL="742950" lvl="1" indent="-285750"/>
            <a:r>
              <a:rPr lang="pt-BR" sz="2000"/>
              <a:t>ter boa correlação com o esforço de desenvolvimento;</a:t>
            </a:r>
          </a:p>
          <a:p>
            <a:pPr marL="742950" lvl="1" indent="-285750"/>
            <a:r>
              <a:rPr lang="pt-BR" sz="2000">
                <a:cs typeface="Times New Roman" charset="0"/>
              </a:rPr>
              <a:t>ser contável através de um procedimento bem definido;</a:t>
            </a:r>
            <a:r>
              <a:rPr lang="pt-BR" sz="2000"/>
              <a:t> </a:t>
            </a:r>
          </a:p>
          <a:p>
            <a:pPr marL="1143000" lvl="2" indent="-228600"/>
            <a:r>
              <a:rPr lang="pt-BR" sz="2000"/>
              <a:t>ser facilmente mensurável quando o trabalho está completo;</a:t>
            </a:r>
          </a:p>
          <a:p>
            <a:pPr marL="1143000" lvl="2" indent="-228600"/>
            <a:r>
              <a:rPr lang="pt-BR" sz="2000"/>
              <a:t>para comparar valores estimados e valores reais.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Métricas orientadas por função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1893" y="1829290"/>
            <a:ext cx="7265306" cy="3839647"/>
          </a:xfrm>
        </p:spPr>
        <p:txBody>
          <a:bodyPr/>
          <a:lstStyle/>
          <a:p>
            <a:pPr marL="342900" indent="-342900"/>
            <a:r>
              <a:rPr lang="en-US" sz="2400"/>
              <a:t>erros por funcionalidade</a:t>
            </a:r>
          </a:p>
          <a:p>
            <a:pPr marL="342900" indent="-342900"/>
            <a:r>
              <a:rPr lang="en-US" sz="2400"/>
              <a:t>defeitos por funcionalidade</a:t>
            </a:r>
          </a:p>
          <a:p>
            <a:pPr marL="342900" indent="-342900"/>
            <a:r>
              <a:rPr lang="en-US" sz="2400"/>
              <a:t>$ por funcionalidade</a:t>
            </a:r>
          </a:p>
          <a:p>
            <a:pPr marL="342900" indent="-342900"/>
            <a:r>
              <a:rPr lang="en-US" sz="2400"/>
              <a:t>páginas de documentação por funcionalidade</a:t>
            </a:r>
          </a:p>
          <a:p>
            <a:pPr marL="342900" indent="-342900"/>
            <a:r>
              <a:rPr lang="en-US" sz="2400"/>
              <a:t>Funcionalidade por pessoa-mês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03995" y="912812"/>
            <a:ext cx="7680724" cy="1216025"/>
          </a:xfrm>
        </p:spPr>
        <p:txBody>
          <a:bodyPr/>
          <a:lstStyle/>
          <a:p>
            <a:r>
              <a:rPr lang="pt-BR"/>
              <a:t>Vantagens das métricas orientadas por função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7173" y="2405321"/>
            <a:ext cx="7318226" cy="3416259"/>
          </a:xfrm>
        </p:spPr>
        <p:txBody>
          <a:bodyPr/>
          <a:lstStyle/>
          <a:p>
            <a:pPr marL="342900" indent="-342900"/>
            <a:r>
              <a:rPr lang="en-US" sz="2400"/>
              <a:t>independente de linguagem de programação</a:t>
            </a:r>
          </a:p>
          <a:p>
            <a:pPr marL="342900" indent="-342900"/>
            <a:r>
              <a:rPr lang="en-US" sz="2400"/>
              <a:t>usa características contáveis do domínio do problema</a:t>
            </a:r>
          </a:p>
          <a:p>
            <a:pPr marL="342900" indent="-342900"/>
            <a:r>
              <a:rPr lang="en-US" sz="2400"/>
              <a:t>não penaliza implementações criativas que usam menos linhas de código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Medindo a qualidade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Correção – o grau até onde o programa opera de acordo com a especificação</a:t>
            </a:r>
          </a:p>
          <a:p>
            <a:r>
              <a:rPr lang="en-US"/>
              <a:t>Manutenibilidade – o grau até onde o programa é passível de mudanças</a:t>
            </a:r>
          </a:p>
          <a:p>
            <a:r>
              <a:rPr lang="en-US"/>
              <a:t>Integridade – o grau até onde o programa é resistente a ataques externos</a:t>
            </a:r>
          </a:p>
          <a:p>
            <a:r>
              <a:rPr lang="en-US"/>
              <a:t>Usabilidade – o grau até onde o programa é fácil de usar</a:t>
            </a:r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Eficiência na Remoção de Erros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/>
          </a:p>
          <a:p>
            <a:pPr>
              <a:lnSpc>
                <a:spcPct val="90000"/>
              </a:lnSpc>
            </a:pPr>
            <a:r>
              <a:rPr lang="pt-BR"/>
              <a:t>ERE = (erros / (erros + defeitos) )</a:t>
            </a:r>
          </a:p>
          <a:p>
            <a:pPr>
              <a:lnSpc>
                <a:spcPct val="90000"/>
              </a:lnSpc>
            </a:pPr>
            <a:endParaRPr lang="pt-BR"/>
          </a:p>
          <a:p>
            <a:pPr>
              <a:lnSpc>
                <a:spcPct val="90000"/>
              </a:lnSpc>
            </a:pPr>
            <a:r>
              <a:rPr lang="pt-BR"/>
              <a:t>erros – são problemas encontrados antes da entrega do software</a:t>
            </a:r>
          </a:p>
          <a:p>
            <a:pPr>
              <a:lnSpc>
                <a:spcPct val="90000"/>
              </a:lnSpc>
            </a:pPr>
            <a:r>
              <a:rPr lang="pt-BR"/>
              <a:t>defeitos – são problemas encontrados após a entrega do software</a:t>
            </a:r>
          </a:p>
          <a:p>
            <a:pPr>
              <a:lnSpc>
                <a:spcPct val="90000"/>
              </a:lnSpc>
            </a:pPr>
            <a:endParaRPr lang="pt-BR"/>
          </a:p>
          <a:p>
            <a:pPr>
              <a:lnSpc>
                <a:spcPct val="90000"/>
              </a:lnSpc>
            </a:pPr>
            <a:r>
              <a:rPr lang="pt-BR"/>
              <a:t>O ideal é que o ERE seja próximo de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Bibliografia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pt-BR" dirty="0"/>
              <a:t>Pressman, Roger S. Engenharia de </a:t>
            </a:r>
            <a:r>
              <a:rPr lang="pt-BR"/>
              <a:t>Software. 8a ed. Rio de Janeiro: McGraw Hill. 2016.</a:t>
            </a:r>
          </a:p>
          <a:p>
            <a:pPr lvl="1"/>
            <a:r>
              <a:rPr lang="pt-BR"/>
              <a:t>Capítulo 21 métricas de qualidade</a:t>
            </a:r>
          </a:p>
          <a:p>
            <a:pPr lvl="1"/>
            <a:r>
              <a:rPr lang="pt-BR"/>
              <a:t>Capítulo 30 métricas de produto</a:t>
            </a:r>
          </a:p>
          <a:p>
            <a:pPr lvl="1"/>
            <a:r>
              <a:rPr lang="pt-BR"/>
              <a:t>Capítulo 32 métricas de processo e projeto</a:t>
            </a:r>
            <a:endParaRPr lang="pt-BR" dirty="0"/>
          </a:p>
          <a:p>
            <a:r>
              <a:rPr lang="pt-BR" err="1"/>
              <a:t>Pfleeger</a:t>
            </a:r>
            <a:r>
              <a:rPr lang="pt-BR"/>
              <a:t>, </a:t>
            </a:r>
            <a:r>
              <a:rPr lang="pt-BR" err="1"/>
              <a:t>Shari</a:t>
            </a:r>
            <a:r>
              <a:rPr lang="pt-BR"/>
              <a:t> Lawrence. Engenharia de Software: Teoria e Prática. 2a ed. São Paulo: Prentice Hall. 2004. </a:t>
            </a:r>
          </a:p>
          <a:p>
            <a:pPr lvl="1"/>
            <a:r>
              <a:rPr lang="pt-BR" dirty="0"/>
              <a:t>capítulo 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31235</TotalTime>
  <Words>658</Words>
  <Application>Microsoft Office PowerPoint</Application>
  <PresentationFormat>Apresentação na tela (4:3)</PresentationFormat>
  <Paragraphs>116</Paragraphs>
  <Slides>15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Austin</vt:lpstr>
      <vt:lpstr>Métricas de Software</vt:lpstr>
      <vt:lpstr>Propriedades desejáveis de uma métrica</vt:lpstr>
      <vt:lpstr>Métricas e medições</vt:lpstr>
      <vt:lpstr>Por quê medir?</vt:lpstr>
      <vt:lpstr>Métricas de processo</vt:lpstr>
      <vt:lpstr>Métricas de projeto</vt:lpstr>
      <vt:lpstr>Métricas de produto</vt:lpstr>
      <vt:lpstr>Diretrizes para as Métricas</vt:lpstr>
      <vt:lpstr>Métricas orientadas por tamanho</vt:lpstr>
      <vt:lpstr>Métricas de tamanho</vt:lpstr>
      <vt:lpstr>Métricas orientadas por função</vt:lpstr>
      <vt:lpstr>Vantagens das métricas orientadas por função</vt:lpstr>
      <vt:lpstr>Medindo a qualidade</vt:lpstr>
      <vt:lpstr>Eficiência na Remoção de Erros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Hp</cp:lastModifiedBy>
  <cp:revision>217</cp:revision>
  <cp:lastPrinted>2016-04-07T21:49:46Z</cp:lastPrinted>
  <dcterms:created xsi:type="dcterms:W3CDTF">2016-02-04T13:02:28Z</dcterms:created>
  <dcterms:modified xsi:type="dcterms:W3CDTF">2021-11-29T13:53:05Z</dcterms:modified>
</cp:coreProperties>
</file>