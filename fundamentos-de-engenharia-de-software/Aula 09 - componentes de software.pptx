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5"/>
  </p:notesMasterIdLst>
  <p:handoutMasterIdLst>
    <p:handoutMasterId r:id="rId26"/>
  </p:handoutMasterIdLst>
  <p:sldIdLst>
    <p:sldId id="256" r:id="rId2"/>
    <p:sldId id="400" r:id="rId3"/>
    <p:sldId id="442" r:id="rId4"/>
    <p:sldId id="443" r:id="rId5"/>
    <p:sldId id="445" r:id="rId6"/>
    <p:sldId id="444" r:id="rId7"/>
    <p:sldId id="446" r:id="rId8"/>
    <p:sldId id="448" r:id="rId9"/>
    <p:sldId id="447" r:id="rId10"/>
    <p:sldId id="449" r:id="rId11"/>
    <p:sldId id="450" r:id="rId12"/>
    <p:sldId id="439" r:id="rId13"/>
    <p:sldId id="440" r:id="rId14"/>
    <p:sldId id="451" r:id="rId15"/>
    <p:sldId id="452" r:id="rId16"/>
    <p:sldId id="453" r:id="rId17"/>
    <p:sldId id="441" r:id="rId18"/>
    <p:sldId id="454" r:id="rId19"/>
    <p:sldId id="455" r:id="rId20"/>
    <p:sldId id="456" r:id="rId21"/>
    <p:sldId id="457" r:id="rId22"/>
    <p:sldId id="459" r:id="rId23"/>
    <p:sldId id="46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866E4-1765-2F4A-A89A-80163E91F790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6759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3656E-706C-AB47-A545-30B3AC9444BA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044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53656E-706C-AB47-A545-30B3AC9444BA}" type="slidenum">
              <a:rPr lang="uk-UA"/>
              <a:t>1</a:t>
            </a:fld>
            <a:endParaRPr lang="uk-UA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23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/>
          <a:lstStyle/>
          <a:p>
            <a:pPr marL="39688">
              <a:spcBef>
                <a:spcPts val="450"/>
              </a:spcBef>
            </a:pPr>
            <a:endParaRPr lang="en-US">
              <a:solidFill>
                <a:srgbClr val="000000"/>
              </a:solidFill>
              <a:cs typeface="Times New Roman" charset="0"/>
              <a:sym typeface="Times New Roman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3370502" y="-21511"/>
            <a:ext cx="486985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3489805" y="-21511"/>
            <a:ext cx="4664491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6201" y="2708476"/>
            <a:ext cx="4160520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6201" y="4421080"/>
            <a:ext cx="4156967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886EF5A6-0599-1846-9D4C-8FA1B28FC17B}" type="datetime4">
              <a:t>18 de outubro de 2021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3489805" y="6088284"/>
            <a:ext cx="4666284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9E1AB-2EDA-444B-94F2-A0763DFFCB5A}" type="datetime4">
              <a:t>18 de outubro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A3AE3-F202-064A-9AA9-AB0AF4D5FDD4}" type="datetime4">
              <a:t>18 de outubro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73C5A-92AA-B04F-B7E0-10EBF21EC1ED}" type="datetime4">
              <a:t>18 de outubro de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497F-4203-8749-9C88-27FA38A57EBA}" type="datetime4">
              <a:t>18 de outubro de 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F280C-4F11-6740-86B4-A3BA3DDBD42E}" type="datetime4">
              <a:t>18 de outubro de 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9D2F0-CB8A-A941-B7CD-89B560B3BD91}" type="datetime4">
              <a:t>18 de outubro de 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CC88-388A-AB4F-8487-AE4909A38877}" type="datetime4">
              <a:t>18 de outubro de 2021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x-none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7B0F7-1BF1-974F-9CC1-85FF66A3D97B}" type="datetime4">
              <a:t>18 de outubro de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CE298-47DB-6943-ADF3-8596AC534BC0}" type="datetime4">
              <a:t>18 de outubro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D150A-E67B-DB43-B694-38769789DA11}" type="datetime4">
              <a:t>18 de outubro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0F854E74-58E6-6843-B12F-6DE7B7A6257A}" type="datetime4">
              <a:t>18 de outubro de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8B37D5FE-740C-46F5-801A-FA5477D9711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90211" y="2505518"/>
            <a:ext cx="4356509" cy="2179694"/>
          </a:xfrm>
        </p:spPr>
        <p:txBody>
          <a:bodyPr/>
          <a:lstStyle/>
          <a:p>
            <a:r>
              <a:rPr lang="en-US"/>
              <a:t>Elementos de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5021716"/>
            <a:ext cx="3309803" cy="624280"/>
          </a:xfrm>
        </p:spPr>
        <p:txBody>
          <a:bodyPr/>
          <a:lstStyle/>
          <a:p>
            <a:r>
              <a:rPr lang="en-US"/>
              <a:t>Maria Augusta Vieira Nelson</a:t>
            </a:r>
          </a:p>
        </p:txBody>
      </p:sp>
    </p:spTree>
    <p:extLst>
      <p:ext uri="{BB962C8B-B14F-4D97-AF65-F5344CB8AC3E}">
        <p14:creationId xmlns:p14="http://schemas.microsoft.com/office/powerpoint/2010/main" val="1632860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>
          <a:xfrm>
            <a:off x="1043490" y="886536"/>
            <a:ext cx="7024744" cy="1143000"/>
          </a:xfrm>
          <a:ln/>
        </p:spPr>
        <p:txBody>
          <a:bodyPr rIns="132080">
            <a:noAutofit/>
          </a:bodyPr>
          <a:lstStyle/>
          <a:p>
            <a:r>
              <a:rPr lang="en-US" sz="3600"/>
              <a:t>Software complexo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idx="1"/>
          </p:nvPr>
        </p:nvSpPr>
        <p:spPr>
          <a:xfrm>
            <a:off x="1043492" y="2258074"/>
            <a:ext cx="6777317" cy="3563514"/>
          </a:xfrm>
          <a:ln/>
        </p:spPr>
        <p:txBody>
          <a:bodyPr rIns="132080">
            <a:normAutofit/>
          </a:bodyPr>
          <a:lstStyle/>
          <a:p>
            <a:r>
              <a:rPr lang="en-US"/>
              <a:t>Software não é construído do zero</a:t>
            </a:r>
          </a:p>
          <a:p>
            <a:r>
              <a:rPr lang="en-US"/>
              <a:t>Software é construído reusando partes prontas</a:t>
            </a:r>
          </a:p>
          <a:p>
            <a:pPr lvl="1"/>
            <a:r>
              <a:rPr lang="en-US"/>
              <a:t>já foram usadas para construir outros softwares</a:t>
            </a:r>
          </a:p>
          <a:p>
            <a:pPr lvl="1"/>
            <a:r>
              <a:rPr lang="en-US"/>
              <a:t>já foram largamente testadas e possuem qualidade garantida</a:t>
            </a:r>
          </a:p>
          <a:p>
            <a:pPr lvl="1"/>
            <a:r>
              <a:rPr lang="en-US"/>
              <a:t>representam uma boa solução para uma parte do problema dentro do software como um todo.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0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Elementos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São partes de software que auxiliam no desenvolvimento de software de qualidade</a:t>
            </a:r>
          </a:p>
          <a:p>
            <a:pPr lvl="1"/>
            <a:r>
              <a:rPr lang="en-US"/>
              <a:t>Bibliotecas</a:t>
            </a:r>
          </a:p>
          <a:p>
            <a:pPr lvl="1"/>
            <a:r>
              <a:rPr lang="en-US"/>
              <a:t>Frameworks</a:t>
            </a:r>
          </a:p>
          <a:p>
            <a:pPr lvl="1"/>
            <a:r>
              <a:rPr lang="en-US"/>
              <a:t>Componentes</a:t>
            </a:r>
          </a:p>
        </p:txBody>
      </p:sp>
    </p:spTree>
    <p:extLst>
      <p:ext uri="{BB962C8B-B14F-4D97-AF65-F5344CB8AC3E}">
        <p14:creationId xmlns:p14="http://schemas.microsoft.com/office/powerpoint/2010/main" val="291870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68998"/>
            <a:ext cx="7024744" cy="1143000"/>
          </a:xfrm>
        </p:spPr>
        <p:txBody>
          <a:bodyPr/>
          <a:lstStyle/>
          <a:p>
            <a:r>
              <a:rPr lang="en-US"/>
              <a:t>Bibliotecas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200165"/>
            <a:ext cx="6777317" cy="3508977"/>
          </a:xfrm>
        </p:spPr>
        <p:txBody>
          <a:bodyPr/>
          <a:lstStyle/>
          <a:p>
            <a:r>
              <a:rPr lang="en-US"/>
              <a:t>Biblioteca é uma coleção de subprogramas utilizados no desenvolvimento de software. </a:t>
            </a:r>
          </a:p>
          <a:p>
            <a:r>
              <a:rPr lang="en-US"/>
              <a:t>Bibliotecas contém código e dados auxiliares, que provém serviços a programas independentes</a:t>
            </a:r>
          </a:p>
        </p:txBody>
      </p:sp>
    </p:spTree>
    <p:extLst>
      <p:ext uri="{BB962C8B-B14F-4D97-AF65-F5344CB8AC3E}">
        <p14:creationId xmlns:p14="http://schemas.microsoft.com/office/powerpoint/2010/main" val="3087424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374947"/>
            <a:ext cx="7024744" cy="1143000"/>
          </a:xfrm>
        </p:spPr>
        <p:txBody>
          <a:bodyPr/>
          <a:lstStyle/>
          <a:p>
            <a:r>
              <a:rPr lang="en-US"/>
              <a:t>Bibliotecas - execução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76781"/>
            <a:ext cx="6777317" cy="3508977"/>
          </a:xfrm>
        </p:spPr>
        <p:txBody>
          <a:bodyPr/>
          <a:lstStyle/>
          <a:p>
            <a:r>
              <a:rPr lang="en-US"/>
              <a:t>Um compilador e/ou ligador são responsáveis por produzir código executável fazendo as ligações das chamadas.</a:t>
            </a:r>
          </a:p>
          <a:p>
            <a:pPr lvl="1"/>
            <a:r>
              <a:rPr lang="en-US" sz="2000"/>
              <a:t>Pode produzir um código executável único chamado de </a:t>
            </a:r>
            <a:r>
              <a:rPr lang="en-US" sz="2000" i="1"/>
              <a:t>Standalone</a:t>
            </a:r>
          </a:p>
          <a:p>
            <a:pPr lvl="1"/>
            <a:r>
              <a:rPr lang="en-US" sz="2000"/>
              <a:t>Pode produzir um código separado onde o código e dados da biblioteca ficam guardados no disco. Quando a aplicação é carregada na memória para execução ou durante o tempo execução é que a ligação ocorre de forma dinâmica com a biblioteca.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0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Biblioteca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33849" r="-33849"/>
          <a:stretch/>
        </p:blipFill>
        <p:spPr>
          <a:xfrm>
            <a:off x="1042988" y="2324100"/>
            <a:ext cx="7024687" cy="3508375"/>
          </a:xfrm>
        </p:spPr>
      </p:pic>
    </p:spTree>
    <p:extLst>
      <p:ext uri="{BB962C8B-B14F-4D97-AF65-F5344CB8AC3E}">
        <p14:creationId xmlns:p14="http://schemas.microsoft.com/office/powerpoint/2010/main" val="170989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7176627" cy="3508977"/>
          </a:xfrm>
        </p:spPr>
        <p:txBody>
          <a:bodyPr/>
          <a:lstStyle/>
          <a:p>
            <a:r>
              <a:rPr lang="en-US"/>
              <a:t>Um framework provê uma solução para uma família de problemas semelhantes</a:t>
            </a:r>
            <a:r>
              <a:rPr lang="is-IS"/>
              <a:t>…</a:t>
            </a:r>
            <a:endParaRPr lang="en-US"/>
          </a:p>
          <a:p>
            <a:r>
              <a:rPr lang="en-US"/>
              <a:t>usando um conjunto de elementos e interfaces que mostram como decompor a família de problemas, ...</a:t>
            </a:r>
          </a:p>
          <a:p>
            <a:r>
              <a:rPr lang="en-US"/>
              <a:t>O framework é flexível e extensível para permitir a construção de várias aplicações com pouco esforço, especificando apenas as particularidades de cada aplicação</a:t>
            </a:r>
          </a:p>
        </p:txBody>
      </p:sp>
    </p:spTree>
    <p:extLst>
      <p:ext uri="{BB962C8B-B14F-4D97-AF65-F5344CB8AC3E}">
        <p14:creationId xmlns:p14="http://schemas.microsoft.com/office/powerpoint/2010/main" val="4046958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57203"/>
            <a:ext cx="7024744" cy="1143000"/>
          </a:xfrm>
        </p:spPr>
        <p:txBody>
          <a:bodyPr/>
          <a:lstStyle/>
          <a:p>
            <a:r>
              <a:rPr lang="en-US"/>
              <a:t>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147242"/>
            <a:ext cx="7176627" cy="3508977"/>
          </a:xfrm>
        </p:spPr>
        <p:txBody>
          <a:bodyPr/>
          <a:lstStyle/>
          <a:p>
            <a:r>
              <a:rPr lang="x-none" dirty="0"/>
              <a:t>Vários frameworks utilizam inversão de controle ou princípio de Hollywood (</a:t>
            </a:r>
            <a:r>
              <a:rPr lang="en-US" dirty="0"/>
              <a:t>"Don't call us, we'll call you") </a:t>
            </a:r>
            <a:r>
              <a:rPr lang="en-US" dirty="0" err="1"/>
              <a:t>como</a:t>
            </a:r>
            <a:r>
              <a:rPr lang="en-US" dirty="0"/>
              <a:t> forma de </a:t>
            </a:r>
            <a:r>
              <a:rPr lang="en-US" dirty="0" err="1"/>
              <a:t>interação</a:t>
            </a:r>
            <a:r>
              <a:rPr lang="en-US" dirty="0"/>
              <a:t> com o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escrito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desenvolvedor</a:t>
            </a:r>
            <a:r>
              <a:rPr lang="en-US" dirty="0"/>
              <a:t>.</a:t>
            </a:r>
          </a:p>
          <a:p>
            <a:r>
              <a:rPr lang="en-US" dirty="0"/>
              <a:t>O </a:t>
            </a:r>
            <a:r>
              <a:rPr lang="en-US" dirty="0" err="1"/>
              <a:t>código</a:t>
            </a:r>
            <a:r>
              <a:rPr lang="en-US" dirty="0"/>
              <a:t> que o </a:t>
            </a:r>
            <a:r>
              <a:rPr lang="en-US" dirty="0" err="1"/>
              <a:t>desenvolvedor</a:t>
            </a:r>
            <a:r>
              <a:rPr lang="en-US" dirty="0"/>
              <a:t> </a:t>
            </a:r>
            <a:r>
              <a:rPr lang="en-US" dirty="0" err="1"/>
              <a:t>escreve</a:t>
            </a:r>
            <a:r>
              <a:rPr lang="en-US" dirty="0"/>
              <a:t> é o </a:t>
            </a:r>
            <a:r>
              <a:rPr lang="en-US" dirty="0" err="1"/>
              <a:t>secundário</a:t>
            </a:r>
            <a:r>
              <a:rPr lang="en-US" dirty="0"/>
              <a:t> pois o </a:t>
            </a:r>
            <a:r>
              <a:rPr lang="en-US" dirty="0" err="1"/>
              <a:t>código</a:t>
            </a:r>
            <a:r>
              <a:rPr lang="en-US" dirty="0"/>
              <a:t> principal é </a:t>
            </a:r>
            <a:r>
              <a:rPr lang="en-US" dirty="0" err="1"/>
              <a:t>fornecido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framework.</a:t>
            </a:r>
          </a:p>
        </p:txBody>
      </p:sp>
    </p:spTree>
    <p:extLst>
      <p:ext uri="{BB962C8B-B14F-4D97-AF65-F5344CB8AC3E}">
        <p14:creationId xmlns:p14="http://schemas.microsoft.com/office/powerpoint/2010/main" val="317134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Frameworks e Bibliotecas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-15715" b="-15715"/>
          <a:stretch>
            <a:fillRect/>
          </a:stretch>
        </p:blipFill>
        <p:spPr>
          <a:xfrm>
            <a:off x="655412" y="2323652"/>
            <a:ext cx="7641866" cy="3956600"/>
          </a:xfrm>
        </p:spPr>
      </p:pic>
    </p:spTree>
    <p:extLst>
      <p:ext uri="{BB962C8B-B14F-4D97-AF65-F5344CB8AC3E}">
        <p14:creationId xmlns:p14="http://schemas.microsoft.com/office/powerpoint/2010/main" val="3414910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74844"/>
            <a:ext cx="7024744" cy="1143000"/>
          </a:xfrm>
        </p:spPr>
        <p:txBody>
          <a:bodyPr/>
          <a:lstStyle/>
          <a:p>
            <a:r>
              <a:rPr lang="en-US"/>
              <a:t>Frameworks e Bibliotecas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rcRect l="-16561" r="-16561"/>
          <a:stretch>
            <a:fillRect/>
          </a:stretch>
        </p:blipFill>
        <p:spPr>
          <a:xfrm>
            <a:off x="803408" y="2323652"/>
            <a:ext cx="7388304" cy="3825317"/>
          </a:xfrm>
        </p:spPr>
      </p:pic>
    </p:spTree>
    <p:extLst>
      <p:ext uri="{BB962C8B-B14F-4D97-AF65-F5344CB8AC3E}">
        <p14:creationId xmlns:p14="http://schemas.microsoft.com/office/powerpoint/2010/main" val="3980745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74844"/>
            <a:ext cx="7024744" cy="1143000"/>
          </a:xfrm>
        </p:spPr>
        <p:txBody>
          <a:bodyPr/>
          <a:lstStyle/>
          <a:p>
            <a:r>
              <a:rPr lang="en-US"/>
              <a:t>Frameworks e Bibliotecas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4025" r="4025"/>
          <a:stretch>
            <a:fillRect/>
          </a:stretch>
        </p:blipFill>
        <p:spPr>
          <a:xfrm>
            <a:off x="867092" y="2134578"/>
            <a:ext cx="7483221" cy="3874461"/>
          </a:xfrm>
        </p:spPr>
      </p:pic>
    </p:spTree>
    <p:extLst>
      <p:ext uri="{BB962C8B-B14F-4D97-AF65-F5344CB8AC3E}">
        <p14:creationId xmlns:p14="http://schemas.microsoft.com/office/powerpoint/2010/main" val="2777319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98434"/>
            <a:ext cx="7024744" cy="1143000"/>
          </a:xfrm>
        </p:spPr>
        <p:txBody>
          <a:bodyPr/>
          <a:lstStyle/>
          <a:p>
            <a:r>
              <a:rPr lang="en-US"/>
              <a:t>Componente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953191"/>
            <a:ext cx="6777317" cy="3508977"/>
          </a:xfrm>
        </p:spPr>
        <p:txBody>
          <a:bodyPr/>
          <a:lstStyle/>
          <a:p>
            <a:r>
              <a:rPr lang="en-US"/>
              <a:t>elemento de software que </a:t>
            </a:r>
            <a:r>
              <a:rPr lang="en-US" u="sng"/>
              <a:t>encapsula</a:t>
            </a:r>
            <a:r>
              <a:rPr lang="en-US"/>
              <a:t> várias funcionalidades</a:t>
            </a:r>
          </a:p>
          <a:p>
            <a:r>
              <a:rPr lang="en-US"/>
              <a:t>unidade </a:t>
            </a:r>
            <a:r>
              <a:rPr lang="en-US" u="sng"/>
              <a:t>independente</a:t>
            </a:r>
            <a:r>
              <a:rPr lang="en-US"/>
              <a:t>, que pode ser utilizada com outros componentes para formar um sistema mais complexo</a:t>
            </a:r>
          </a:p>
          <a:p>
            <a:r>
              <a:rPr lang="en-US"/>
              <a:t>"unidade de software independente que encapsula, dentro de si, seu projeto e implementação, e </a:t>
            </a:r>
            <a:r>
              <a:rPr lang="en-US" u="sng"/>
              <a:t>oferece serviços</a:t>
            </a:r>
            <a:r>
              <a:rPr lang="en-US"/>
              <a:t>, por meio de </a:t>
            </a:r>
            <a:r>
              <a:rPr lang="en-US" u="sng"/>
              <a:t>interfaces</a:t>
            </a:r>
            <a:r>
              <a:rPr lang="en-US"/>
              <a:t> bem definidas, para o meio externo” (Fonte: I. Gimenes &amp; E. Huzita)</a:t>
            </a:r>
          </a:p>
        </p:txBody>
      </p:sp>
    </p:spTree>
    <p:extLst>
      <p:ext uri="{BB962C8B-B14F-4D97-AF65-F5344CB8AC3E}">
        <p14:creationId xmlns:p14="http://schemas.microsoft.com/office/powerpoint/2010/main" val="1123163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98434"/>
            <a:ext cx="7024744" cy="1143000"/>
          </a:xfrm>
        </p:spPr>
        <p:txBody>
          <a:bodyPr/>
          <a:lstStyle/>
          <a:p>
            <a:r>
              <a:rPr lang="en-US"/>
              <a:t>Componente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953191"/>
            <a:ext cx="6777317" cy="3508977"/>
          </a:xfrm>
        </p:spPr>
        <p:txBody>
          <a:bodyPr/>
          <a:lstStyle/>
          <a:p>
            <a:r>
              <a:rPr lang="en-US"/>
              <a:t>“Unidade de software com interfaces e dependências claramente especificadas, que pode ser implantada independentemente e ser </a:t>
            </a:r>
            <a:r>
              <a:rPr lang="en-US" u="sng"/>
              <a:t>utilizada por terceiros para composição</a:t>
            </a:r>
            <a:r>
              <a:rPr lang="en-US"/>
              <a:t>.” (Fonte: C. Szyperski)</a:t>
            </a:r>
          </a:p>
          <a:p>
            <a:r>
              <a:rPr lang="en-US"/>
              <a:t>Podem ser configurados de acordo com as necessidades dos desenvolvedores ou usuários</a:t>
            </a:r>
          </a:p>
        </p:txBody>
      </p:sp>
    </p:spTree>
    <p:extLst>
      <p:ext uri="{BB962C8B-B14F-4D97-AF65-F5344CB8AC3E}">
        <p14:creationId xmlns:p14="http://schemas.microsoft.com/office/powerpoint/2010/main" val="4256168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Componentes - interações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6777317" cy="3508977"/>
          </a:xfrm>
        </p:spPr>
        <p:txBody>
          <a:bodyPr/>
          <a:lstStyle/>
          <a:p>
            <a:r>
              <a:rPr lang="en-US"/>
              <a:t>Componentes fornecem </a:t>
            </a:r>
            <a:r>
              <a:rPr lang="en-US" u="sng"/>
              <a:t>serviços</a:t>
            </a:r>
            <a:r>
              <a:rPr lang="en-US"/>
              <a:t> a terceiros através de suas </a:t>
            </a:r>
            <a:r>
              <a:rPr lang="en-US" u="sng"/>
              <a:t>interfaces</a:t>
            </a:r>
          </a:p>
          <a:p>
            <a:r>
              <a:rPr lang="en-US"/>
              <a:t>Um serviço é uma atividade bem definida executada pelo componente</a:t>
            </a:r>
          </a:p>
          <a:p>
            <a:r>
              <a:rPr lang="en-US"/>
              <a:t>A interface de um componente define como terceiros podem solicitar os serviços do componente</a:t>
            </a:r>
          </a:p>
        </p:txBody>
      </p:sp>
    </p:spTree>
    <p:extLst>
      <p:ext uri="{BB962C8B-B14F-4D97-AF65-F5344CB8AC3E}">
        <p14:creationId xmlns:p14="http://schemas.microsoft.com/office/powerpoint/2010/main" val="3740545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16290"/>
            <a:ext cx="7024744" cy="1143000"/>
          </a:xfrm>
        </p:spPr>
        <p:txBody>
          <a:bodyPr/>
          <a:lstStyle/>
          <a:p>
            <a:r>
              <a:rPr lang="en-US" dirty="0" err="1"/>
              <a:t>Vantagens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1788" y="1767415"/>
            <a:ext cx="7256446" cy="3941250"/>
          </a:xfrm>
        </p:spPr>
        <p:txBody>
          <a:bodyPr>
            <a:noAutofit/>
          </a:bodyPr>
          <a:lstStyle/>
          <a:p>
            <a:pPr algn="just"/>
            <a:r>
              <a:rPr lang="en-US" sz="2000" dirty="0" err="1"/>
              <a:t>Componentes</a:t>
            </a:r>
            <a:r>
              <a:rPr lang="en-US" sz="2000" dirty="0"/>
              <a:t> </a:t>
            </a:r>
            <a:r>
              <a:rPr lang="en-US" sz="2000" dirty="0" err="1"/>
              <a:t>simplificam</a:t>
            </a:r>
            <a:r>
              <a:rPr lang="en-US" sz="2000" dirty="0"/>
              <a:t> o </a:t>
            </a:r>
            <a:r>
              <a:rPr lang="en-US" sz="2000" dirty="0" err="1"/>
              <a:t>desenvolvimento</a:t>
            </a:r>
            <a:r>
              <a:rPr lang="en-US" sz="2000" dirty="0"/>
              <a:t> de </a:t>
            </a:r>
            <a:r>
              <a:rPr lang="en-US" sz="2000" dirty="0" err="1"/>
              <a:t>sistemas</a:t>
            </a:r>
            <a:endParaRPr lang="en-US" sz="2000" dirty="0"/>
          </a:p>
          <a:p>
            <a:pPr algn="just"/>
            <a:r>
              <a:rPr lang="en-US" sz="2000" dirty="0"/>
              <a:t>A </a:t>
            </a:r>
            <a:r>
              <a:rPr lang="en-US" sz="2000" dirty="0" err="1"/>
              <a:t>complexidade</a:t>
            </a:r>
            <a:r>
              <a:rPr lang="en-US" sz="2000" dirty="0"/>
              <a:t> </a:t>
            </a:r>
            <a:r>
              <a:rPr lang="en-US" sz="2000" dirty="0" err="1"/>
              <a:t>necessária</a:t>
            </a:r>
            <a:r>
              <a:rPr lang="en-US" sz="2000" dirty="0"/>
              <a:t> para </a:t>
            </a:r>
            <a:r>
              <a:rPr lang="en-US" sz="2000" dirty="0" err="1"/>
              <a:t>executar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tarefa</a:t>
            </a:r>
            <a:r>
              <a:rPr lang="en-US" sz="2000" dirty="0"/>
              <a:t> é </a:t>
            </a:r>
            <a:r>
              <a:rPr lang="en-US" sz="2000" dirty="0" err="1"/>
              <a:t>encapsulada</a:t>
            </a:r>
            <a:r>
              <a:rPr lang="en-US" sz="2000" dirty="0"/>
              <a:t> por um </a:t>
            </a:r>
            <a:r>
              <a:rPr lang="en-US" sz="2000" dirty="0" err="1"/>
              <a:t>componente</a:t>
            </a:r>
            <a:r>
              <a:rPr lang="en-US" sz="2000" dirty="0"/>
              <a:t>, o que </a:t>
            </a:r>
            <a:r>
              <a:rPr lang="en-US" sz="2000" dirty="0" err="1"/>
              <a:t>esconde</a:t>
            </a:r>
            <a:r>
              <a:rPr lang="en-US" sz="2000" dirty="0"/>
              <a:t> </a:t>
            </a:r>
            <a:r>
              <a:rPr lang="en-US" sz="2000" dirty="0" err="1"/>
              <a:t>detalhes</a:t>
            </a:r>
            <a:r>
              <a:rPr lang="en-US" sz="2000" dirty="0"/>
              <a:t> </a:t>
            </a:r>
            <a:r>
              <a:rPr lang="en-US" sz="2000" dirty="0" err="1"/>
              <a:t>internos</a:t>
            </a:r>
            <a:r>
              <a:rPr lang="en-US" sz="2000" dirty="0"/>
              <a:t>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mundo</a:t>
            </a:r>
            <a:r>
              <a:rPr lang="en-US" sz="2000" dirty="0"/>
              <a:t> </a:t>
            </a:r>
            <a:r>
              <a:rPr lang="en-US" sz="2000" dirty="0" err="1"/>
              <a:t>externo</a:t>
            </a:r>
            <a:endParaRPr lang="en-US" sz="2000" dirty="0"/>
          </a:p>
          <a:p>
            <a:pPr algn="just"/>
            <a:r>
              <a:rPr lang="en-US" sz="2000" dirty="0"/>
              <a:t>Um </a:t>
            </a:r>
            <a:r>
              <a:rPr lang="en-US" sz="2000" dirty="0" err="1"/>
              <a:t>componente</a:t>
            </a:r>
            <a:r>
              <a:rPr lang="en-US" sz="2000" dirty="0"/>
              <a:t> </a:t>
            </a:r>
            <a:r>
              <a:rPr lang="en-US" sz="2000" dirty="0" err="1"/>
              <a:t>pode</a:t>
            </a:r>
            <a:r>
              <a:rPr lang="en-US" sz="2000" dirty="0"/>
              <a:t> ser </a:t>
            </a:r>
            <a:r>
              <a:rPr lang="en-US" sz="2000" dirty="0" err="1"/>
              <a:t>substituído</a:t>
            </a:r>
            <a:r>
              <a:rPr lang="en-US" sz="2000" dirty="0"/>
              <a:t>/</a:t>
            </a:r>
            <a:r>
              <a:rPr lang="en-US" sz="2000" dirty="0" err="1"/>
              <a:t>atualizado</a:t>
            </a:r>
            <a:r>
              <a:rPr lang="en-US" sz="2000" dirty="0"/>
              <a:t> </a:t>
            </a:r>
            <a:r>
              <a:rPr lang="en-US" sz="2000" dirty="0" err="1"/>
              <a:t>independentemente</a:t>
            </a:r>
            <a:r>
              <a:rPr lang="en-US" sz="2000" dirty="0"/>
              <a:t> do restante da </a:t>
            </a:r>
            <a:r>
              <a:rPr lang="en-US" sz="2000" dirty="0" err="1"/>
              <a:t>aplicação</a:t>
            </a:r>
            <a:r>
              <a:rPr lang="en-US" sz="2000" dirty="0"/>
              <a:t>, </a:t>
            </a:r>
            <a:r>
              <a:rPr lang="en-US" sz="2000" dirty="0" err="1"/>
              <a:t>facilitando</a:t>
            </a:r>
            <a:r>
              <a:rPr lang="en-US" sz="2000" dirty="0"/>
              <a:t> a </a:t>
            </a:r>
            <a:r>
              <a:rPr lang="en-US" sz="2000" dirty="0" err="1"/>
              <a:t>manutenção</a:t>
            </a:r>
            <a:r>
              <a:rPr lang="en-US" sz="2000" dirty="0"/>
              <a:t> e </a:t>
            </a:r>
            <a:r>
              <a:rPr lang="en-US" sz="2000" dirty="0" err="1"/>
              <a:t>evolução</a:t>
            </a:r>
            <a:r>
              <a:rPr lang="en-US" sz="2000" dirty="0"/>
              <a:t> do </a:t>
            </a:r>
            <a:r>
              <a:rPr lang="en-US" sz="2000" dirty="0" err="1"/>
              <a:t>sistema</a:t>
            </a:r>
            <a:endParaRPr lang="en-US" sz="2000" dirty="0"/>
          </a:p>
          <a:p>
            <a:pPr algn="just"/>
            <a:r>
              <a:rPr lang="en-US" sz="2000" dirty="0"/>
              <a:t> </a:t>
            </a:r>
            <a:r>
              <a:rPr lang="en-US" sz="2000" dirty="0" err="1"/>
              <a:t>Componentes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testados</a:t>
            </a:r>
            <a:r>
              <a:rPr lang="en-US" sz="2000" dirty="0"/>
              <a:t> </a:t>
            </a:r>
            <a:r>
              <a:rPr lang="en-US" sz="2000" dirty="0" err="1"/>
              <a:t>individualmente</a:t>
            </a:r>
            <a:r>
              <a:rPr lang="en-US" sz="2000" dirty="0"/>
              <a:t>, </a:t>
            </a:r>
            <a:r>
              <a:rPr lang="en-US" sz="2000" dirty="0" err="1"/>
              <a:t>melhorando</a:t>
            </a:r>
            <a:r>
              <a:rPr lang="en-US" sz="2000" dirty="0"/>
              <a:t> a </a:t>
            </a:r>
            <a:r>
              <a:rPr lang="en-US" sz="2000" dirty="0" err="1"/>
              <a:t>confiabilidade</a:t>
            </a:r>
            <a:r>
              <a:rPr lang="en-US" sz="2000" dirty="0"/>
              <a:t> da </a:t>
            </a:r>
            <a:r>
              <a:rPr lang="en-US" sz="2000" dirty="0" err="1"/>
              <a:t>aplicação</a:t>
            </a:r>
            <a:endParaRPr lang="en-US" sz="2000" dirty="0"/>
          </a:p>
          <a:p>
            <a:pPr algn="just"/>
            <a:r>
              <a:rPr lang="en-US" sz="2000" dirty="0" err="1"/>
              <a:t>Reutilização</a:t>
            </a:r>
            <a:r>
              <a:rPr lang="en-US" sz="2000" dirty="0"/>
              <a:t> é </a:t>
            </a:r>
            <a:r>
              <a:rPr lang="en-US" sz="2000" dirty="0" err="1"/>
              <a:t>favorecida</a:t>
            </a:r>
            <a:r>
              <a:rPr lang="en-US" sz="2000" dirty="0"/>
              <a:t> </a:t>
            </a:r>
            <a:r>
              <a:rPr lang="en-US" sz="2000" dirty="0" err="1"/>
              <a:t>pelo</a:t>
            </a:r>
            <a:r>
              <a:rPr lang="en-US" sz="2000" dirty="0"/>
              <a:t> </a:t>
            </a:r>
            <a:r>
              <a:rPr lang="en-US" sz="2000" dirty="0" err="1"/>
              <a:t>uso</a:t>
            </a:r>
            <a:r>
              <a:rPr lang="en-US" sz="2000" dirty="0"/>
              <a:t> de </a:t>
            </a:r>
            <a:r>
              <a:rPr lang="en-US" sz="2000" dirty="0" err="1"/>
              <a:t>componentes</a:t>
            </a:r>
            <a:r>
              <a:rPr lang="en-US" sz="2000" dirty="0"/>
              <a:t> de software</a:t>
            </a:r>
          </a:p>
          <a:p>
            <a:pPr marL="68580" indent="0" algn="just">
              <a:buNone/>
            </a:pPr>
            <a:endParaRPr lang="en-US" sz="2000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Zoom de Slide 4">
                <a:extLst>
                  <a:ext uri="{FF2B5EF4-FFF2-40B4-BE49-F238E27FC236}">
                    <a16:creationId xmlns:a16="http://schemas.microsoft.com/office/drawing/2014/main" id="{030F48A4-A171-40FC-9212-DB487D2158E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6838649"/>
                  </p:ext>
                </p:extLst>
              </p:nvPr>
            </p:nvGraphicFramePr>
            <p:xfrm>
              <a:off x="-2591972" y="3541426"/>
              <a:ext cx="2286000" cy="1714500"/>
            </p:xfrm>
            <a:graphic>
              <a:graphicData uri="http://schemas.microsoft.com/office/powerpoint/2016/slidezoom">
                <pslz:sldZm>
                  <pslz:sldZmObj sldId="452" cId="667863128">
                    <pslz:zmPr id="{9C91A16F-8218-4FD7-8B5A-6E61950182B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Zoom de Slide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30F48A4-A171-40FC-9212-DB487D2158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2591972" y="3541426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7863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Vantagens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Outros elementos reutilizáveis de desenvolvimento de software, como as bibliotecas, não trazem os mesmos benefícios:</a:t>
            </a:r>
          </a:p>
          <a:p>
            <a:r>
              <a:rPr lang="en-US" sz="2000"/>
              <a:t>São dependentes de linguagem/ambiente</a:t>
            </a:r>
          </a:p>
          <a:p>
            <a:r>
              <a:rPr lang="en-US" sz="2000"/>
              <a:t>Possuem granularidade muito micro para ajudar na solução em um nível mais abstrato da aplicação</a:t>
            </a:r>
          </a:p>
          <a:p>
            <a:r>
              <a:rPr lang="en-US" sz="2000"/>
              <a:t>Não são tão flexíveis quanto componentes</a:t>
            </a:r>
          </a:p>
        </p:txBody>
      </p:sp>
    </p:spTree>
    <p:extLst>
      <p:ext uri="{BB962C8B-B14F-4D97-AF65-F5344CB8AC3E}">
        <p14:creationId xmlns:p14="http://schemas.microsoft.com/office/powerpoint/2010/main" val="197690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Componentes - execução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Componentes rodam sobre um suporte de execução definido por seu modelo </a:t>
            </a:r>
          </a:p>
          <a:p>
            <a:r>
              <a:rPr lang="en-US"/>
              <a:t>O suporte de execução pode ser fornecido por:</a:t>
            </a:r>
          </a:p>
          <a:p>
            <a:pPr lvl="1"/>
            <a:r>
              <a:rPr lang="en-US"/>
              <a:t>Linguagem de programação</a:t>
            </a:r>
          </a:p>
          <a:p>
            <a:pPr lvl="1"/>
            <a:r>
              <a:rPr lang="en-US"/>
              <a:t>Máquina virtual</a:t>
            </a:r>
          </a:p>
          <a:p>
            <a:pPr lvl="1"/>
            <a:r>
              <a:rPr lang="en-US" i="1"/>
              <a:t>Container</a:t>
            </a:r>
          </a:p>
          <a:p>
            <a:pPr lvl="1"/>
            <a:r>
              <a:rPr lang="en-US"/>
              <a:t>Servidor de aplicação</a:t>
            </a:r>
          </a:p>
        </p:txBody>
      </p:sp>
    </p:spTree>
    <p:extLst>
      <p:ext uri="{BB962C8B-B14F-4D97-AF65-F5344CB8AC3E}">
        <p14:creationId xmlns:p14="http://schemas.microsoft.com/office/powerpoint/2010/main" val="1352492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886536"/>
            <a:ext cx="7024744" cy="1143000"/>
          </a:xfrm>
        </p:spPr>
        <p:txBody>
          <a:bodyPr/>
          <a:lstStyle/>
          <a:p>
            <a:r>
              <a:rPr lang="en-US"/>
              <a:t>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7024742" cy="3508977"/>
          </a:xfrm>
        </p:spPr>
        <p:txBody>
          <a:bodyPr>
            <a:noAutofit/>
          </a:bodyPr>
          <a:lstStyle/>
          <a:p>
            <a:r>
              <a:rPr lang="en-US" sz="2000" dirty="0"/>
              <a:t>É um </a:t>
            </a:r>
            <a:r>
              <a:rPr lang="en-US" sz="2000" dirty="0" err="1"/>
              <a:t>ambiente</a:t>
            </a:r>
            <a:r>
              <a:rPr lang="en-US" sz="2000" dirty="0"/>
              <a:t> de </a:t>
            </a:r>
            <a:r>
              <a:rPr lang="en-US" sz="2000" dirty="0" err="1"/>
              <a:t>execução</a:t>
            </a:r>
            <a:r>
              <a:rPr lang="en-US" sz="2000" dirty="0"/>
              <a:t> para </a:t>
            </a:r>
            <a:r>
              <a:rPr lang="en-US" sz="2000" dirty="0" err="1"/>
              <a:t>componentes</a:t>
            </a:r>
            <a:endParaRPr lang="en-US" sz="2000" dirty="0"/>
          </a:p>
          <a:p>
            <a:r>
              <a:rPr lang="en-US" sz="2000" dirty="0" err="1"/>
              <a:t>Faz</a:t>
            </a:r>
            <a:r>
              <a:rPr lang="en-US" sz="2000" dirty="0"/>
              <a:t> a </a:t>
            </a:r>
            <a:r>
              <a:rPr lang="en-US" sz="2000" dirty="0" err="1"/>
              <a:t>ligação</a:t>
            </a:r>
            <a:r>
              <a:rPr lang="en-US" sz="2000" dirty="0"/>
              <a:t> entre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componentes</a:t>
            </a:r>
            <a:r>
              <a:rPr lang="en-US" sz="2000" dirty="0"/>
              <a:t> e o </a:t>
            </a:r>
            <a:r>
              <a:rPr lang="en-US" sz="2000" dirty="0" err="1"/>
              <a:t>mundo</a:t>
            </a:r>
            <a:r>
              <a:rPr lang="en-US" sz="2000" dirty="0"/>
              <a:t> exterior</a:t>
            </a:r>
          </a:p>
          <a:p>
            <a:r>
              <a:rPr lang="en-US" sz="2000" dirty="0" err="1"/>
              <a:t>Recebe</a:t>
            </a:r>
            <a:r>
              <a:rPr lang="en-US" sz="2000" dirty="0"/>
              <a:t> </a:t>
            </a:r>
            <a:r>
              <a:rPr lang="en-US" sz="2000" dirty="0" err="1"/>
              <a:t>pedidos</a:t>
            </a:r>
            <a:r>
              <a:rPr lang="en-US" sz="2000" dirty="0"/>
              <a:t> de </a:t>
            </a:r>
            <a:r>
              <a:rPr lang="en-US" sz="2000" dirty="0" err="1"/>
              <a:t>execução</a:t>
            </a:r>
            <a:r>
              <a:rPr lang="en-US" sz="2000" dirty="0"/>
              <a:t> de </a:t>
            </a:r>
            <a:r>
              <a:rPr lang="en-US" sz="2000" dirty="0" err="1"/>
              <a:t>serviços</a:t>
            </a:r>
            <a:r>
              <a:rPr lang="en-US" sz="2000" dirty="0"/>
              <a:t> e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repassa</a:t>
            </a:r>
            <a:r>
              <a:rPr lang="en-US" sz="2000" dirty="0"/>
              <a:t> </a:t>
            </a:r>
            <a:r>
              <a:rPr lang="en-US" sz="2000" dirty="0" err="1"/>
              <a:t>ao</a:t>
            </a:r>
            <a:r>
              <a:rPr lang="en-US" sz="2000" dirty="0"/>
              <a:t> </a:t>
            </a:r>
            <a:r>
              <a:rPr lang="en-US" sz="2000" dirty="0" err="1"/>
              <a:t>componente</a:t>
            </a:r>
            <a:r>
              <a:rPr lang="en-US" sz="2000" dirty="0"/>
              <a:t>, que </a:t>
            </a:r>
            <a:r>
              <a:rPr lang="en-US" sz="2000" dirty="0" err="1"/>
              <a:t>executa</a:t>
            </a:r>
            <a:r>
              <a:rPr lang="en-US" sz="2000" dirty="0"/>
              <a:t> o </a:t>
            </a:r>
            <a:r>
              <a:rPr lang="en-US" sz="2000" dirty="0" err="1"/>
              <a:t>serviço</a:t>
            </a:r>
            <a:endParaRPr lang="en-US" sz="2000" dirty="0"/>
          </a:p>
          <a:p>
            <a:r>
              <a:rPr lang="en-US" sz="2000" dirty="0"/>
              <a:t>Evita que o </a:t>
            </a:r>
            <a:r>
              <a:rPr lang="en-US" sz="2000" dirty="0" err="1"/>
              <a:t>componente</a:t>
            </a:r>
            <a:r>
              <a:rPr lang="en-US" sz="2000" dirty="0"/>
              <a:t> </a:t>
            </a:r>
            <a:r>
              <a:rPr lang="en-US" sz="2000" dirty="0" err="1"/>
              <a:t>tenha</a:t>
            </a:r>
            <a:r>
              <a:rPr lang="en-US" sz="2000" dirty="0"/>
              <a:t> que </a:t>
            </a:r>
            <a:r>
              <a:rPr lang="en-US" sz="2000" dirty="0" err="1"/>
              <a:t>interagir</a:t>
            </a:r>
            <a:r>
              <a:rPr lang="en-US" sz="2000" dirty="0"/>
              <a:t> com o </a:t>
            </a:r>
            <a:r>
              <a:rPr lang="en-US" sz="2000" dirty="0" err="1"/>
              <a:t>sistema</a:t>
            </a:r>
            <a:r>
              <a:rPr lang="en-US" sz="2000" dirty="0"/>
              <a:t> </a:t>
            </a:r>
            <a:r>
              <a:rPr lang="en-US" sz="2000" dirty="0" err="1"/>
              <a:t>operacional</a:t>
            </a:r>
            <a:r>
              <a:rPr lang="en-US" sz="2000" dirty="0"/>
              <a:t>, o </a:t>
            </a:r>
            <a:r>
              <a:rPr lang="en-US" sz="2000" dirty="0" err="1"/>
              <a:t>suporte</a:t>
            </a:r>
            <a:r>
              <a:rPr lang="en-US" sz="2000" dirty="0"/>
              <a:t> de </a:t>
            </a:r>
            <a:r>
              <a:rPr lang="en-US" sz="2000" dirty="0" err="1"/>
              <a:t>comunicação</a:t>
            </a:r>
            <a:r>
              <a:rPr lang="en-US" sz="2000" dirty="0"/>
              <a:t> e com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serviços</a:t>
            </a:r>
            <a:r>
              <a:rPr lang="en-US" sz="2000" dirty="0"/>
              <a:t> de </a:t>
            </a:r>
            <a:r>
              <a:rPr lang="en-US" sz="2000" dirty="0" err="1"/>
              <a:t>aplicação</a:t>
            </a:r>
            <a:endParaRPr lang="en-US" sz="2000" dirty="0"/>
          </a:p>
          <a:p>
            <a:r>
              <a:rPr lang="en-US" sz="2000" dirty="0" err="1"/>
              <a:t>Permite</a:t>
            </a:r>
            <a:r>
              <a:rPr lang="en-US" sz="2000" dirty="0"/>
              <a:t> que o </a:t>
            </a:r>
            <a:r>
              <a:rPr lang="en-US" sz="2000" dirty="0" err="1"/>
              <a:t>componente</a:t>
            </a:r>
            <a:r>
              <a:rPr lang="en-US" sz="2000" dirty="0"/>
              <a:t> </a:t>
            </a:r>
            <a:r>
              <a:rPr lang="en-US" sz="2000" dirty="0" err="1"/>
              <a:t>seja</a:t>
            </a:r>
            <a:r>
              <a:rPr lang="en-US" sz="2000" dirty="0"/>
              <a:t> </a:t>
            </a:r>
            <a:r>
              <a:rPr lang="en-US" sz="2000" dirty="0" err="1"/>
              <a:t>independente</a:t>
            </a:r>
            <a:r>
              <a:rPr lang="en-US" sz="2000" dirty="0"/>
              <a:t> do </a:t>
            </a:r>
            <a:r>
              <a:rPr lang="en-US" sz="2000" dirty="0" err="1"/>
              <a:t>ambiente</a:t>
            </a:r>
            <a:r>
              <a:rPr lang="en-US" sz="2000" dirty="0"/>
              <a:t> de </a:t>
            </a:r>
            <a:r>
              <a:rPr lang="en-US" sz="2000" dirty="0" err="1"/>
              <a:t>execução</a:t>
            </a:r>
            <a:r>
              <a:rPr lang="en-US" sz="2000" dirty="0"/>
              <a:t>, </a:t>
            </a:r>
            <a:r>
              <a:rPr lang="en-US" sz="2000" dirty="0" err="1"/>
              <a:t>tornando</a:t>
            </a:r>
            <a:r>
              <a:rPr lang="en-US" sz="2000" dirty="0"/>
              <a:t>-o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portável</a:t>
            </a:r>
            <a:r>
              <a:rPr lang="en-US" sz="2000" dirty="0"/>
              <a:t> e </a:t>
            </a:r>
            <a:r>
              <a:rPr lang="en-US" sz="2000" dirty="0" err="1"/>
              <a:t>mais</a:t>
            </a:r>
            <a:r>
              <a:rPr lang="en-US" sz="2000" dirty="0"/>
              <a:t> </a:t>
            </a:r>
            <a:r>
              <a:rPr lang="en-US" sz="2000" dirty="0" err="1"/>
              <a:t>fácil</a:t>
            </a:r>
            <a:r>
              <a:rPr lang="en-US" sz="2000" dirty="0"/>
              <a:t> de </a:t>
            </a:r>
            <a:r>
              <a:rPr lang="en-US" sz="2000" dirty="0" err="1"/>
              <a:t>reutilizar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8249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Distribuição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/>
              <a:t>Componentes são distribuídos na forma de</a:t>
            </a:r>
          </a:p>
          <a:p>
            <a:pPr marL="68580" indent="0">
              <a:buNone/>
            </a:pPr>
            <a:r>
              <a:rPr lang="en-US" sz="2000"/>
              <a:t>pacotes de distribuição (</a:t>
            </a:r>
            <a:r>
              <a:rPr lang="en-US" sz="2000" i="1"/>
              <a:t>packages</a:t>
            </a:r>
            <a:r>
              <a:rPr lang="en-US" sz="2000"/>
              <a:t>)</a:t>
            </a:r>
          </a:p>
          <a:p>
            <a:r>
              <a:rPr lang="en-US" sz="2000"/>
              <a:t>Pacotes de distribuição podem conter:</a:t>
            </a:r>
          </a:p>
          <a:p>
            <a:pPr lvl="1"/>
            <a:r>
              <a:rPr lang="en-US" sz="1800"/>
              <a:t>apenas um componente</a:t>
            </a:r>
          </a:p>
          <a:p>
            <a:pPr lvl="1"/>
            <a:r>
              <a:rPr lang="en-US" sz="2000"/>
              <a:t>um </a:t>
            </a:r>
            <a:r>
              <a:rPr lang="en-US" sz="2000" i="1"/>
              <a:t>framework</a:t>
            </a:r>
            <a:r>
              <a:rPr lang="en-US" sz="2000"/>
              <a:t> (coleção) de componentes</a:t>
            </a:r>
          </a:p>
          <a:p>
            <a:pPr lvl="1"/>
            <a:r>
              <a:rPr lang="en-US" sz="1800"/>
              <a:t>uma aplicação completa</a:t>
            </a:r>
          </a:p>
          <a:p>
            <a:r>
              <a:rPr lang="en-US" sz="2000"/>
              <a:t>Um package contém:</a:t>
            </a:r>
          </a:p>
          <a:p>
            <a:pPr lvl="1"/>
            <a:r>
              <a:rPr lang="en-US" sz="1800"/>
              <a:t>O código executável do(s) componente(s)</a:t>
            </a:r>
          </a:p>
          <a:p>
            <a:pPr lvl="1"/>
            <a:r>
              <a:rPr lang="en-US" sz="2000"/>
              <a:t>Pode ter também descritores de componentes</a:t>
            </a:r>
          </a:p>
          <a:p>
            <a:pPr lvl="1"/>
            <a:r>
              <a:rPr lang="en-US" sz="2000"/>
              <a:t>Geralmente são compactados (.Zip ou .Jar)</a:t>
            </a:r>
          </a:p>
        </p:txBody>
      </p:sp>
    </p:spTree>
    <p:extLst>
      <p:ext uri="{BB962C8B-B14F-4D97-AF65-F5344CB8AC3E}">
        <p14:creationId xmlns:p14="http://schemas.microsoft.com/office/powerpoint/2010/main" val="2233616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Distribuição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/>
              <a:t>Algumas linguagens são multi-plataforma</a:t>
            </a:r>
          </a:p>
          <a:p>
            <a:pPr lvl="1"/>
            <a:r>
              <a:rPr lang="en-US" sz="2000"/>
              <a:t>Máquina virtual converte o código para instruções da máquina onde o componente é executado</a:t>
            </a:r>
          </a:p>
          <a:p>
            <a:r>
              <a:rPr lang="en-US"/>
              <a:t>Exemplos:</a:t>
            </a:r>
          </a:p>
          <a:p>
            <a:pPr lvl="1"/>
            <a:r>
              <a:rPr lang="en-US" sz="1800"/>
              <a:t>Java usa JVM (Java Virtual Machine)</a:t>
            </a:r>
          </a:p>
          <a:p>
            <a:pPr lvl="1"/>
            <a:r>
              <a:rPr lang="en-US" sz="1800"/>
              <a:t>Linguagens do .NET (C#, VB.NET, etc.) usam CLR (Common Language Runtime)</a:t>
            </a:r>
          </a:p>
        </p:txBody>
      </p:sp>
    </p:spTree>
    <p:extLst>
      <p:ext uri="{BB962C8B-B14F-4D97-AF65-F5344CB8AC3E}">
        <p14:creationId xmlns:p14="http://schemas.microsoft.com/office/powerpoint/2010/main" val="3232689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Implantação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/>
              <a:t>Os componentes que disponibilizarão serviços remotamente devem ser implantados em servidores de aplicação</a:t>
            </a:r>
          </a:p>
          <a:p>
            <a:r>
              <a:rPr lang="en-US" sz="2000"/>
              <a:t>Servidores de aplicação servem como ambiente de execução dos componentes e servem como Containers</a:t>
            </a:r>
          </a:p>
          <a:p>
            <a:r>
              <a:rPr lang="en-US" sz="2000"/>
              <a:t>Servidores Web com extensões podem ser usados com este objetivo</a:t>
            </a:r>
          </a:p>
        </p:txBody>
      </p:sp>
    </p:spTree>
    <p:extLst>
      <p:ext uri="{BB962C8B-B14F-4D97-AF65-F5344CB8AC3E}">
        <p14:creationId xmlns:p14="http://schemas.microsoft.com/office/powerpoint/2010/main" val="20834092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339665"/>
            <a:ext cx="7024744" cy="1143000"/>
          </a:xfrm>
        </p:spPr>
        <p:txBody>
          <a:bodyPr/>
          <a:lstStyle/>
          <a:p>
            <a:r>
              <a:rPr lang="en-US"/>
              <a:t>Implantação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9157" r="-9157"/>
          <a:stretch>
            <a:fillRect/>
          </a:stretch>
        </p:blipFill>
        <p:spPr>
          <a:xfrm>
            <a:off x="-242850" y="1499500"/>
            <a:ext cx="9642526" cy="4992448"/>
          </a:xfrm>
        </p:spPr>
      </p:pic>
    </p:spTree>
    <p:extLst>
      <p:ext uri="{BB962C8B-B14F-4D97-AF65-F5344CB8AC3E}">
        <p14:creationId xmlns:p14="http://schemas.microsoft.com/office/powerpoint/2010/main" val="663117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2" y="695063"/>
            <a:ext cx="7024744" cy="1143000"/>
          </a:xfrm>
        </p:spPr>
        <p:txBody>
          <a:bodyPr/>
          <a:lstStyle/>
          <a:p>
            <a:r>
              <a:rPr lang="en-US"/>
              <a:t>Referências Bibliográficas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096879"/>
            <a:ext cx="7287792" cy="4025998"/>
          </a:xfrm>
        </p:spPr>
        <p:txBody>
          <a:bodyPr/>
          <a:lstStyle/>
          <a:p>
            <a:pPr lvl="1"/>
            <a:r>
              <a:rPr lang="en-US"/>
              <a:t>Sommerville, capítulo 16 e 17</a:t>
            </a:r>
          </a:p>
        </p:txBody>
      </p:sp>
    </p:spTree>
    <p:extLst>
      <p:ext uri="{BB962C8B-B14F-4D97-AF65-F5344CB8AC3E}">
        <p14:creationId xmlns:p14="http://schemas.microsoft.com/office/powerpoint/2010/main" val="25682007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67058</TotalTime>
  <Words>811</Words>
  <Application>Microsoft Office PowerPoint</Application>
  <PresentationFormat>Apresentação na tela (4:3)</PresentationFormat>
  <Paragraphs>91</Paragraphs>
  <Slides>23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Calibri</vt:lpstr>
      <vt:lpstr>Century Gothic</vt:lpstr>
      <vt:lpstr>Wingdings 2</vt:lpstr>
      <vt:lpstr>Austin</vt:lpstr>
      <vt:lpstr>Elementos de Software</vt:lpstr>
      <vt:lpstr>Software complexo</vt:lpstr>
      <vt:lpstr>Elementos de software</vt:lpstr>
      <vt:lpstr>Bibliotecas</vt:lpstr>
      <vt:lpstr>Bibliotecas - execução</vt:lpstr>
      <vt:lpstr>Biblioteca</vt:lpstr>
      <vt:lpstr>Frameworks</vt:lpstr>
      <vt:lpstr>Frameworks</vt:lpstr>
      <vt:lpstr>Frameworks e Bibliotecas</vt:lpstr>
      <vt:lpstr>Frameworks e Bibliotecas</vt:lpstr>
      <vt:lpstr>Frameworks e Bibliotecas</vt:lpstr>
      <vt:lpstr>Componente</vt:lpstr>
      <vt:lpstr>Componente</vt:lpstr>
      <vt:lpstr>Componentes - interações</vt:lpstr>
      <vt:lpstr>Vantagens</vt:lpstr>
      <vt:lpstr>Vantagens</vt:lpstr>
      <vt:lpstr>Componentes - execução</vt:lpstr>
      <vt:lpstr>Container</vt:lpstr>
      <vt:lpstr>Distribuição</vt:lpstr>
      <vt:lpstr>Distribuição</vt:lpstr>
      <vt:lpstr>Implantação</vt:lpstr>
      <vt:lpstr>Implantação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Engenharia de Software</dc:title>
  <dc:creator>Anonymous Reviewer</dc:creator>
  <cp:lastModifiedBy>Ediraldo junior</cp:lastModifiedBy>
  <cp:revision>255</cp:revision>
  <cp:lastPrinted>2016-04-29T23:52:49Z</cp:lastPrinted>
  <dcterms:created xsi:type="dcterms:W3CDTF">2016-02-04T13:02:28Z</dcterms:created>
  <dcterms:modified xsi:type="dcterms:W3CDTF">2021-10-18T22:02:06Z</dcterms:modified>
</cp:coreProperties>
</file>